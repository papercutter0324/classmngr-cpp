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sldIdLst>
    <p:sldId id="258" r:id="rId2"/>
  </p:sldIdLst>
  <p:sldSz cx="6858000" cy="9906000" type="A4"/>
  <p:notesSz cx="7315200" cy="9601200"/>
  <p:embeddedFontLst>
    <p:embeddedFont>
      <p:font typeface="Kakao Big Sans" panose="00000500000000000000" pitchFamily="2" charset="0"/>
      <p:regular r:id="rId3"/>
    </p:embeddedFont>
    <p:embeddedFont>
      <p:font typeface="Segoe UI Semibold" panose="020B0702040204020203" pitchFamily="34" charset="0"/>
      <p:bold r:id="rId4"/>
      <p:boldItalic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CA772F0-5BE6-4CB2-B6CE-26428A7FAB30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6597" autoAdjust="0"/>
    <p:restoredTop sz="96327" autoAdjust="0"/>
  </p:normalViewPr>
  <p:slideViewPr>
    <p:cSldViewPr>
      <p:cViewPr>
        <p:scale>
          <a:sx n="400" d="100"/>
          <a:sy n="400" d="100"/>
        </p:scale>
        <p:origin x="-571" y="-5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cher'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28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(borde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39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 Template">
            <a:extLst>
              <a:ext uri="{FF2B5EF4-FFF2-40B4-BE49-F238E27FC236}">
                <a16:creationId xmlns:a16="http://schemas.microsoft.com/office/drawing/2014/main" id="{78EE2F68-1B9B-6FD0-1F84-9F1A21941FC0}"/>
              </a:ext>
            </a:extLst>
          </p:cNvPr>
          <p:cNvGrpSpPr/>
          <p:nvPr userDrawn="1"/>
        </p:nvGrpSpPr>
        <p:grpSpPr>
          <a:xfrm>
            <a:off x="225000" y="237011"/>
            <a:ext cx="6408000" cy="9431999"/>
            <a:chOff x="225000" y="237011"/>
            <a:chExt cx="6408000" cy="9431999"/>
          </a:xfrm>
        </p:grpSpPr>
        <p:sp>
          <p:nvSpPr>
            <p:cNvPr id="8" name="Border Frame">
              <a:extLst>
                <a:ext uri="{FF2B5EF4-FFF2-40B4-BE49-F238E27FC236}">
                  <a16:creationId xmlns:a16="http://schemas.microsoft.com/office/drawing/2014/main" id="{5F572279-2C41-4593-AFA1-A85317F4027D}"/>
                </a:ext>
              </a:extLst>
            </p:cNvPr>
            <p:cNvSpPr/>
            <p:nvPr userDrawn="1"/>
          </p:nvSpPr>
          <p:spPr>
            <a:xfrm>
              <a:off x="225000" y="237011"/>
              <a:ext cx="6408000" cy="9431999"/>
            </a:xfrm>
            <a:prstGeom prst="rect">
              <a:avLst/>
            </a:prstGeom>
            <a:noFill/>
            <a:ln w="50800" cmpd="thinThick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7275" tIns="43637" rIns="87275" bIns="43637" rtlCol="0" anchor="ctr"/>
            <a:lstStyle/>
            <a:p>
              <a:pPr algn="ctr" defTabSz="436371"/>
              <a:endParaRPr lang="en-US" sz="1700">
                <a:solidFill>
                  <a:prstClr val="white"/>
                </a:solidFill>
              </a:endParaRPr>
            </a:p>
          </p:txBody>
        </p:sp>
        <p:pic>
          <p:nvPicPr>
            <p:cNvPr id="10" name="DYB Logo">
              <a:extLst>
                <a:ext uri="{FF2B5EF4-FFF2-40B4-BE49-F238E27FC236}">
                  <a16:creationId xmlns:a16="http://schemas.microsoft.com/office/drawing/2014/main" id="{1EEA448C-B610-4AFB-8B6B-E279B58D7BFE}"/>
                </a:ext>
              </a:extLst>
            </p:cNvPr>
            <p:cNvPicPr/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77400" y="345559"/>
              <a:ext cx="777824" cy="6571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1" name="Line Bar">
              <a:extLst>
                <a:ext uri="{FF2B5EF4-FFF2-40B4-BE49-F238E27FC236}">
                  <a16:creationId xmlns:a16="http://schemas.microsoft.com/office/drawing/2014/main" id="{53F5BD7D-4C79-44B2-A451-6E7D84517E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61108" y="838200"/>
              <a:ext cx="5139322" cy="0"/>
            </a:xfrm>
            <a:prstGeom prst="straightConnector1">
              <a:avLst/>
            </a:prstGeom>
            <a:noFill/>
            <a:ln w="19050">
              <a:solidFill>
                <a:sysClr val="window" lastClr="FFFFFF">
                  <a:lumMod val="50000"/>
                  <a:lumOff val="0"/>
                </a:sys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Speaking Evaluation">
              <a:extLst>
                <a:ext uri="{FF2B5EF4-FFF2-40B4-BE49-F238E27FC236}">
                  <a16:creationId xmlns:a16="http://schemas.microsoft.com/office/drawing/2014/main" id="{762B1519-8952-470A-9216-C9CDECEB34A4}"/>
                </a:ext>
              </a:extLst>
            </p:cNvPr>
            <p:cNvSpPr txBox="1"/>
            <p:nvPr userDrawn="1"/>
          </p:nvSpPr>
          <p:spPr>
            <a:xfrm>
              <a:off x="1261108" y="259556"/>
              <a:ext cx="5116460" cy="576263"/>
            </a:xfrm>
            <a:prstGeom prst="rect">
              <a:avLst/>
            </a:prstGeom>
            <a:noFill/>
          </p:spPr>
          <p:txBody>
            <a:bodyPr wrap="square" tIns="0" bIns="0" anchor="ctr">
              <a:noAutofit/>
            </a:bodyPr>
            <a:lstStyle/>
            <a:p>
              <a:pPr algn="ctr" defTabSz="436371">
                <a:tabLst>
                  <a:tab pos="2735200" algn="ctr"/>
                  <a:tab pos="5470401" algn="r"/>
                </a:tabLst>
              </a:pPr>
              <a:r>
                <a:rPr lang="en-US" sz="2800" b="1" kern="1400" spc="24" dirty="0">
                  <a:solidFill>
                    <a:srgbClr val="C00000"/>
                  </a:solidFill>
                  <a:latin typeface="+mn-lt"/>
                </a:rPr>
                <a:t>Speaking Evaluation</a:t>
              </a:r>
              <a:endParaRPr lang="en-US" sz="2800" b="1" dirty="0">
                <a:solidFill>
                  <a:srgbClr val="C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Comments Title">
            <a:extLst>
              <a:ext uri="{FF2B5EF4-FFF2-40B4-BE49-F238E27FC236}">
                <a16:creationId xmlns:a16="http://schemas.microsoft.com/office/drawing/2014/main" id="{BFCE15C0-8C75-1353-AE52-E0FCC1EF5AFD}"/>
              </a:ext>
            </a:extLst>
          </p:cNvPr>
          <p:cNvSpPr txBox="1"/>
          <p:nvPr userDrawn="1"/>
        </p:nvSpPr>
        <p:spPr>
          <a:xfrm>
            <a:off x="392905" y="7265745"/>
            <a:ext cx="12072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545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Comments:</a:t>
            </a:r>
          </a:p>
        </p:txBody>
      </p:sp>
      <p:sp>
        <p:nvSpPr>
          <p:cNvPr id="16" name="NET Signature">
            <a:extLst>
              <a:ext uri="{FF2B5EF4-FFF2-40B4-BE49-F238E27FC236}">
                <a16:creationId xmlns:a16="http://schemas.microsoft.com/office/drawing/2014/main" id="{06BB5473-D5EE-98D3-B880-D38B5EEC48D1}"/>
              </a:ext>
            </a:extLst>
          </p:cNvPr>
          <p:cNvSpPr txBox="1"/>
          <p:nvPr userDrawn="1"/>
        </p:nvSpPr>
        <p:spPr>
          <a:xfrm>
            <a:off x="2743200" y="9322591"/>
            <a:ext cx="2133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Native Teacher Signature:</a:t>
            </a:r>
            <a:endParaRPr lang="en-US" sz="1600" dirty="0"/>
          </a:p>
        </p:txBody>
      </p:sp>
      <p:sp>
        <p:nvSpPr>
          <p:cNvPr id="17" name="Overall Grade">
            <a:extLst>
              <a:ext uri="{FF2B5EF4-FFF2-40B4-BE49-F238E27FC236}">
                <a16:creationId xmlns:a16="http://schemas.microsoft.com/office/drawing/2014/main" id="{F411F386-E52D-7FD4-45B3-2E87E9F28FA1}"/>
              </a:ext>
            </a:extLst>
          </p:cNvPr>
          <p:cNvSpPr txBox="1"/>
          <p:nvPr userDrawn="1"/>
        </p:nvSpPr>
        <p:spPr>
          <a:xfrm>
            <a:off x="392905" y="9322591"/>
            <a:ext cx="12834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Overall Grade:</a:t>
            </a:r>
            <a:endParaRPr lang="en-US" sz="1600" dirty="0"/>
          </a:p>
        </p:txBody>
      </p:sp>
      <p:graphicFrame>
        <p:nvGraphicFramePr>
          <p:cNvPr id="18" name="Grades &amp; Scores">
            <a:extLst>
              <a:ext uri="{FF2B5EF4-FFF2-40B4-BE49-F238E27FC236}">
                <a16:creationId xmlns:a16="http://schemas.microsoft.com/office/drawing/2014/main" id="{79515FBD-134C-7A26-6F34-E100E877F24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17695134"/>
              </p:ext>
            </p:extLst>
          </p:nvPr>
        </p:nvGraphicFramePr>
        <p:xfrm>
          <a:off x="444834" y="1587990"/>
          <a:ext cx="5932734" cy="5684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3039">
                  <a:extLst>
                    <a:ext uri="{9D8B030D-6E8A-4147-A177-3AD203B41FA5}">
                      <a16:colId xmlns:a16="http://schemas.microsoft.com/office/drawing/2014/main" val="1343904036"/>
                    </a:ext>
                  </a:extLst>
                </a:gridCol>
                <a:gridCol w="997939">
                  <a:extLst>
                    <a:ext uri="{9D8B030D-6E8A-4147-A177-3AD203B41FA5}">
                      <a16:colId xmlns:a16="http://schemas.microsoft.com/office/drawing/2014/main" val="4129395073"/>
                    </a:ext>
                  </a:extLst>
                </a:gridCol>
                <a:gridCol w="997939">
                  <a:extLst>
                    <a:ext uri="{9D8B030D-6E8A-4147-A177-3AD203B41FA5}">
                      <a16:colId xmlns:a16="http://schemas.microsoft.com/office/drawing/2014/main" val="4226022746"/>
                    </a:ext>
                  </a:extLst>
                </a:gridCol>
                <a:gridCol w="997939">
                  <a:extLst>
                    <a:ext uri="{9D8B030D-6E8A-4147-A177-3AD203B41FA5}">
                      <a16:colId xmlns:a16="http://schemas.microsoft.com/office/drawing/2014/main" val="3579246662"/>
                    </a:ext>
                  </a:extLst>
                </a:gridCol>
                <a:gridCol w="997939">
                  <a:extLst>
                    <a:ext uri="{9D8B030D-6E8A-4147-A177-3AD203B41FA5}">
                      <a16:colId xmlns:a16="http://schemas.microsoft.com/office/drawing/2014/main" val="3965358182"/>
                    </a:ext>
                  </a:extLst>
                </a:gridCol>
                <a:gridCol w="997939">
                  <a:extLst>
                    <a:ext uri="{9D8B030D-6E8A-4147-A177-3AD203B41FA5}">
                      <a16:colId xmlns:a16="http://schemas.microsoft.com/office/drawing/2014/main" val="3454207506"/>
                    </a:ext>
                  </a:extLst>
                </a:gridCol>
              </a:tblGrid>
              <a:tr h="182880">
                <a:tc rowSpan="2">
                  <a:txBody>
                    <a:bodyPr/>
                    <a:lstStyle/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Grammar</a:t>
                      </a:r>
                    </a:p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Subject-verb Agreement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Verb Tenses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Pronouns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Prepositions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Articles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Plurals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Correct Vocabulary Use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Sentence Structure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291244"/>
                  </a:ext>
                </a:extLst>
              </a:tr>
              <a:tr h="73152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Very well-structured sentences with little to no errors in grammar.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Sentences are well constructed with some errors in complex grammar.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 of full sentences, but basic grammar mistakes.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Basic sentences beginning to be formed. Still some fragmented ideas.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 use of full sentences. Single worded answers.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64231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Pronunciation</a:t>
                      </a:r>
                    </a:p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 of Konglish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Clarity / Mumbling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Difficult Vocabulary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800444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Natural pronunciation.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Good pronunciation, but some odd words.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Generally good pronunciation.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Pronunciation improving, but some Konglish.</a:t>
                      </a:r>
                      <a:endParaRPr lang="en-US" sz="1200" dirty="0"/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Excessive use of Konglish.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34994"/>
                  </a:ext>
                </a:extLst>
              </a:tr>
              <a:tr h="282054">
                <a:tc rowSpan="2">
                  <a:txBody>
                    <a:bodyPr/>
                    <a:lstStyle/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Fluency</a:t>
                      </a:r>
                    </a:p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Flow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Varying Intonation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Speaking Pace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Long Pause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418296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Natural flow and appropriate pausing and range of tone.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Some flow and pausing. Some range of tone.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Too fast or too slow.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Overuse of filler</a:t>
                      </a:r>
                    </a:p>
                    <a:p>
                      <a:pPr marL="0" marR="0" indent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words</a:t>
                      </a:r>
                    </a:p>
                    <a:p>
                      <a:pPr marL="171450" marR="0" indent="-17145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(umm/like).</a:t>
                      </a:r>
                      <a:endParaRPr lang="en-US" sz="800" dirty="0"/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Very long pauses.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388552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Manner</a:t>
                      </a:r>
                    </a:p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Volume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Eye Contact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Energy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Tone / Emotion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Posture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Body Language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Gestures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45720" marR="4572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340094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Lots of eye contact and natural gestures and emotion.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Some eye contact and gestures.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Development of some eye contact and gestures.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Still some nerves when speaking, but genuine effort given.</a:t>
                      </a:r>
                      <a:endParaRPr lang="en-US" sz="800" dirty="0"/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No eye contact.</a:t>
                      </a:r>
                    </a:p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Too soft to hear.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279048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Content</a:t>
                      </a:r>
                    </a:p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Details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Reasons &amp; Examples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Organization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Logic &amp; Relevance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Level of Vocabulary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15987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Creative and interesting ideas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Logical arguments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Effective use of details &amp; examples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Use of advanced vocabulary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Relevant and accurate information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Development of vocabulary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</a:rPr>
                        <a:t>No details or examples (single worded answers)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84172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Overall Effort</a:t>
                      </a:r>
                    </a:p>
                    <a:p>
                      <a:pPr marL="114300" marR="0" lvl="0" indent="-114300" algn="ctr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Effort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Prepared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Memorization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Visual Aids</a:t>
                      </a:r>
                      <a:endParaRPr kumimoji="0" lang="en-US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900625"/>
                  </a:ext>
                </a:extLst>
              </a:tr>
              <a:tr h="64008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A great amount of effort has been put in.</a:t>
                      </a:r>
                      <a:endParaRPr lang="en-US" sz="800" kern="100" dirty="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A good amount of effort has been put in.</a:t>
                      </a:r>
                      <a:endParaRPr lang="en-US" sz="800" kern="100" dirty="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Some effort has been put in.</a:t>
                      </a:r>
                      <a:endParaRPr lang="en-US" sz="800" kern="100" dirty="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Little effort has been put in.</a:t>
                      </a:r>
                      <a:endParaRPr lang="en-US" sz="800" kern="100" dirty="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/>
                      <a:r>
                        <a:rPr lang="en-US" sz="800" kern="100" dirty="0">
                          <a:effectLst/>
                          <a:latin typeface="Calibri" panose="020F0502020204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No effort has been put in.</a:t>
                      </a:r>
                      <a:endParaRPr lang="en-US" sz="800" kern="100" dirty="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582068"/>
                  </a:ext>
                </a:extLst>
              </a:tr>
            </a:tbl>
          </a:graphicData>
        </a:graphic>
      </p:graphicFrame>
      <p:graphicFrame>
        <p:nvGraphicFramePr>
          <p:cNvPr id="5" name="Student Information">
            <a:extLst>
              <a:ext uri="{FF2B5EF4-FFF2-40B4-BE49-F238E27FC236}">
                <a16:creationId xmlns:a16="http://schemas.microsoft.com/office/drawing/2014/main" id="{890D4A25-05FE-43B6-949E-560B0E9120BC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876047597"/>
              </p:ext>
            </p:extLst>
          </p:nvPr>
        </p:nvGraphicFramePr>
        <p:xfrm>
          <a:off x="412507" y="997440"/>
          <a:ext cx="5998616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17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English Name: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1146175" algn="l"/>
                        </a:tabLst>
                      </a:pPr>
                      <a:r>
                        <a:rPr lang="en-US" sz="1200" b="0" u="sng" dirty="0">
                          <a:solidFill>
                            <a:schemeClr val="tx1"/>
                          </a:solidFill>
                          <a:latin typeface="+mn-lt"/>
                          <a:ea typeface="A little sunshine" pitchFamily="2" charset="0"/>
                        </a:rPr>
                        <a:t>	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Korean Name: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744538" algn="l"/>
                          <a:tab pos="1146175" algn="l"/>
                        </a:tabLst>
                      </a:pPr>
                      <a:r>
                        <a:rPr lang="en-US" sz="1200" b="0" u="sng" dirty="0">
                          <a:solidFill>
                            <a:schemeClr val="tx1"/>
                          </a:solidFill>
                          <a:latin typeface="+mn-lt"/>
                          <a:ea typeface="A little sunshine" pitchFamily="2" charset="0"/>
                        </a:rPr>
                        <a:t>	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Grade: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1146175" algn="l"/>
                        </a:tabLst>
                      </a:pPr>
                      <a:r>
                        <a:rPr lang="en-US" sz="1200" b="0" u="sng" dirty="0">
                          <a:solidFill>
                            <a:schemeClr val="tx1"/>
                          </a:solidFill>
                          <a:latin typeface="+mn-lt"/>
                          <a:ea typeface="A little sunshine" pitchFamily="2" charset="0"/>
                        </a:rPr>
                        <a:t>	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Native Teacher: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1146175" algn="l"/>
                        </a:tabLst>
                      </a:pPr>
                      <a:r>
                        <a:rPr lang="en-US" sz="1200" b="0" u="sng" dirty="0">
                          <a:solidFill>
                            <a:schemeClr val="tx1"/>
                          </a:solidFill>
                          <a:latin typeface="+mn-lt"/>
                          <a:ea typeface="A little sunshine" pitchFamily="2" charset="0"/>
                        </a:rPr>
                        <a:t>	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Korean Teacher: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744538" algn="l"/>
                          <a:tab pos="1146175" algn="l"/>
                        </a:tabLst>
                      </a:pPr>
                      <a:r>
                        <a:rPr lang="en-US" sz="1200" b="0" u="sng" dirty="0">
                          <a:solidFill>
                            <a:schemeClr val="tx1"/>
                          </a:solidFill>
                          <a:latin typeface="+mn-lt"/>
                          <a:ea typeface="A little sunshine" pitchFamily="2" charset="0"/>
                        </a:rPr>
                        <a:t>	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Date: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1146175" algn="l"/>
                        </a:tabLst>
                      </a:pPr>
                      <a:r>
                        <a:rPr lang="en-US" sz="1200" b="0" u="sng" dirty="0">
                          <a:solidFill>
                            <a:schemeClr val="tx1"/>
                          </a:solidFill>
                          <a:latin typeface="+mn-lt"/>
                          <a:ea typeface="A little sunshine" pitchFamily="2" charset="0"/>
                        </a:rPr>
                        <a:t>	</a:t>
                      </a:r>
                    </a:p>
                  </a:txBody>
                  <a:tcPr marL="45720" marR="4572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24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</p:sldLayoutIdLst>
  <p:txStyles>
    <p:titleStyle>
      <a:lvl1pPr algn="l" defTabSz="654557" rtl="0" eaLnBrk="1" latinLnBrk="0" hangingPunct="1">
        <a:lnSpc>
          <a:spcPct val="90000"/>
        </a:lnSpc>
        <a:spcBef>
          <a:spcPct val="0"/>
        </a:spcBef>
        <a:buNone/>
        <a:defRPr sz="3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639" indent="-163639" algn="l" defTabSz="654557" rtl="0" eaLnBrk="1" latinLnBrk="0" hangingPunct="1">
        <a:lnSpc>
          <a:spcPct val="90000"/>
        </a:lnSpc>
        <a:spcBef>
          <a:spcPts val="71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0918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18196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5475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472753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32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127310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454589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781868" indent="-163639" algn="l" defTabSz="654557" rtl="0" eaLnBrk="1" latinLnBrk="0" hangingPunct="1">
        <a:lnSpc>
          <a:spcPct val="90000"/>
        </a:lnSpc>
        <a:spcBef>
          <a:spcPts val="358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7278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54557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81835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09114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36392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63671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90949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18228" algn="l" defTabSz="65455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mments">
            <a:extLst>
              <a:ext uri="{FF2B5EF4-FFF2-40B4-BE49-F238E27FC236}">
                <a16:creationId xmlns:a16="http://schemas.microsoft.com/office/drawing/2014/main" id="{EEE46E5F-FB90-FABC-4D3B-8E8E26233BC6}"/>
              </a:ext>
            </a:extLst>
          </p:cNvPr>
          <p:cNvSpPr>
            <a:spLocks/>
          </p:cNvSpPr>
          <p:nvPr/>
        </p:nvSpPr>
        <p:spPr>
          <a:xfrm>
            <a:off x="442913" y="7553325"/>
            <a:ext cx="5969794" cy="1666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 anchorCtr="0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ea typeface="A little sunshine" panose="02000603000000000000" pitchFamily="2" charset="0"/>
                <a:cs typeface="Segoe UI Semibold" panose="020B0702040204020203" pitchFamily="34" charset="0"/>
              </a:rPr>
              <a:t>Comment text</a:t>
            </a:r>
          </a:p>
        </p:txBody>
      </p:sp>
      <p:sp>
        <p:nvSpPr>
          <p:cNvPr id="44" name="Overall_Grade">
            <a:extLst>
              <a:ext uri="{FF2B5EF4-FFF2-40B4-BE49-F238E27FC236}">
                <a16:creationId xmlns:a16="http://schemas.microsoft.com/office/drawing/2014/main" id="{7AAD70C8-B23B-5F30-CD5F-D96FE12BBA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36501" y="9334500"/>
            <a:ext cx="548640" cy="273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</a:p>
        </p:txBody>
      </p:sp>
      <p:grpSp>
        <p:nvGrpSpPr>
          <p:cNvPr id="77" name="Effort_Scores">
            <a:extLst>
              <a:ext uri="{FF2B5EF4-FFF2-40B4-BE49-F238E27FC236}">
                <a16:creationId xmlns:a16="http://schemas.microsoft.com/office/drawing/2014/main" id="{D2DED01C-D689-F996-2D0F-FACAD450476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88268" y="6348413"/>
            <a:ext cx="4986337" cy="292893"/>
            <a:chOff x="1388268" y="6348413"/>
            <a:chExt cx="4986337" cy="292893"/>
          </a:xfrm>
        </p:grpSpPr>
        <p:sp>
          <p:nvSpPr>
            <p:cNvPr id="67" name="Effort_C">
              <a:extLst>
                <a:ext uri="{FF2B5EF4-FFF2-40B4-BE49-F238E27FC236}">
                  <a16:creationId xmlns:a16="http://schemas.microsoft.com/office/drawing/2014/main" id="{81B65E47-1C60-EAED-E515-6E9D3C5806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76863" y="6348413"/>
              <a:ext cx="997742" cy="2928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8" name="Effort_B">
              <a:extLst>
                <a:ext uri="{FF2B5EF4-FFF2-40B4-BE49-F238E27FC236}">
                  <a16:creationId xmlns:a16="http://schemas.microsoft.com/office/drawing/2014/main" id="{3548DD50-26DD-B549-7526-015D74B297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79715" y="6348413"/>
              <a:ext cx="1005840" cy="2928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9" name="Effort_B+">
              <a:extLst>
                <a:ext uri="{FF2B5EF4-FFF2-40B4-BE49-F238E27FC236}">
                  <a16:creationId xmlns:a16="http://schemas.microsoft.com/office/drawing/2014/main" id="{C0C54AA8-87EC-36C9-288B-E2B76C97CB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2566" y="6348413"/>
              <a:ext cx="1005840" cy="2928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B+</a:t>
              </a:r>
            </a:p>
          </p:txBody>
        </p:sp>
        <p:sp>
          <p:nvSpPr>
            <p:cNvPr id="70" name="Effort_A">
              <a:extLst>
                <a:ext uri="{FF2B5EF4-FFF2-40B4-BE49-F238E27FC236}">
                  <a16:creationId xmlns:a16="http://schemas.microsoft.com/office/drawing/2014/main" id="{94919820-0ACD-9C7D-A73D-284D5EC197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5417" y="6348413"/>
              <a:ext cx="1005840" cy="2928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b="1" dirty="0"/>
            </a:p>
          </p:txBody>
        </p:sp>
        <p:sp>
          <p:nvSpPr>
            <p:cNvPr id="71" name="Effort_A+">
              <a:extLst>
                <a:ext uri="{FF2B5EF4-FFF2-40B4-BE49-F238E27FC236}">
                  <a16:creationId xmlns:a16="http://schemas.microsoft.com/office/drawing/2014/main" id="{DE550C01-87A3-5C80-4714-6BB3E9B712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88268" y="6348445"/>
              <a:ext cx="1005840" cy="2907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</a:p>
          </p:txBody>
        </p:sp>
      </p:grpSp>
      <p:grpSp>
        <p:nvGrpSpPr>
          <p:cNvPr id="76" name="Content_Scores">
            <a:extLst>
              <a:ext uri="{FF2B5EF4-FFF2-40B4-BE49-F238E27FC236}">
                <a16:creationId xmlns:a16="http://schemas.microsoft.com/office/drawing/2014/main" id="{D4C98802-91CA-78E6-A03F-1A564DC6485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88268" y="5416226"/>
            <a:ext cx="4986337" cy="292608"/>
            <a:chOff x="1388268" y="5416226"/>
            <a:chExt cx="4986337" cy="292608"/>
          </a:xfrm>
        </p:grpSpPr>
        <p:sp>
          <p:nvSpPr>
            <p:cNvPr id="62" name="Content_C">
              <a:extLst>
                <a:ext uri="{FF2B5EF4-FFF2-40B4-BE49-F238E27FC236}">
                  <a16:creationId xmlns:a16="http://schemas.microsoft.com/office/drawing/2014/main" id="{48EE694A-5A5C-9675-51D3-5B9376C238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76863" y="5416226"/>
              <a:ext cx="997742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3" name="Content_B">
              <a:extLst>
                <a:ext uri="{FF2B5EF4-FFF2-40B4-BE49-F238E27FC236}">
                  <a16:creationId xmlns:a16="http://schemas.microsoft.com/office/drawing/2014/main" id="{975D2E74-EAE2-9279-8A40-2F08E4B7CC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79715" y="5416226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4" name="Content_B+">
              <a:extLst>
                <a:ext uri="{FF2B5EF4-FFF2-40B4-BE49-F238E27FC236}">
                  <a16:creationId xmlns:a16="http://schemas.microsoft.com/office/drawing/2014/main" id="{377A6BD3-E422-031B-B1D9-9749157404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2566" y="5416226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B+</a:t>
              </a:r>
            </a:p>
          </p:txBody>
        </p:sp>
        <p:sp>
          <p:nvSpPr>
            <p:cNvPr id="65" name="Content_A">
              <a:extLst>
                <a:ext uri="{FF2B5EF4-FFF2-40B4-BE49-F238E27FC236}">
                  <a16:creationId xmlns:a16="http://schemas.microsoft.com/office/drawing/2014/main" id="{51C52BBE-578C-CE75-8E18-A686B00668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5417" y="5416226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b="1" dirty="0"/>
            </a:p>
          </p:txBody>
        </p:sp>
        <p:sp>
          <p:nvSpPr>
            <p:cNvPr id="66" name="Content_A+">
              <a:extLst>
                <a:ext uri="{FF2B5EF4-FFF2-40B4-BE49-F238E27FC236}">
                  <a16:creationId xmlns:a16="http://schemas.microsoft.com/office/drawing/2014/main" id="{4130D31E-317D-2464-9158-2B50F4B6A0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88268" y="5416774"/>
              <a:ext cx="1005840" cy="2905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</a:p>
          </p:txBody>
        </p:sp>
      </p:grpSp>
      <p:grpSp>
        <p:nvGrpSpPr>
          <p:cNvPr id="75" name="Manner_Scores">
            <a:extLst>
              <a:ext uri="{FF2B5EF4-FFF2-40B4-BE49-F238E27FC236}">
                <a16:creationId xmlns:a16="http://schemas.microsoft.com/office/drawing/2014/main" id="{CF19D233-E21B-6107-5283-18B40667339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88268" y="4484038"/>
            <a:ext cx="4986337" cy="292608"/>
            <a:chOff x="1388268" y="4484038"/>
            <a:chExt cx="4986337" cy="292608"/>
          </a:xfrm>
        </p:grpSpPr>
        <p:sp>
          <p:nvSpPr>
            <p:cNvPr id="57" name="Manner_C">
              <a:extLst>
                <a:ext uri="{FF2B5EF4-FFF2-40B4-BE49-F238E27FC236}">
                  <a16:creationId xmlns:a16="http://schemas.microsoft.com/office/drawing/2014/main" id="{C57618B3-A708-0317-A0D5-BD0F94229A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76863" y="4484038"/>
              <a:ext cx="997742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8" name="Manner_B">
              <a:extLst>
                <a:ext uri="{FF2B5EF4-FFF2-40B4-BE49-F238E27FC236}">
                  <a16:creationId xmlns:a16="http://schemas.microsoft.com/office/drawing/2014/main" id="{17CA7DDE-58D2-ECFA-4EED-5B9FE2A054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79715" y="4484038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9" name="Manner_B+">
              <a:extLst>
                <a:ext uri="{FF2B5EF4-FFF2-40B4-BE49-F238E27FC236}">
                  <a16:creationId xmlns:a16="http://schemas.microsoft.com/office/drawing/2014/main" id="{4A9BA9BB-61E2-A1BC-57CE-46CCA22568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2566" y="4484038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B+</a:t>
              </a:r>
            </a:p>
          </p:txBody>
        </p:sp>
        <p:sp>
          <p:nvSpPr>
            <p:cNvPr id="60" name="Manner_A">
              <a:extLst>
                <a:ext uri="{FF2B5EF4-FFF2-40B4-BE49-F238E27FC236}">
                  <a16:creationId xmlns:a16="http://schemas.microsoft.com/office/drawing/2014/main" id="{EFE4998C-B250-CF8E-E35F-A10B12B2A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5417" y="4484038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b="1" dirty="0"/>
            </a:p>
          </p:txBody>
        </p:sp>
        <p:sp>
          <p:nvSpPr>
            <p:cNvPr id="61" name="Manner_A+">
              <a:extLst>
                <a:ext uri="{FF2B5EF4-FFF2-40B4-BE49-F238E27FC236}">
                  <a16:creationId xmlns:a16="http://schemas.microsoft.com/office/drawing/2014/main" id="{3A718983-66CD-7C1E-35AC-2B892CC345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88268" y="4485102"/>
              <a:ext cx="1005840" cy="2905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</a:p>
          </p:txBody>
        </p:sp>
      </p:grpSp>
      <p:grpSp>
        <p:nvGrpSpPr>
          <p:cNvPr id="74" name="Fluency_Scores">
            <a:extLst>
              <a:ext uri="{FF2B5EF4-FFF2-40B4-BE49-F238E27FC236}">
                <a16:creationId xmlns:a16="http://schemas.microsoft.com/office/drawing/2014/main" id="{E6332014-212C-F5E4-D05E-961B3346A7F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88268" y="3551850"/>
            <a:ext cx="4986337" cy="292608"/>
            <a:chOff x="1388268" y="3551850"/>
            <a:chExt cx="4986337" cy="292608"/>
          </a:xfrm>
        </p:grpSpPr>
        <p:sp>
          <p:nvSpPr>
            <p:cNvPr id="52" name="Fluency_C">
              <a:extLst>
                <a:ext uri="{FF2B5EF4-FFF2-40B4-BE49-F238E27FC236}">
                  <a16:creationId xmlns:a16="http://schemas.microsoft.com/office/drawing/2014/main" id="{D07044ED-1C78-0402-7B0A-AAA9841ED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76863" y="3551850"/>
              <a:ext cx="997742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3" name="Fluency_B">
              <a:extLst>
                <a:ext uri="{FF2B5EF4-FFF2-40B4-BE49-F238E27FC236}">
                  <a16:creationId xmlns:a16="http://schemas.microsoft.com/office/drawing/2014/main" id="{C99F9F7A-30FB-C331-85A6-ACF1E0EFA6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79715" y="3551850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4" name="Fluency_B+">
              <a:extLst>
                <a:ext uri="{FF2B5EF4-FFF2-40B4-BE49-F238E27FC236}">
                  <a16:creationId xmlns:a16="http://schemas.microsoft.com/office/drawing/2014/main" id="{2C45985C-5FC4-983B-C149-BA8F78265B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2566" y="3551850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B+</a:t>
              </a:r>
            </a:p>
          </p:txBody>
        </p:sp>
        <p:sp>
          <p:nvSpPr>
            <p:cNvPr id="55" name="Fluency_A">
              <a:extLst>
                <a:ext uri="{FF2B5EF4-FFF2-40B4-BE49-F238E27FC236}">
                  <a16:creationId xmlns:a16="http://schemas.microsoft.com/office/drawing/2014/main" id="{B615DFC2-D423-FF56-5CDD-33A7BE2AC8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5417" y="3551850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b="1" dirty="0"/>
            </a:p>
          </p:txBody>
        </p:sp>
        <p:sp>
          <p:nvSpPr>
            <p:cNvPr id="56" name="Fluency_A+">
              <a:extLst>
                <a:ext uri="{FF2B5EF4-FFF2-40B4-BE49-F238E27FC236}">
                  <a16:creationId xmlns:a16="http://schemas.microsoft.com/office/drawing/2014/main" id="{365C2783-46E8-4473-DE3D-7723B4EE62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88268" y="3553430"/>
              <a:ext cx="1005840" cy="2905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</a:p>
          </p:txBody>
        </p:sp>
      </p:grpSp>
      <p:grpSp>
        <p:nvGrpSpPr>
          <p:cNvPr id="73" name="Pronunciation_Scores">
            <a:extLst>
              <a:ext uri="{FF2B5EF4-FFF2-40B4-BE49-F238E27FC236}">
                <a16:creationId xmlns:a16="http://schemas.microsoft.com/office/drawing/2014/main" id="{05D619D6-1B85-1CD7-7726-A0F3906513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88268" y="2619376"/>
            <a:ext cx="4986337" cy="292894"/>
            <a:chOff x="1388268" y="2619376"/>
            <a:chExt cx="4986337" cy="292894"/>
          </a:xfrm>
        </p:grpSpPr>
        <p:sp>
          <p:nvSpPr>
            <p:cNvPr id="47" name="Pronunciation_C">
              <a:extLst>
                <a:ext uri="{FF2B5EF4-FFF2-40B4-BE49-F238E27FC236}">
                  <a16:creationId xmlns:a16="http://schemas.microsoft.com/office/drawing/2014/main" id="{4E2E8D54-8E33-D184-8153-FFA8971903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76863" y="2619662"/>
              <a:ext cx="997742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8" name="Pronunciation_B">
              <a:extLst>
                <a:ext uri="{FF2B5EF4-FFF2-40B4-BE49-F238E27FC236}">
                  <a16:creationId xmlns:a16="http://schemas.microsoft.com/office/drawing/2014/main" id="{ED726212-E7D9-1208-495E-719F76462D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79715" y="2619662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9" name="Pronunciation_B+">
              <a:extLst>
                <a:ext uri="{FF2B5EF4-FFF2-40B4-BE49-F238E27FC236}">
                  <a16:creationId xmlns:a16="http://schemas.microsoft.com/office/drawing/2014/main" id="{D8B0F2B6-3871-C0BF-683A-3FBA52F177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2566" y="2619376"/>
              <a:ext cx="1005840" cy="2928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B+</a:t>
              </a:r>
            </a:p>
          </p:txBody>
        </p:sp>
        <p:sp>
          <p:nvSpPr>
            <p:cNvPr id="50" name="Pronunciation_A">
              <a:extLst>
                <a:ext uri="{FF2B5EF4-FFF2-40B4-BE49-F238E27FC236}">
                  <a16:creationId xmlns:a16="http://schemas.microsoft.com/office/drawing/2014/main" id="{8A52CB0B-8FEA-6B22-E202-4F65BC1E3C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5417" y="2619662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b="1" dirty="0"/>
            </a:p>
          </p:txBody>
        </p:sp>
        <p:sp>
          <p:nvSpPr>
            <p:cNvPr id="51" name="Pronunciation_A+">
              <a:extLst>
                <a:ext uri="{FF2B5EF4-FFF2-40B4-BE49-F238E27FC236}">
                  <a16:creationId xmlns:a16="http://schemas.microsoft.com/office/drawing/2014/main" id="{C78C4062-9520-7D46-8A54-9AEB22884D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88268" y="2621758"/>
              <a:ext cx="1005840" cy="2905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</a:p>
          </p:txBody>
        </p:sp>
      </p:grpSp>
      <p:grpSp>
        <p:nvGrpSpPr>
          <p:cNvPr id="72" name="Grammar_Scores">
            <a:extLst>
              <a:ext uri="{FF2B5EF4-FFF2-40B4-BE49-F238E27FC236}">
                <a16:creationId xmlns:a16="http://schemas.microsoft.com/office/drawing/2014/main" id="{2EBB588C-0DB3-4861-EBD1-C2096962CBA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88268" y="1590675"/>
            <a:ext cx="4986337" cy="292608"/>
            <a:chOff x="1388268" y="1590675"/>
            <a:chExt cx="4986337" cy="292608"/>
          </a:xfrm>
        </p:grpSpPr>
        <p:sp>
          <p:nvSpPr>
            <p:cNvPr id="20" name="Grammar_C">
              <a:extLst>
                <a:ext uri="{FF2B5EF4-FFF2-40B4-BE49-F238E27FC236}">
                  <a16:creationId xmlns:a16="http://schemas.microsoft.com/office/drawing/2014/main" id="{6FCCEF83-1A92-AE3F-E060-4E75EFD5ED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76863" y="1590675"/>
              <a:ext cx="997742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9" name="Grammar_B">
              <a:extLst>
                <a:ext uri="{FF2B5EF4-FFF2-40B4-BE49-F238E27FC236}">
                  <a16:creationId xmlns:a16="http://schemas.microsoft.com/office/drawing/2014/main" id="{0AB950AB-64B9-55E0-FA71-9ACDC9C531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79715" y="1590675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" name="Grammar_B+">
              <a:extLst>
                <a:ext uri="{FF2B5EF4-FFF2-40B4-BE49-F238E27FC236}">
                  <a16:creationId xmlns:a16="http://schemas.microsoft.com/office/drawing/2014/main" id="{293055D0-16D9-AA70-4A41-5E3BEEF315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2566" y="1590675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B+</a:t>
              </a:r>
            </a:p>
          </p:txBody>
        </p:sp>
        <p:sp>
          <p:nvSpPr>
            <p:cNvPr id="17" name="Grammar_A">
              <a:extLst>
                <a:ext uri="{FF2B5EF4-FFF2-40B4-BE49-F238E27FC236}">
                  <a16:creationId xmlns:a16="http://schemas.microsoft.com/office/drawing/2014/main" id="{8707FFCC-6357-8B85-1CED-59C24D626B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5417" y="1590675"/>
              <a:ext cx="1005840" cy="2926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b="1" dirty="0"/>
            </a:p>
          </p:txBody>
        </p:sp>
        <p:sp>
          <p:nvSpPr>
            <p:cNvPr id="46" name="Grammar_A+">
              <a:extLst>
                <a:ext uri="{FF2B5EF4-FFF2-40B4-BE49-F238E27FC236}">
                  <a16:creationId xmlns:a16="http://schemas.microsoft.com/office/drawing/2014/main" id="{1A18B31C-08F4-8D1B-516C-A5102DCDAB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88268" y="1590675"/>
              <a:ext cx="1005840" cy="2905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A+</a:t>
              </a:r>
            </a:p>
          </p:txBody>
        </p:sp>
      </p:grpSp>
      <p:sp>
        <p:nvSpPr>
          <p:cNvPr id="7" name="Eval_Date">
            <a:extLst>
              <a:ext uri="{FF2B5EF4-FFF2-40B4-BE49-F238E27FC236}">
                <a16:creationId xmlns:a16="http://schemas.microsoft.com/office/drawing/2014/main" id="{07BC5B6D-04B8-E053-FB3A-687109589539}"/>
              </a:ext>
            </a:extLst>
          </p:cNvPr>
          <p:cNvSpPr txBox="1"/>
          <p:nvPr/>
        </p:nvSpPr>
        <p:spPr>
          <a:xfrm>
            <a:off x="5260339" y="1271016"/>
            <a:ext cx="1259844" cy="329184"/>
          </a:xfrm>
          <a:prstGeom prst="rect">
            <a:avLst/>
          </a:prstGeom>
          <a:noFill/>
        </p:spPr>
        <p:txBody>
          <a:bodyPr wrap="square" lIns="45720" rIns="45720" anchor="b" anchorCtr="0">
            <a:noAutofit/>
          </a:bodyPr>
          <a:lstStyle/>
          <a:p>
            <a:pPr algn="ctr"/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 panose="020B0702040204020203" pitchFamily="34" charset="0"/>
                <a:ea typeface="A little sunshine" pitchFamily="2" charset="0"/>
                <a:cs typeface="Segoe UI Semibold" panose="020B0702040204020203" pitchFamily="34" charset="0"/>
              </a:rPr>
              <a:t>June 2025</a:t>
            </a:r>
            <a:endParaRPr lang="en-US" sz="2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4" name="Korean_Teacher">
            <a:extLst>
              <a:ext uri="{FF2B5EF4-FFF2-40B4-BE49-F238E27FC236}">
                <a16:creationId xmlns:a16="http://schemas.microsoft.com/office/drawing/2014/main" id="{5359B18E-C7E0-FDAE-6A24-F1F6551FDB0F}"/>
              </a:ext>
            </a:extLst>
          </p:cNvPr>
          <p:cNvSpPr txBox="1"/>
          <p:nvPr/>
        </p:nvSpPr>
        <p:spPr>
          <a:xfrm>
            <a:off x="3861435" y="1272263"/>
            <a:ext cx="977265" cy="292388"/>
          </a:xfrm>
          <a:prstGeom prst="rect">
            <a:avLst/>
          </a:prstGeom>
          <a:noFill/>
        </p:spPr>
        <p:txBody>
          <a:bodyPr wrap="square" lIns="45720" rIns="45720" anchor="b" anchorCtr="0">
            <a:noAutofit/>
          </a:bodyPr>
          <a:lstStyle/>
          <a:p>
            <a:pPr algn="ctr"/>
            <a:r>
              <a:rPr lang="ko-KR" altLang="en-US" sz="1600" b="0" dirty="0">
                <a:solidFill>
                  <a:schemeClr val="tx1"/>
                </a:solidFill>
                <a:latin typeface="Kakao Big Sans" panose="00000500000000000000" pitchFamily="2" charset="0"/>
                <a:ea typeface="Kakao Big Sans" panose="00000500000000000000" pitchFamily="2" charset="0"/>
              </a:rPr>
              <a:t>송오현</a:t>
            </a:r>
            <a:endParaRPr lang="en-US" sz="1600" dirty="0">
              <a:latin typeface="Kakao Big Sans" panose="00000500000000000000" pitchFamily="2" charset="0"/>
              <a:ea typeface="Kakao Big Sans" panose="00000500000000000000" pitchFamily="2" charset="0"/>
            </a:endParaRPr>
          </a:p>
        </p:txBody>
      </p:sp>
      <p:sp>
        <p:nvSpPr>
          <p:cNvPr id="6" name="Native_Teacher">
            <a:extLst>
              <a:ext uri="{FF2B5EF4-FFF2-40B4-BE49-F238E27FC236}">
                <a16:creationId xmlns:a16="http://schemas.microsoft.com/office/drawing/2014/main" id="{33934AC6-4CEA-9AEF-F212-4A4152C6E130}"/>
              </a:ext>
            </a:extLst>
          </p:cNvPr>
          <p:cNvSpPr txBox="1"/>
          <p:nvPr/>
        </p:nvSpPr>
        <p:spPr>
          <a:xfrm>
            <a:off x="1495424" y="1297177"/>
            <a:ext cx="1216661" cy="301621"/>
          </a:xfrm>
          <a:prstGeom prst="rect">
            <a:avLst/>
          </a:prstGeom>
          <a:noFill/>
        </p:spPr>
        <p:txBody>
          <a:bodyPr wrap="square" lIns="45720" rIns="45720" anchor="b" anchorCtr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 panose="020B0702040204020203" pitchFamily="34" charset="0"/>
                <a:ea typeface="A little sunshine" pitchFamily="2" charset="0"/>
                <a:cs typeface="Segoe UI Semibold" panose="020B0702040204020203" pitchFamily="34" charset="0"/>
              </a:rPr>
              <a:t>Aristotle</a:t>
            </a:r>
            <a:endParaRPr lang="en-US" sz="2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Grade_Level">
            <a:extLst>
              <a:ext uri="{FF2B5EF4-FFF2-40B4-BE49-F238E27FC236}">
                <a16:creationId xmlns:a16="http://schemas.microsoft.com/office/drawing/2014/main" id="{6EBD9C66-9284-1D3E-CF00-9A8077CE630E}"/>
              </a:ext>
            </a:extLst>
          </p:cNvPr>
          <p:cNvSpPr txBox="1"/>
          <p:nvPr/>
        </p:nvSpPr>
        <p:spPr>
          <a:xfrm>
            <a:off x="5372101" y="974554"/>
            <a:ext cx="1036320" cy="338328"/>
          </a:xfrm>
          <a:prstGeom prst="rect">
            <a:avLst/>
          </a:prstGeom>
          <a:noFill/>
        </p:spPr>
        <p:txBody>
          <a:bodyPr wrap="square" lIns="45720" rIns="45720" anchor="b" anchorCtr="0">
            <a:noAutofit/>
          </a:bodyPr>
          <a:lstStyle/>
          <a:p>
            <a:pPr algn="ctr"/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 panose="020B0702040204020203" pitchFamily="34" charset="0"/>
                <a:ea typeface="A little sunshine" pitchFamily="2" charset="0"/>
                <a:cs typeface="Segoe UI Semibold" panose="020B0702040204020203" pitchFamily="34" charset="0"/>
              </a:rPr>
              <a:t>E6 Gaia</a:t>
            </a:r>
            <a:endParaRPr lang="en-US" sz="2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3" name="Korean_Name">
            <a:extLst>
              <a:ext uri="{FF2B5EF4-FFF2-40B4-BE49-F238E27FC236}">
                <a16:creationId xmlns:a16="http://schemas.microsoft.com/office/drawing/2014/main" id="{F00BC8B0-E661-32E3-D720-624E8267977F}"/>
              </a:ext>
            </a:extLst>
          </p:cNvPr>
          <p:cNvSpPr txBox="1"/>
          <p:nvPr/>
        </p:nvSpPr>
        <p:spPr>
          <a:xfrm>
            <a:off x="3861435" y="982307"/>
            <a:ext cx="977265" cy="292388"/>
          </a:xfrm>
          <a:prstGeom prst="rect">
            <a:avLst/>
          </a:prstGeom>
          <a:noFill/>
        </p:spPr>
        <p:txBody>
          <a:bodyPr wrap="square" lIns="45720" rIns="45720" anchor="b" anchorCtr="0">
            <a:noAutofit/>
          </a:bodyPr>
          <a:lstStyle/>
          <a:p>
            <a:pPr algn="ctr"/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kao Big Sans" panose="00000500000000000000" pitchFamily="2" charset="0"/>
                <a:ea typeface="Kakao Big Sans" panose="00000500000000000000" pitchFamily="2" charset="0"/>
              </a:rPr>
              <a:t>홍길동</a:t>
            </a:r>
            <a:endParaRPr lang="en-US" sz="2400" dirty="0">
              <a:latin typeface="Kakao Big Sans" panose="00000500000000000000" pitchFamily="2" charset="0"/>
              <a:ea typeface="Kakao Big Sans" panose="00000500000000000000" pitchFamily="2" charset="0"/>
            </a:endParaRPr>
          </a:p>
        </p:txBody>
      </p:sp>
      <p:sp>
        <p:nvSpPr>
          <p:cNvPr id="5" name="English_Name">
            <a:extLst>
              <a:ext uri="{FF2B5EF4-FFF2-40B4-BE49-F238E27FC236}">
                <a16:creationId xmlns:a16="http://schemas.microsoft.com/office/drawing/2014/main" id="{9456CAC5-6CD1-0CBF-C271-A5041AC6163F}"/>
              </a:ext>
            </a:extLst>
          </p:cNvPr>
          <p:cNvSpPr txBox="1"/>
          <p:nvPr/>
        </p:nvSpPr>
        <p:spPr>
          <a:xfrm>
            <a:off x="1485899" y="974554"/>
            <a:ext cx="1216661" cy="338493"/>
          </a:xfrm>
          <a:prstGeom prst="rect">
            <a:avLst/>
          </a:prstGeom>
          <a:noFill/>
        </p:spPr>
        <p:txBody>
          <a:bodyPr wrap="none" lIns="45720" rIns="45720" anchor="b" anchorCtr="0">
            <a:no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 panose="020B0702040204020203" pitchFamily="34" charset="0"/>
                <a:ea typeface="A little sunshine" pitchFamily="2" charset="0"/>
                <a:cs typeface="Segoe UI Semibold" panose="020B0702040204020203" pitchFamily="34" charset="0"/>
              </a:rPr>
              <a:t>Gildong</a:t>
            </a:r>
            <a:endParaRPr lang="en-US" sz="2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03317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6 U11 WR Antonyms HNM 24 (DOC)" id="{BA40FA4D-A6EB-FD49-B145-4D0F18ABCE80}" vid="{90FAACD3-CB2F-F043-84E9-EFE3F5592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54</Words>
  <Application>Microsoft Office PowerPoint</Application>
  <PresentationFormat>A4 Paper (210x297 mm)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Symbol</vt:lpstr>
      <vt:lpstr>Calibri</vt:lpstr>
      <vt:lpstr>Times New Roman</vt:lpstr>
      <vt:lpstr>Kakao Big Sans</vt:lpstr>
      <vt:lpstr>Wingdings</vt:lpstr>
      <vt:lpstr>Segoe UI Semibold</vt:lpstr>
      <vt:lpstr>Arial</vt:lpstr>
      <vt:lpstr>Master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Feltmate</dc:creator>
  <cp:lastModifiedBy>Warren Feltmate</cp:lastModifiedBy>
  <cp:revision>16</cp:revision>
  <cp:lastPrinted>2025-03-01T09:25:45Z</cp:lastPrinted>
  <dcterms:created xsi:type="dcterms:W3CDTF">2024-10-25T05:56:25Z</dcterms:created>
  <dcterms:modified xsi:type="dcterms:W3CDTF">2026-08-03T14:49:42Z</dcterms:modified>
</cp:coreProperties>
</file>