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40"/>
  </p:notesMasterIdLst>
  <p:handoutMasterIdLst>
    <p:handoutMasterId r:id="rId41"/>
  </p:handoutMasterIdLst>
  <p:sldIdLst>
    <p:sldId id="263" r:id="rId2"/>
    <p:sldId id="365" r:id="rId3"/>
    <p:sldId id="331" r:id="rId4"/>
    <p:sldId id="366" r:id="rId5"/>
    <p:sldId id="257" r:id="rId6"/>
    <p:sldId id="358" r:id="rId7"/>
    <p:sldId id="282" r:id="rId8"/>
    <p:sldId id="368" r:id="rId9"/>
    <p:sldId id="369" r:id="rId10"/>
    <p:sldId id="370" r:id="rId11"/>
    <p:sldId id="393" r:id="rId12"/>
    <p:sldId id="372" r:id="rId13"/>
    <p:sldId id="394" r:id="rId14"/>
    <p:sldId id="284" r:id="rId15"/>
    <p:sldId id="296" r:id="rId16"/>
    <p:sldId id="287" r:id="rId17"/>
    <p:sldId id="391" r:id="rId18"/>
    <p:sldId id="288" r:id="rId19"/>
    <p:sldId id="392" r:id="rId20"/>
    <p:sldId id="289" r:id="rId21"/>
    <p:sldId id="290" r:id="rId22"/>
    <p:sldId id="356" r:id="rId23"/>
    <p:sldId id="357" r:id="rId24"/>
    <p:sldId id="373" r:id="rId25"/>
    <p:sldId id="375" r:id="rId26"/>
    <p:sldId id="374" r:id="rId27"/>
    <p:sldId id="381" r:id="rId28"/>
    <p:sldId id="382" r:id="rId29"/>
    <p:sldId id="376" r:id="rId30"/>
    <p:sldId id="386" r:id="rId31"/>
    <p:sldId id="387" r:id="rId32"/>
    <p:sldId id="377" r:id="rId33"/>
    <p:sldId id="380" r:id="rId34"/>
    <p:sldId id="378" r:id="rId35"/>
    <p:sldId id="388" r:id="rId36"/>
    <p:sldId id="384" r:id="rId37"/>
    <p:sldId id="385" r:id="rId38"/>
    <p:sldId id="390" r:id="rId39"/>
  </p:sldIdLst>
  <p:sldSz cx="6858000" cy="9906000" type="A4"/>
  <p:notesSz cx="6735763" cy="98663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D9C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E490D0-4BBE-45B5-8BF9-2D87EA9F3703}" v="2" dt="2026-04-08T06:48:14.5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7" autoAdjust="0"/>
    <p:restoredTop sz="94660"/>
  </p:normalViewPr>
  <p:slideViewPr>
    <p:cSldViewPr snapToGrid="0">
      <p:cViewPr>
        <p:scale>
          <a:sx n="100" d="100"/>
          <a:sy n="100" d="100"/>
        </p:scale>
        <p:origin x="2532" y="-1158"/>
      </p:cViewPr>
      <p:guideLst>
        <p:guide orient="horz" pos="3120"/>
        <p:guide pos="2160"/>
      </p:guideLst>
    </p:cSldViewPr>
  </p:slideViewPr>
  <p:notesTextViewPr>
    <p:cViewPr>
      <p:scale>
        <a:sx n="1" d="1"/>
        <a:sy n="1" d="1"/>
      </p:scale>
      <p:origin x="0" y="0"/>
    </p:cViewPr>
  </p:notesTextViewPr>
  <p:sorterViewPr>
    <p:cViewPr>
      <p:scale>
        <a:sx n="200" d="100"/>
        <a:sy n="200" d="100"/>
      </p:scale>
      <p:origin x="0" y="0"/>
    </p:cViewPr>
  </p:sorterViewPr>
  <p:notesViewPr>
    <p:cSldViewPr snapToGrid="0">
      <p:cViewPr varScale="1">
        <p:scale>
          <a:sx n="84" d="100"/>
          <a:sy n="84" d="100"/>
        </p:scale>
        <p:origin x="3828"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YB Subs" userId="8+b5QKSUFNOPGlo7OS4KwJOmx0wTwxp2JzGT7dh9RzY=" providerId="None" clId="Web-{9AE490D0-4BBE-45B5-8BF9-2D87EA9F3703}"/>
    <pc:docChg chg="sldOrd">
      <pc:chgData name="DYB Subs" userId="8+b5QKSUFNOPGlo7OS4KwJOmx0wTwxp2JzGT7dh9RzY=" providerId="None" clId="Web-{9AE490D0-4BBE-45B5-8BF9-2D87EA9F3703}" dt="2026-04-08T06:48:14.535" v="1"/>
      <pc:docMkLst>
        <pc:docMk/>
      </pc:docMkLst>
      <pc:sldChg chg="ord">
        <pc:chgData name="DYB Subs" userId="8+b5QKSUFNOPGlo7OS4KwJOmx0wTwxp2JzGT7dh9RzY=" providerId="None" clId="Web-{9AE490D0-4BBE-45B5-8BF9-2D87EA9F3703}" dt="2026-04-08T06:48:14.535" v="1"/>
        <pc:sldMkLst>
          <pc:docMk/>
          <pc:sldMk cId="1803471003" sldId="35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C016D6A-E003-20C4-3DE5-BAC72D056877}"/>
              </a:ext>
            </a:extLst>
          </p:cNvPr>
          <p:cNvSpPr>
            <a:spLocks noGrp="1"/>
          </p:cNvSpPr>
          <p:nvPr>
            <p:ph type="hdr" sz="quarter"/>
          </p:nvPr>
        </p:nvSpPr>
        <p:spPr>
          <a:xfrm>
            <a:off x="1" y="0"/>
            <a:ext cx="2918831" cy="495029"/>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48C0991-6339-5254-410C-20D06505EE22}"/>
              </a:ext>
            </a:extLst>
          </p:cNvPr>
          <p:cNvSpPr>
            <a:spLocks noGrp="1"/>
          </p:cNvSpPr>
          <p:nvPr>
            <p:ph type="dt" sz="quarter" idx="1"/>
          </p:nvPr>
        </p:nvSpPr>
        <p:spPr>
          <a:xfrm>
            <a:off x="3815373" y="0"/>
            <a:ext cx="2918831" cy="495029"/>
          </a:xfrm>
          <a:prstGeom prst="rect">
            <a:avLst/>
          </a:prstGeom>
        </p:spPr>
        <p:txBody>
          <a:bodyPr vert="horz" lIns="91440" tIns="45720" rIns="91440" bIns="45720" rtlCol="0"/>
          <a:lstStyle>
            <a:lvl1pPr algn="r">
              <a:defRPr sz="1200"/>
            </a:lvl1pPr>
          </a:lstStyle>
          <a:p>
            <a:fld id="{B3429213-F857-4A94-A139-861FDFEF781E}" type="datetimeFigureOut">
              <a:rPr lang="en-US" smtClean="0"/>
              <a:t>4/7/2026</a:t>
            </a:fld>
            <a:endParaRPr lang="en-US" dirty="0"/>
          </a:p>
        </p:txBody>
      </p:sp>
      <p:sp>
        <p:nvSpPr>
          <p:cNvPr id="4" name="Footer Placeholder 3">
            <a:extLst>
              <a:ext uri="{FF2B5EF4-FFF2-40B4-BE49-F238E27FC236}">
                <a16:creationId xmlns:a16="http://schemas.microsoft.com/office/drawing/2014/main" id="{4EFA0BAB-03BB-0F17-2084-AD3BB9726D2E}"/>
              </a:ext>
            </a:extLst>
          </p:cNvPr>
          <p:cNvSpPr>
            <a:spLocks noGrp="1"/>
          </p:cNvSpPr>
          <p:nvPr>
            <p:ph type="ftr" sz="quarter" idx="2"/>
          </p:nvPr>
        </p:nvSpPr>
        <p:spPr>
          <a:xfrm>
            <a:off x="1" y="9371287"/>
            <a:ext cx="2918831" cy="495028"/>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3CD2024-C6DD-C636-5A77-3019FAE4EC33}"/>
              </a:ext>
            </a:extLst>
          </p:cNvPr>
          <p:cNvSpPr>
            <a:spLocks noGrp="1"/>
          </p:cNvSpPr>
          <p:nvPr>
            <p:ph type="sldNum" sz="quarter" idx="3"/>
          </p:nvPr>
        </p:nvSpPr>
        <p:spPr>
          <a:xfrm>
            <a:off x="3815373" y="9371287"/>
            <a:ext cx="2918831" cy="495028"/>
          </a:xfrm>
          <a:prstGeom prst="rect">
            <a:avLst/>
          </a:prstGeom>
        </p:spPr>
        <p:txBody>
          <a:bodyPr vert="horz" lIns="91440" tIns="45720" rIns="91440" bIns="45720" rtlCol="0" anchor="b"/>
          <a:lstStyle>
            <a:lvl1pPr algn="r">
              <a:defRPr sz="1200"/>
            </a:lvl1pPr>
          </a:lstStyle>
          <a:p>
            <a:fld id="{4E726139-6F92-49EA-B638-0077B912B942}" type="slidenum">
              <a:rPr lang="en-US" smtClean="0"/>
              <a:t>‹#›</a:t>
            </a:fld>
            <a:endParaRPr lang="en-US" dirty="0"/>
          </a:p>
        </p:txBody>
      </p:sp>
    </p:spTree>
    <p:extLst>
      <p:ext uri="{BB962C8B-B14F-4D97-AF65-F5344CB8AC3E}">
        <p14:creationId xmlns:p14="http://schemas.microsoft.com/office/powerpoint/2010/main" val="31650184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18831" cy="495029"/>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15373" y="0"/>
            <a:ext cx="2918831" cy="495029"/>
          </a:xfrm>
          <a:prstGeom prst="rect">
            <a:avLst/>
          </a:prstGeom>
        </p:spPr>
        <p:txBody>
          <a:bodyPr vert="horz" lIns="91440" tIns="45720" rIns="91440" bIns="45720" rtlCol="0"/>
          <a:lstStyle>
            <a:lvl1pPr algn="r">
              <a:defRPr sz="1200"/>
            </a:lvl1pPr>
          </a:lstStyle>
          <a:p>
            <a:fld id="{165EF916-CFC6-43ED-8AC2-740F181CF69D}" type="datetimeFigureOut">
              <a:rPr lang="en-US" smtClean="0"/>
              <a:t>4/7/2026</a:t>
            </a:fld>
            <a:endParaRPr lang="en-US" dirty="0"/>
          </a:p>
        </p:txBody>
      </p:sp>
      <p:sp>
        <p:nvSpPr>
          <p:cNvPr id="4" name="Slide Image Placeholder 3"/>
          <p:cNvSpPr>
            <a:spLocks noGrp="1" noRot="1" noChangeAspect="1"/>
          </p:cNvSpPr>
          <p:nvPr>
            <p:ph type="sldImg" idx="2"/>
          </p:nvPr>
        </p:nvSpPr>
        <p:spPr>
          <a:xfrm>
            <a:off x="2216150" y="1233488"/>
            <a:ext cx="2303463" cy="3328987"/>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9371287"/>
            <a:ext cx="2918831" cy="495028"/>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15373" y="9371287"/>
            <a:ext cx="2918831" cy="495028"/>
          </a:xfrm>
          <a:prstGeom prst="rect">
            <a:avLst/>
          </a:prstGeom>
        </p:spPr>
        <p:txBody>
          <a:bodyPr vert="horz" lIns="91440" tIns="45720" rIns="91440" bIns="45720" rtlCol="0" anchor="b"/>
          <a:lstStyle>
            <a:lvl1pPr algn="r">
              <a:defRPr sz="1200"/>
            </a:lvl1pPr>
          </a:lstStyle>
          <a:p>
            <a:fld id="{09F368F8-BC73-436A-82B3-657238CB2040}" type="slidenum">
              <a:rPr lang="en-US" smtClean="0"/>
              <a:t>‹#›</a:t>
            </a:fld>
            <a:endParaRPr lang="en-US" dirty="0"/>
          </a:p>
        </p:txBody>
      </p:sp>
    </p:spTree>
    <p:extLst>
      <p:ext uri="{BB962C8B-B14F-4D97-AF65-F5344CB8AC3E}">
        <p14:creationId xmlns:p14="http://schemas.microsoft.com/office/powerpoint/2010/main" val="1160298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1CAE4CBB-268B-1C2D-4638-08A3A5081FCC}"/>
              </a:ext>
            </a:extLst>
          </p:cNvPr>
          <p:cNvSpPr>
            <a:spLocks noGrp="1"/>
          </p:cNvSpPr>
          <p:nvPr>
            <p:ph sz="quarter" idx="10"/>
          </p:nvPr>
        </p:nvSpPr>
        <p:spPr>
          <a:xfrm>
            <a:off x="1625600" y="584200"/>
            <a:ext cx="3606800" cy="431800"/>
          </a:xfrm>
          <a:prstGeom prst="rect">
            <a:avLst/>
          </a:prstGeom>
        </p:spPr>
        <p:txBody>
          <a:bodyPr anchor="ctr"/>
          <a:lstStyle>
            <a:lvl2pPr marL="342900" indent="0">
              <a:buNone/>
              <a:defRPr/>
            </a:lvl2pPr>
            <a:lvl5pPr marL="0" indent="0" algn="ctr">
              <a:buNone/>
              <a:defRPr sz="2200" b="1">
                <a:solidFill>
                  <a:srgbClr val="C00000"/>
                </a:solidFill>
              </a:defRPr>
            </a:lvl5pPr>
          </a:lstStyle>
          <a:p>
            <a:pPr lvl="4"/>
            <a:endParaRPr lang="en-US" dirty="0"/>
          </a:p>
        </p:txBody>
      </p:sp>
      <p:cxnSp>
        <p:nvCxnSpPr>
          <p:cNvPr id="9" name="AutoShape 8">
            <a:extLst>
              <a:ext uri="{FF2B5EF4-FFF2-40B4-BE49-F238E27FC236}">
                <a16:creationId xmlns:a16="http://schemas.microsoft.com/office/drawing/2014/main" id="{F275952C-3602-ADE0-8CED-5FB4C2B8FA4A}"/>
              </a:ext>
            </a:extLst>
          </p:cNvPr>
          <p:cNvCxnSpPr>
            <a:cxnSpLocks noChangeShapeType="1"/>
          </p:cNvCxnSpPr>
          <p:nvPr userDrawn="1"/>
        </p:nvCxnSpPr>
        <p:spPr bwMode="auto">
          <a:xfrm>
            <a:off x="459000" y="9457446"/>
            <a:ext cx="5940000" cy="0"/>
          </a:xfrm>
          <a:prstGeom prst="straightConnector1">
            <a:avLst/>
          </a:prstGeom>
          <a:noFill/>
          <a:ln w="19050">
            <a:solidFill>
              <a:sysClr val="window" lastClr="FFFFFF">
                <a:lumMod val="50000"/>
                <a:lumOff val="0"/>
              </a:sysClr>
            </a:solidFill>
            <a:round/>
            <a:headEnd/>
            <a:tailEnd/>
          </a:ln>
          <a:extLst>
            <a:ext uri="{909E8E84-426E-40DD-AFC4-6F175D3DCCD1}">
              <a14:hiddenFill xmlns:a14="http://schemas.microsoft.com/office/drawing/2010/main">
                <a:noFill/>
              </a14:hiddenFill>
            </a:ext>
          </a:extLst>
        </p:spPr>
      </p:cxnSp>
      <p:sp>
        <p:nvSpPr>
          <p:cNvPr id="11" name="Text Placeholder 10">
            <a:extLst>
              <a:ext uri="{FF2B5EF4-FFF2-40B4-BE49-F238E27FC236}">
                <a16:creationId xmlns:a16="http://schemas.microsoft.com/office/drawing/2014/main" id="{48C0F501-9238-36E0-EA5A-9B68A907E565}"/>
              </a:ext>
            </a:extLst>
          </p:cNvPr>
          <p:cNvSpPr>
            <a:spLocks noGrp="1"/>
          </p:cNvSpPr>
          <p:nvPr>
            <p:ph type="body" sz="quarter" idx="11" hasCustomPrompt="1"/>
          </p:nvPr>
        </p:nvSpPr>
        <p:spPr>
          <a:xfrm>
            <a:off x="3187700" y="9334500"/>
            <a:ext cx="482600" cy="190475"/>
          </a:xfrm>
          <a:prstGeom prst="rect">
            <a:avLst/>
          </a:prstGeom>
          <a:solidFill>
            <a:schemeClr val="bg1"/>
          </a:solidFill>
        </p:spPr>
        <p:txBody>
          <a:bodyPr anchor="ctr"/>
          <a:lstStyle>
            <a:lvl5pPr marL="1371600" indent="-1423988" algn="ctr">
              <a:buNone/>
              <a:defRPr b="1"/>
            </a:lvl5pPr>
          </a:lstStyle>
          <a:p>
            <a:pPr lvl="4"/>
            <a:r>
              <a:rPr lang="en-US" dirty="0"/>
              <a:t>1</a:t>
            </a:r>
          </a:p>
        </p:txBody>
      </p:sp>
      <p:sp>
        <p:nvSpPr>
          <p:cNvPr id="12" name="Rectangle 11">
            <a:extLst>
              <a:ext uri="{FF2B5EF4-FFF2-40B4-BE49-F238E27FC236}">
                <a16:creationId xmlns:a16="http://schemas.microsoft.com/office/drawing/2014/main" id="{9930B8D5-FAB7-2BEE-6084-086C6968D8A7}"/>
              </a:ext>
            </a:extLst>
          </p:cNvPr>
          <p:cNvSpPr/>
          <p:nvPr userDrawn="1"/>
        </p:nvSpPr>
        <p:spPr>
          <a:xfrm>
            <a:off x="225000" y="237000"/>
            <a:ext cx="6408000" cy="9432000"/>
          </a:xfrm>
          <a:prstGeom prst="rect">
            <a:avLst/>
          </a:prstGeom>
          <a:noFill/>
          <a:ln w="50800" cmpd="thinThick">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35F66F03-4979-0126-3CC4-0090DA2426A5}"/>
              </a:ext>
            </a:extLst>
          </p:cNvPr>
          <p:cNvGrpSpPr/>
          <p:nvPr userDrawn="1"/>
        </p:nvGrpSpPr>
        <p:grpSpPr>
          <a:xfrm>
            <a:off x="460429" y="438642"/>
            <a:ext cx="5940000" cy="700304"/>
            <a:chOff x="640080" y="491982"/>
            <a:chExt cx="5940000" cy="700304"/>
          </a:xfrm>
        </p:grpSpPr>
        <p:pic>
          <p:nvPicPr>
            <p:cNvPr id="14" name="Picture 13">
              <a:extLst>
                <a:ext uri="{FF2B5EF4-FFF2-40B4-BE49-F238E27FC236}">
                  <a16:creationId xmlns:a16="http://schemas.microsoft.com/office/drawing/2014/main" id="{116BCEBD-FAAA-3D5E-5768-DD8D1AAD9D86}"/>
                </a:ext>
              </a:extLst>
            </p:cNvPr>
            <p:cNvPicPr/>
            <p:nvPr/>
          </p:nvPicPr>
          <p:blipFill>
            <a:blip r:embed="rId2" cstate="print"/>
            <a:srcRect/>
            <a:stretch>
              <a:fillRect/>
            </a:stretch>
          </p:blipFill>
          <p:spPr bwMode="auto">
            <a:xfrm>
              <a:off x="660082" y="491982"/>
              <a:ext cx="712470" cy="601980"/>
            </a:xfrm>
            <a:prstGeom prst="rect">
              <a:avLst/>
            </a:prstGeom>
            <a:noFill/>
            <a:ln w="9525">
              <a:noFill/>
              <a:miter lim="800000"/>
              <a:headEnd/>
              <a:tailEnd/>
            </a:ln>
          </p:spPr>
        </p:pic>
        <p:cxnSp>
          <p:nvCxnSpPr>
            <p:cNvPr id="15" name="AutoShape 8">
              <a:extLst>
                <a:ext uri="{FF2B5EF4-FFF2-40B4-BE49-F238E27FC236}">
                  <a16:creationId xmlns:a16="http://schemas.microsoft.com/office/drawing/2014/main" id="{4198BD5A-83C3-086F-ADE5-38A262A956EF}"/>
                </a:ext>
              </a:extLst>
            </p:cNvPr>
            <p:cNvCxnSpPr>
              <a:cxnSpLocks noChangeShapeType="1"/>
            </p:cNvCxnSpPr>
            <p:nvPr/>
          </p:nvCxnSpPr>
          <p:spPr bwMode="auto">
            <a:xfrm>
              <a:off x="640080" y="1192286"/>
              <a:ext cx="5940000" cy="0"/>
            </a:xfrm>
            <a:prstGeom prst="straightConnector1">
              <a:avLst/>
            </a:prstGeom>
            <a:noFill/>
            <a:ln w="19050">
              <a:solidFill>
                <a:sysClr val="window" lastClr="FFFFFF">
                  <a:lumMod val="50000"/>
                  <a:lumOff val="0"/>
                </a:sysClr>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3279943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A02DEB1B-1825-4118-8E06-A17896DC4DAF}" type="datetimeFigureOut">
              <a:rPr lang="en-US" smtClean="0"/>
              <a:t>4/7/2026</a:t>
            </a:fld>
            <a:endParaRPr 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282B6586-FA7D-46A7-BE2A-2550CB37C738}" type="slidenum">
              <a:rPr lang="en-US" smtClean="0"/>
              <a:t>‹#›</a:t>
            </a:fld>
            <a:endParaRPr lang="en-US" dirty="0"/>
          </a:p>
        </p:txBody>
      </p:sp>
    </p:spTree>
    <p:extLst>
      <p:ext uri="{BB962C8B-B14F-4D97-AF65-F5344CB8AC3E}">
        <p14:creationId xmlns:p14="http://schemas.microsoft.com/office/powerpoint/2010/main" val="4288363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A02DEB1B-1825-4118-8E06-A17896DC4DAF}" type="datetimeFigureOut">
              <a:rPr lang="en-US" smtClean="0"/>
              <a:t>4/7/2026</a:t>
            </a:fld>
            <a:endParaRPr 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282B6586-FA7D-46A7-BE2A-2550CB37C738}" type="slidenum">
              <a:rPr lang="en-US" smtClean="0"/>
              <a:t>‹#›</a:t>
            </a:fld>
            <a:endParaRPr lang="en-US" dirty="0"/>
          </a:p>
        </p:txBody>
      </p:sp>
    </p:spTree>
    <p:extLst>
      <p:ext uri="{BB962C8B-B14F-4D97-AF65-F5344CB8AC3E}">
        <p14:creationId xmlns:p14="http://schemas.microsoft.com/office/powerpoint/2010/main" val="2827427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A02DEB1B-1825-4118-8E06-A17896DC4DAF}" type="datetimeFigureOut">
              <a:rPr lang="en-US" smtClean="0"/>
              <a:t>4/7/2026</a:t>
            </a:fld>
            <a:endParaRPr 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282B6586-FA7D-46A7-BE2A-2550CB37C738}" type="slidenum">
              <a:rPr lang="en-US" smtClean="0"/>
              <a:t>‹#›</a:t>
            </a:fld>
            <a:endParaRPr lang="en-US" dirty="0"/>
          </a:p>
        </p:txBody>
      </p:sp>
    </p:spTree>
    <p:extLst>
      <p:ext uri="{BB962C8B-B14F-4D97-AF65-F5344CB8AC3E}">
        <p14:creationId xmlns:p14="http://schemas.microsoft.com/office/powerpoint/2010/main" val="3540924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A02DEB1B-1825-4118-8E06-A17896DC4DAF}" type="datetimeFigureOut">
              <a:rPr lang="en-US" smtClean="0"/>
              <a:t>4/7/2026</a:t>
            </a:fld>
            <a:endParaRPr lang="en-US" dirty="0"/>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en-US" dirty="0"/>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282B6586-FA7D-46A7-BE2A-2550CB37C738}" type="slidenum">
              <a:rPr lang="en-US" smtClean="0"/>
              <a:t>‹#›</a:t>
            </a:fld>
            <a:endParaRPr lang="en-US" dirty="0"/>
          </a:p>
        </p:txBody>
      </p:sp>
    </p:spTree>
    <p:extLst>
      <p:ext uri="{BB962C8B-B14F-4D97-AF65-F5344CB8AC3E}">
        <p14:creationId xmlns:p14="http://schemas.microsoft.com/office/powerpoint/2010/main" val="1505978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A02DEB1B-1825-4118-8E06-A17896DC4DAF}" type="datetimeFigureOut">
              <a:rPr lang="en-US" smtClean="0"/>
              <a:t>4/7/2026</a:t>
            </a:fld>
            <a:endParaRPr lang="en-US" dirty="0"/>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en-US" dirty="0"/>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282B6586-FA7D-46A7-BE2A-2550CB37C738}" type="slidenum">
              <a:rPr lang="en-US" smtClean="0"/>
              <a:t>‹#›</a:t>
            </a:fld>
            <a:endParaRPr lang="en-US" dirty="0"/>
          </a:p>
        </p:txBody>
      </p:sp>
    </p:spTree>
    <p:extLst>
      <p:ext uri="{BB962C8B-B14F-4D97-AF65-F5344CB8AC3E}">
        <p14:creationId xmlns:p14="http://schemas.microsoft.com/office/powerpoint/2010/main" val="161926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A02DEB1B-1825-4118-8E06-A17896DC4DAF}" type="datetimeFigureOut">
              <a:rPr lang="en-US" smtClean="0"/>
              <a:t>4/7/2026</a:t>
            </a:fld>
            <a:endParaRPr lang="en-US" dirty="0"/>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en-US" dirty="0"/>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282B6586-FA7D-46A7-BE2A-2550CB37C738}" type="slidenum">
              <a:rPr lang="en-US" smtClean="0"/>
              <a:t>‹#›</a:t>
            </a:fld>
            <a:endParaRPr lang="en-US" dirty="0"/>
          </a:p>
        </p:txBody>
      </p:sp>
    </p:spTree>
    <p:extLst>
      <p:ext uri="{BB962C8B-B14F-4D97-AF65-F5344CB8AC3E}">
        <p14:creationId xmlns:p14="http://schemas.microsoft.com/office/powerpoint/2010/main" val="827610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A02DEB1B-1825-4118-8E06-A17896DC4DAF}" type="datetimeFigureOut">
              <a:rPr lang="en-US" smtClean="0"/>
              <a:t>4/7/2026</a:t>
            </a:fld>
            <a:endParaRPr 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282B6586-FA7D-46A7-BE2A-2550CB37C738}" type="slidenum">
              <a:rPr lang="en-US" smtClean="0"/>
              <a:t>‹#›</a:t>
            </a:fld>
            <a:endParaRPr lang="en-US" dirty="0"/>
          </a:p>
        </p:txBody>
      </p:sp>
    </p:spTree>
    <p:extLst>
      <p:ext uri="{BB962C8B-B14F-4D97-AF65-F5344CB8AC3E}">
        <p14:creationId xmlns:p14="http://schemas.microsoft.com/office/powerpoint/2010/main" val="3791377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A02DEB1B-1825-4118-8E06-A17896DC4DAF}" type="datetimeFigureOut">
              <a:rPr lang="en-US" smtClean="0"/>
              <a:t>4/7/2026</a:t>
            </a:fld>
            <a:endParaRPr 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282B6586-FA7D-46A7-BE2A-2550CB37C738}" type="slidenum">
              <a:rPr lang="en-US" smtClean="0"/>
              <a:t>‹#›</a:t>
            </a:fld>
            <a:endParaRPr lang="en-US" dirty="0"/>
          </a:p>
        </p:txBody>
      </p:sp>
    </p:spTree>
    <p:extLst>
      <p:ext uri="{BB962C8B-B14F-4D97-AF65-F5344CB8AC3E}">
        <p14:creationId xmlns:p14="http://schemas.microsoft.com/office/powerpoint/2010/main" val="2600246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A02DEB1B-1825-4118-8E06-A17896DC4DAF}" type="datetimeFigureOut">
              <a:rPr lang="en-US" smtClean="0"/>
              <a:t>4/7/2026</a:t>
            </a:fld>
            <a:endParaRPr 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282B6586-FA7D-46A7-BE2A-2550CB37C738}" type="slidenum">
              <a:rPr lang="en-US" smtClean="0"/>
              <a:t>‹#›</a:t>
            </a:fld>
            <a:endParaRPr lang="en-US" dirty="0"/>
          </a:p>
        </p:txBody>
      </p:sp>
    </p:spTree>
    <p:extLst>
      <p:ext uri="{BB962C8B-B14F-4D97-AF65-F5344CB8AC3E}">
        <p14:creationId xmlns:p14="http://schemas.microsoft.com/office/powerpoint/2010/main" val="1642744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A02DEB1B-1825-4118-8E06-A17896DC4DAF}" type="datetimeFigureOut">
              <a:rPr lang="en-US" smtClean="0"/>
              <a:t>4/7/2026</a:t>
            </a:fld>
            <a:endParaRPr 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282B6586-FA7D-46A7-BE2A-2550CB37C738}" type="slidenum">
              <a:rPr lang="en-US" smtClean="0"/>
              <a:t>‹#›</a:t>
            </a:fld>
            <a:endParaRPr lang="en-US" dirty="0"/>
          </a:p>
        </p:txBody>
      </p:sp>
    </p:spTree>
    <p:extLst>
      <p:ext uri="{BB962C8B-B14F-4D97-AF65-F5344CB8AC3E}">
        <p14:creationId xmlns:p14="http://schemas.microsoft.com/office/powerpoint/2010/main" val="23851605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666D8-3B6D-343E-AD09-D36D1BF0E1EB}"/>
              </a:ext>
            </a:extLst>
          </p:cNvPr>
          <p:cNvSpPr>
            <a:spLocks noGrp="1"/>
          </p:cNvSpPr>
          <p:nvPr>
            <p:ph type="title"/>
          </p:nvPr>
        </p:nvSpPr>
        <p:spPr>
          <a:xfrm>
            <a:off x="471488" y="527050"/>
            <a:ext cx="5915025" cy="1914525"/>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905972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159826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23.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8" Type="http://schemas.openxmlformats.org/officeDocument/2006/relationships/hyperlink" Target="https://games4esl.com/powerpointgames/" TargetMode="External"/><Relationship Id="rId3" Type="http://schemas.openxmlformats.org/officeDocument/2006/relationships/hyperlink" Target="https://www.slidescarnival.com/" TargetMode="External"/><Relationship Id="rId7" Type="http://schemas.openxmlformats.org/officeDocument/2006/relationships/hyperlink" Target="https://storyset.com/" TargetMode="External"/><Relationship Id="rId12" Type="http://schemas.openxmlformats.org/officeDocument/2006/relationships/hyperlink" Target="https://www.tes.com/teaching-resources" TargetMode="External"/><Relationship Id="rId2" Type="http://schemas.openxmlformats.org/officeDocument/2006/relationships/hyperlink" Target="https://slidesgo.com/" TargetMode="External"/><Relationship Id="rId1" Type="http://schemas.openxmlformats.org/officeDocument/2006/relationships/slideLayout" Target="../slideLayouts/slideLayout1.xml"/><Relationship Id="rId6" Type="http://schemas.openxmlformats.org/officeDocument/2006/relationships/hyperlink" Target="https://www.freepik.com/" TargetMode="External"/><Relationship Id="rId11" Type="http://schemas.openxmlformats.org/officeDocument/2006/relationships/hyperlink" Target="https://www.teacherspayteachers.com/" TargetMode="External"/><Relationship Id="rId5" Type="http://schemas.openxmlformats.org/officeDocument/2006/relationships/hyperlink" Target="https://www.flaticon.com/" TargetMode="External"/><Relationship Id="rId10" Type="http://schemas.openxmlformats.org/officeDocument/2006/relationships/hyperlink" Target="https://eslgrammar.org/" TargetMode="External"/><Relationship Id="rId4" Type="http://schemas.openxmlformats.org/officeDocument/2006/relationships/hyperlink" Target="https://slidesmania.com/" TargetMode="External"/><Relationship Id="rId9" Type="http://schemas.openxmlformats.org/officeDocument/2006/relationships/hyperlink" Target="https://learnenglish.britishcouncil.org/grammar"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hyperlink" Target="http://www.dybnhr.com/" TargetMode="Externa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530A3E3-EA5F-FF07-A1A9-E789F6332791}"/>
              </a:ext>
            </a:extLst>
          </p:cNvPr>
          <p:cNvSpPr/>
          <p:nvPr/>
        </p:nvSpPr>
        <p:spPr>
          <a:xfrm>
            <a:off x="-34446" y="0"/>
            <a:ext cx="6926893" cy="9906000"/>
          </a:xfrm>
          <a:prstGeom prst="rect">
            <a:avLst/>
          </a:prstGeom>
          <a:solidFill>
            <a:srgbClr val="C00000"/>
          </a:solidFill>
          <a:ln w="165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F5907593-EE47-B823-DAA6-64C8FE849C48}"/>
              </a:ext>
            </a:extLst>
          </p:cNvPr>
          <p:cNvSpPr/>
          <p:nvPr/>
        </p:nvSpPr>
        <p:spPr>
          <a:xfrm>
            <a:off x="144051" y="176663"/>
            <a:ext cx="6532322" cy="95526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CDA65162-2993-62BF-4B5D-C4E3240733CD}"/>
              </a:ext>
            </a:extLst>
          </p:cNvPr>
          <p:cNvSpPr/>
          <p:nvPr/>
        </p:nvSpPr>
        <p:spPr>
          <a:xfrm>
            <a:off x="297494" y="337159"/>
            <a:ext cx="6263013" cy="9206630"/>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EF48FA46-CCF9-4CD1-23BE-25DC4700085A}"/>
              </a:ext>
            </a:extLst>
          </p:cNvPr>
          <p:cNvGrpSpPr/>
          <p:nvPr/>
        </p:nvGrpSpPr>
        <p:grpSpPr>
          <a:xfrm>
            <a:off x="297493" y="2901269"/>
            <a:ext cx="6263013" cy="2326858"/>
            <a:chOff x="297493" y="2199813"/>
            <a:chExt cx="6263013" cy="2326858"/>
          </a:xfrm>
        </p:grpSpPr>
        <p:sp>
          <p:nvSpPr>
            <p:cNvPr id="5" name="Rectangle 4">
              <a:extLst>
                <a:ext uri="{FF2B5EF4-FFF2-40B4-BE49-F238E27FC236}">
                  <a16:creationId xmlns:a16="http://schemas.microsoft.com/office/drawing/2014/main" id="{0C5002EC-BE49-F131-8922-3757FF8A6775}"/>
                </a:ext>
              </a:extLst>
            </p:cNvPr>
            <p:cNvSpPr/>
            <p:nvPr/>
          </p:nvSpPr>
          <p:spPr>
            <a:xfrm>
              <a:off x="297493" y="3144036"/>
              <a:ext cx="6263013" cy="53862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04F79DAD-F702-384D-96ED-E5C7B7C3030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87853" y="2199813"/>
              <a:ext cx="1732399" cy="2326858"/>
            </a:xfrm>
            <a:prstGeom prst="rect">
              <a:avLst/>
            </a:prstGeom>
          </p:spPr>
        </p:pic>
        <p:sp>
          <p:nvSpPr>
            <p:cNvPr id="9" name="TextBox 8">
              <a:extLst>
                <a:ext uri="{FF2B5EF4-FFF2-40B4-BE49-F238E27FC236}">
                  <a16:creationId xmlns:a16="http://schemas.microsoft.com/office/drawing/2014/main" id="{0B6AAC53-C5C6-A59B-4E42-A8675AD3AFE0}"/>
                </a:ext>
              </a:extLst>
            </p:cNvPr>
            <p:cNvSpPr txBox="1"/>
            <p:nvPr/>
          </p:nvSpPr>
          <p:spPr>
            <a:xfrm>
              <a:off x="1053751" y="3698200"/>
              <a:ext cx="2746332" cy="621645"/>
            </a:xfrm>
            <a:prstGeom prst="rect">
              <a:avLst/>
            </a:prstGeom>
            <a:noFill/>
          </p:spPr>
          <p:txBody>
            <a:bodyPr wrap="square" rtlCol="0">
              <a:spAutoFit/>
            </a:bodyPr>
            <a:lstStyle/>
            <a:p>
              <a:pPr algn="ctr">
                <a:lnSpc>
                  <a:spcPct val="115000"/>
                </a:lnSpc>
                <a:spcAft>
                  <a:spcPts val="1000"/>
                </a:spcAft>
              </a:pPr>
              <a:r>
                <a:rPr lang="en-US" sz="3200" b="1" spc="100" dirty="0">
                  <a:solidFill>
                    <a:srgbClr val="595959"/>
                  </a:solidFill>
                  <a:effectLst/>
                  <a:latin typeface="Arial Narrow" panose="020B0606020202030204" pitchFamily="34" charset="0"/>
                  <a:ea typeface="Arial Unicode MS"/>
                  <a:cs typeface="Arial Unicode MS"/>
                </a:rPr>
                <a:t>Do Your Best!</a:t>
              </a:r>
              <a:endParaRPr lang="en-US" sz="3200" spc="100" dirty="0">
                <a:effectLst/>
                <a:latin typeface="Calibri" panose="020F0502020204030204" pitchFamily="34" charset="0"/>
                <a:ea typeface="Malgun Gothic" panose="020B0503020000020004" pitchFamily="34" charset="-127"/>
                <a:cs typeface="Times New Roman" panose="02020603050405020304" pitchFamily="18" charset="0"/>
              </a:endParaRPr>
            </a:p>
          </p:txBody>
        </p:sp>
      </p:grpSp>
      <p:sp>
        <p:nvSpPr>
          <p:cNvPr id="3" name="TextBox 2">
            <a:extLst>
              <a:ext uri="{FF2B5EF4-FFF2-40B4-BE49-F238E27FC236}">
                <a16:creationId xmlns:a16="http://schemas.microsoft.com/office/drawing/2014/main" id="{64238F29-C581-0276-8EBD-AE6404226828}"/>
              </a:ext>
            </a:extLst>
          </p:cNvPr>
          <p:cNvSpPr txBox="1"/>
          <p:nvPr/>
        </p:nvSpPr>
        <p:spPr>
          <a:xfrm>
            <a:off x="1305838" y="6826692"/>
            <a:ext cx="4246324" cy="1598836"/>
          </a:xfrm>
          <a:prstGeom prst="rect">
            <a:avLst/>
          </a:prstGeom>
          <a:noFill/>
        </p:spPr>
        <p:txBody>
          <a:bodyPr wrap="square" rtlCol="0">
            <a:spAutoFit/>
          </a:bodyPr>
          <a:lstStyle/>
          <a:p>
            <a:pPr algn="ctr">
              <a:lnSpc>
                <a:spcPct val="115000"/>
              </a:lnSpc>
            </a:pPr>
            <a:r>
              <a:rPr lang="en-US" sz="4400" b="1" dirty="0">
                <a:solidFill>
                  <a:srgbClr val="595959"/>
                </a:solidFill>
                <a:effectLst/>
                <a:latin typeface="Arial Narrow" panose="020B0606020202030204" pitchFamily="34" charset="0"/>
                <a:ea typeface="Arial Unicode MS"/>
                <a:cs typeface="Arial Unicode MS"/>
              </a:rPr>
              <a:t>Lesson Planning</a:t>
            </a:r>
          </a:p>
          <a:p>
            <a:pPr algn="ctr">
              <a:lnSpc>
                <a:spcPct val="115000"/>
              </a:lnSpc>
              <a:spcAft>
                <a:spcPts val="1000"/>
              </a:spcAft>
            </a:pPr>
            <a:r>
              <a:rPr lang="en-US" sz="4400" b="1" dirty="0">
                <a:solidFill>
                  <a:srgbClr val="595959"/>
                </a:solidFill>
                <a:latin typeface="Arial Narrow" panose="020B0606020202030204" pitchFamily="34" charset="0"/>
                <a:ea typeface="Malgun Gothic" panose="020B0503020000020004" pitchFamily="34" charset="-127"/>
                <a:cs typeface="Times New Roman" panose="02020603050405020304" pitchFamily="18" charset="0"/>
              </a:rPr>
              <a:t>Guide</a:t>
            </a:r>
            <a:endParaRPr lang="en-US" sz="4400" dirty="0">
              <a:effectLst/>
              <a:latin typeface="Calibri" panose="020F0502020204030204" pitchFamily="34" charset="0"/>
              <a:ea typeface="Malgun Gothic" panose="020B0503020000020004" pitchFamily="34" charset="-127"/>
              <a:cs typeface="Times New Roman" panose="02020603050405020304" pitchFamily="18" charset="0"/>
            </a:endParaRPr>
          </a:p>
        </p:txBody>
      </p:sp>
    </p:spTree>
    <p:extLst>
      <p:ext uri="{BB962C8B-B14F-4D97-AF65-F5344CB8AC3E}">
        <p14:creationId xmlns:p14="http://schemas.microsoft.com/office/powerpoint/2010/main" val="2070831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4629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a:extLst>
              <a:ext uri="{FF2B5EF4-FFF2-40B4-BE49-F238E27FC236}">
                <a16:creationId xmlns:a16="http://schemas.microsoft.com/office/drawing/2014/main" id="{B9A44CE9-A509-BD57-B8B1-C958B92A91EC}"/>
              </a:ext>
            </a:extLst>
          </p:cNvPr>
          <p:cNvSpPr txBox="1">
            <a:spLocks/>
          </p:cNvSpPr>
          <p:nvPr/>
        </p:nvSpPr>
        <p:spPr>
          <a:xfrm>
            <a:off x="1625600" y="534096"/>
            <a:ext cx="3606800" cy="431800"/>
          </a:xfrm>
          <a:prstGeom prst="rect">
            <a:avLst/>
          </a:prstGeom>
        </p:spPr>
        <p:txBody>
          <a:bodyPr anchor="ct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0" indent="0" algn="ctr" defTabSz="685800" rtl="0" eaLnBrk="1" latinLnBrk="0" hangingPunct="1">
              <a:lnSpc>
                <a:spcPct val="90000"/>
              </a:lnSpc>
              <a:spcBef>
                <a:spcPts val="375"/>
              </a:spcBef>
              <a:buFont typeface="Arial" panose="020B0604020202020204" pitchFamily="34" charset="0"/>
              <a:buNone/>
              <a:defRPr sz="2200" b="1" kern="1200">
                <a:solidFill>
                  <a:srgbClr val="C00000"/>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Font typeface="Arial" panose="020B0604020202020204" pitchFamily="34" charset="0"/>
              <a:buNone/>
            </a:pPr>
            <a:r>
              <a:rPr lang="en-US" sz="2400" b="1" dirty="0">
                <a:solidFill>
                  <a:srgbClr val="C00000"/>
                </a:solidFill>
              </a:rPr>
              <a:t>Contents</a:t>
            </a:r>
          </a:p>
        </p:txBody>
      </p:sp>
      <p:graphicFrame>
        <p:nvGraphicFramePr>
          <p:cNvPr id="8" name="Table 7">
            <a:extLst>
              <a:ext uri="{FF2B5EF4-FFF2-40B4-BE49-F238E27FC236}">
                <a16:creationId xmlns:a16="http://schemas.microsoft.com/office/drawing/2014/main" id="{C71F620C-2B21-2C60-8A99-3FC4BE33D5CB}"/>
              </a:ext>
            </a:extLst>
          </p:cNvPr>
          <p:cNvGraphicFramePr>
            <a:graphicFrameLocks noGrp="1"/>
          </p:cNvGraphicFramePr>
          <p:nvPr>
            <p:extLst>
              <p:ext uri="{D42A27DB-BD31-4B8C-83A1-F6EECF244321}">
                <p14:modId xmlns:p14="http://schemas.microsoft.com/office/powerpoint/2010/main" val="1669819922"/>
              </p:ext>
            </p:extLst>
          </p:nvPr>
        </p:nvGraphicFramePr>
        <p:xfrm>
          <a:off x="474478" y="1257073"/>
          <a:ext cx="5913796" cy="4771115"/>
        </p:xfrm>
        <a:graphic>
          <a:graphicData uri="http://schemas.openxmlformats.org/drawingml/2006/table">
            <a:tbl>
              <a:tblPr firstRow="1" firstCol="1" bandRow="1"/>
              <a:tblGrid>
                <a:gridCol w="3872151">
                  <a:extLst>
                    <a:ext uri="{9D8B030D-6E8A-4147-A177-3AD203B41FA5}">
                      <a16:colId xmlns:a16="http://schemas.microsoft.com/office/drawing/2014/main" val="337355152"/>
                    </a:ext>
                  </a:extLst>
                </a:gridCol>
                <a:gridCol w="1810673">
                  <a:extLst>
                    <a:ext uri="{9D8B030D-6E8A-4147-A177-3AD203B41FA5}">
                      <a16:colId xmlns:a16="http://schemas.microsoft.com/office/drawing/2014/main" val="1205892633"/>
                    </a:ext>
                  </a:extLst>
                </a:gridCol>
                <a:gridCol w="230972">
                  <a:extLst>
                    <a:ext uri="{9D8B030D-6E8A-4147-A177-3AD203B41FA5}">
                      <a16:colId xmlns:a16="http://schemas.microsoft.com/office/drawing/2014/main" val="2939667616"/>
                    </a:ext>
                  </a:extLst>
                </a:gridCol>
              </a:tblGrid>
              <a:tr h="529471">
                <a:tc gridSpan="3">
                  <a:txBody>
                    <a:bodyPr/>
                    <a:lstStyle/>
                    <a:p>
                      <a:pPr algn="ctr">
                        <a:lnSpc>
                          <a:spcPct val="115000"/>
                        </a:lnSpc>
                        <a:spcAft>
                          <a:spcPts val="1000"/>
                        </a:spcAft>
                        <a:tabLst/>
                      </a:pPr>
                      <a:r>
                        <a:rPr lang="en-US" sz="2000" b="1" u="sng"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DYB Lesson Planning Guide</a:t>
                      </a:r>
                    </a:p>
                  </a:txBody>
                  <a:tcPr marL="45041" marR="45041" marT="0" marB="0">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pPr algn="ctr">
                        <a:lnSpc>
                          <a:spcPct val="115000"/>
                        </a:lnSpc>
                        <a:spcAft>
                          <a:spcPts val="1000"/>
                        </a:spcAft>
                      </a:pP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 </a:t>
                      </a:r>
                      <a:endParaRPr lang="en-US" sz="7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45041" marR="45041"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4299100"/>
                  </a:ext>
                </a:extLst>
              </a:tr>
              <a:tr h="283054">
                <a:tc gridSpan="3">
                  <a:txBody>
                    <a:bodyPr/>
                    <a:lstStyle/>
                    <a:p>
                      <a:pPr marL="0" marR="0" lvl="0" indent="0" algn="ctr" defTabSz="685800" rtl="0" eaLnBrk="1" fontAlgn="auto" latinLnBrk="0" hangingPunct="1">
                        <a:lnSpc>
                          <a:spcPct val="115000"/>
                        </a:lnSpc>
                        <a:spcBef>
                          <a:spcPts val="0"/>
                        </a:spcBef>
                        <a:spcAft>
                          <a:spcPts val="1000"/>
                        </a:spcAft>
                        <a:buClrTx/>
                        <a:buSzTx/>
                        <a:buFontTx/>
                        <a:buNone/>
                        <a:tabLst/>
                        <a:defRPr/>
                      </a:pPr>
                      <a:endParaRPr lang="en-US" sz="1600" b="1" dirty="0">
                        <a:effectLst/>
                        <a:latin typeface="+mn-lt"/>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tcPr>
                </a:tc>
                <a:tc hMerge="1">
                  <a:txBody>
                    <a:bodyPr/>
                    <a:lstStyle/>
                    <a:p>
                      <a:pPr algn="r">
                        <a:lnSpc>
                          <a:spcPct val="115000"/>
                        </a:lnSpc>
                        <a:spcAft>
                          <a:spcPts val="1000"/>
                        </a:spcAft>
                      </a:pPr>
                      <a:endParaRPr lang="en-US" sz="10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tcPr>
                </a:tc>
                <a:tc hMerge="1">
                  <a:txBody>
                    <a:bodyPr/>
                    <a:lstStyle/>
                    <a:p>
                      <a:pPr algn="r">
                        <a:lnSpc>
                          <a:spcPct val="115000"/>
                        </a:lnSpc>
                        <a:spcAft>
                          <a:spcPts val="1000"/>
                        </a:spcAft>
                      </a:pPr>
                      <a:endParaRPr lang="en-US" sz="10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3099904129"/>
                  </a:ext>
                </a:extLst>
              </a:tr>
              <a:tr h="211085">
                <a:tc>
                  <a:txBody>
                    <a:bodyPr/>
                    <a:lstStyle/>
                    <a:p>
                      <a:pPr>
                        <a:lnSpc>
                          <a:spcPct val="115000"/>
                        </a:lnSpc>
                        <a:spcAft>
                          <a:spcPts val="1000"/>
                        </a:spcAft>
                      </a:pPr>
                      <a:r>
                        <a:rPr lang="en-US" sz="1600" b="0" dirty="0">
                          <a:effectLst/>
                          <a:latin typeface="+mn-lt"/>
                          <a:ea typeface="Malgun Gothic" panose="020B0503020000020004" pitchFamily="34" charset="-127"/>
                          <a:cs typeface="Calibri" panose="020F0502020204030204" pitchFamily="34" charset="0"/>
                        </a:rPr>
                        <a:t>Lesson Planning</a:t>
                      </a:r>
                      <a:endParaRPr lang="en-US" sz="1600" b="0" dirty="0">
                        <a:effectLst/>
                        <a:latin typeface="+mn-lt"/>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dirty="0">
                          <a:effectLst/>
                          <a:latin typeface="Calibri" panose="020F0502020204030204" pitchFamily="34" charset="0"/>
                          <a:ea typeface="Calibri" panose="020F0502020204030204" pitchFamily="34" charset="0"/>
                          <a:cs typeface="Calibri" panose="020F0502020204030204" pitchFamily="34" charset="0"/>
                        </a:rPr>
                        <a:t>1</a:t>
                      </a:r>
                      <a:endParaRPr lang="en-US" sz="16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b="1" dirty="0">
                          <a:solidFill>
                            <a:srgbClr val="4D5156"/>
                          </a:solidFill>
                          <a:effectLst/>
                          <a:latin typeface="Arial" panose="020B0604020202020204" pitchFamily="34" charset="0"/>
                          <a:ea typeface="Malgun Gothic" panose="020B0503020000020004" pitchFamily="34" charset="-127"/>
                          <a:cs typeface="Times New Roman" panose="02020603050405020304" pitchFamily="18" charset="0"/>
                        </a:rPr>
                        <a:t>□</a:t>
                      </a:r>
                      <a:endParaRPr lang="en-US" sz="16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2855529090"/>
                  </a:ext>
                </a:extLst>
              </a:tr>
              <a:tr h="211085">
                <a:tc>
                  <a:txBody>
                    <a:bodyPr/>
                    <a:lstStyle/>
                    <a:p>
                      <a:pPr>
                        <a:lnSpc>
                          <a:spcPct val="115000"/>
                        </a:lnSpc>
                        <a:spcAft>
                          <a:spcPts val="1000"/>
                        </a:spcAft>
                      </a:pPr>
                      <a:r>
                        <a:rPr lang="en-US" sz="1600" b="0" dirty="0">
                          <a:effectLst/>
                          <a:latin typeface="+mn-lt"/>
                          <a:ea typeface="Calibri" panose="020F0502020204030204" pitchFamily="34" charset="0"/>
                          <a:cs typeface="Calibri" panose="020F0502020204030204" pitchFamily="34" charset="0"/>
                        </a:rPr>
                        <a:t>Types of Lessons</a:t>
                      </a:r>
                      <a:endParaRPr lang="en-US" sz="1600" b="0" dirty="0">
                        <a:effectLst/>
                        <a:latin typeface="+mn-lt"/>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dirty="0">
                          <a:effectLst/>
                          <a:latin typeface="Calibri" panose="020F0502020204030204" pitchFamily="34" charset="0"/>
                          <a:ea typeface="Calibri" panose="020F0502020204030204" pitchFamily="34" charset="0"/>
                          <a:cs typeface="Calibri" panose="020F0502020204030204" pitchFamily="34" charset="0"/>
                        </a:rPr>
                        <a:t>2</a:t>
                      </a:r>
                      <a:endParaRPr lang="en-US" sz="16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b="1" dirty="0">
                          <a:solidFill>
                            <a:srgbClr val="4D5156"/>
                          </a:solidFill>
                          <a:effectLst/>
                          <a:latin typeface="Arial" panose="020B0604020202020204" pitchFamily="34" charset="0"/>
                          <a:ea typeface="Malgun Gothic" panose="020B0503020000020004" pitchFamily="34" charset="-127"/>
                          <a:cs typeface="Times New Roman" panose="02020603050405020304" pitchFamily="18" charset="0"/>
                        </a:rPr>
                        <a:t>□</a:t>
                      </a:r>
                      <a:endParaRPr lang="en-US" sz="16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23594501"/>
                  </a:ext>
                </a:extLst>
              </a:tr>
              <a:tr h="211085">
                <a:tc>
                  <a:txBody>
                    <a:bodyPr/>
                    <a:lstStyle/>
                    <a:p>
                      <a:pPr>
                        <a:lnSpc>
                          <a:spcPct val="115000"/>
                        </a:lnSpc>
                        <a:spcAft>
                          <a:spcPts val="1000"/>
                        </a:spcAft>
                      </a:pPr>
                      <a:r>
                        <a:rPr lang="en-US" sz="1600" b="0" dirty="0">
                          <a:effectLst/>
                          <a:latin typeface="+mn-lt"/>
                          <a:ea typeface="Calibri" panose="020F0502020204030204" pitchFamily="34" charset="0"/>
                          <a:cs typeface="Calibri" panose="020F0502020204030204" pitchFamily="34" charset="0"/>
                        </a:rPr>
                        <a:t>Lesson Structure</a:t>
                      </a:r>
                      <a:endParaRPr lang="en-US" sz="1600" b="0" dirty="0">
                        <a:effectLst/>
                        <a:latin typeface="+mn-lt"/>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dirty="0">
                          <a:effectLst/>
                          <a:latin typeface="Calibri" panose="020F0502020204030204" pitchFamily="34" charset="0"/>
                          <a:ea typeface="Malgun Gothic" panose="020B0503020000020004" pitchFamily="34" charset="-127"/>
                          <a:cs typeface="Times New Roman" panose="02020603050405020304" pitchFamily="18" charset="0"/>
                        </a:rPr>
                        <a:t>3</a:t>
                      </a: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b="1" dirty="0">
                          <a:solidFill>
                            <a:srgbClr val="4D5156"/>
                          </a:solidFill>
                          <a:effectLst/>
                          <a:latin typeface="Arial" panose="020B0604020202020204" pitchFamily="34" charset="0"/>
                          <a:ea typeface="Malgun Gothic" panose="020B0503020000020004" pitchFamily="34" charset="-127"/>
                          <a:cs typeface="Times New Roman" panose="02020603050405020304" pitchFamily="18" charset="0"/>
                        </a:rPr>
                        <a:t>□</a:t>
                      </a:r>
                      <a:endParaRPr lang="en-US" sz="16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782250304"/>
                  </a:ext>
                </a:extLst>
              </a:tr>
              <a:tr h="211085">
                <a:tc>
                  <a:txBody>
                    <a:bodyPr/>
                    <a:lstStyle/>
                    <a:p>
                      <a:pPr>
                        <a:lnSpc>
                          <a:spcPct val="115000"/>
                        </a:lnSpc>
                        <a:spcAft>
                          <a:spcPts val="1000"/>
                        </a:spcAft>
                      </a:pPr>
                      <a:r>
                        <a:rPr lang="en-US" sz="1600" b="0" dirty="0">
                          <a:effectLst/>
                          <a:latin typeface="+mn-lt"/>
                          <a:ea typeface="Malgun Gothic" panose="020B0503020000020004" pitchFamily="34" charset="-127"/>
                          <a:cs typeface="Calibri" panose="020F0502020204030204" pitchFamily="34" charset="0"/>
                        </a:rPr>
                        <a:t>Lesson Template</a:t>
                      </a:r>
                      <a:endParaRPr lang="en-US" sz="1600" b="0" dirty="0">
                        <a:effectLst/>
                        <a:latin typeface="+mn-lt"/>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dirty="0">
                          <a:effectLst/>
                          <a:latin typeface="Calibri" panose="020F0502020204030204" pitchFamily="34" charset="0"/>
                          <a:ea typeface="Calibri" panose="020F0502020204030204" pitchFamily="34" charset="0"/>
                          <a:cs typeface="Calibri" panose="020F0502020204030204" pitchFamily="34" charset="0"/>
                        </a:rPr>
                        <a:t>4</a:t>
                      </a:r>
                      <a:endParaRPr lang="en-US" sz="16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b="1" dirty="0">
                          <a:solidFill>
                            <a:srgbClr val="4D5156"/>
                          </a:solidFill>
                          <a:effectLst/>
                          <a:latin typeface="Arial" panose="020B0604020202020204" pitchFamily="34" charset="0"/>
                          <a:ea typeface="Malgun Gothic" panose="020B0503020000020004" pitchFamily="34" charset="-127"/>
                          <a:cs typeface="Times New Roman" panose="02020603050405020304" pitchFamily="18" charset="0"/>
                        </a:rPr>
                        <a:t>□</a:t>
                      </a:r>
                      <a:endParaRPr lang="en-US" sz="16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2092315241"/>
                  </a:ext>
                </a:extLst>
              </a:tr>
              <a:tr h="211085">
                <a:tc>
                  <a:txBody>
                    <a:bodyPr/>
                    <a:lstStyle/>
                    <a:p>
                      <a:pPr>
                        <a:lnSpc>
                          <a:spcPct val="115000"/>
                        </a:lnSpc>
                        <a:spcAft>
                          <a:spcPts val="1000"/>
                        </a:spcAft>
                      </a:pPr>
                      <a:r>
                        <a:rPr lang="en-US" sz="1600" b="0" dirty="0">
                          <a:effectLst/>
                          <a:latin typeface="+mn-lt"/>
                          <a:ea typeface="Malgun Gothic" panose="020B0503020000020004" pitchFamily="34" charset="-127"/>
                          <a:cs typeface="Calibri" panose="020F0502020204030204" pitchFamily="34" charset="0"/>
                        </a:rPr>
                        <a:t>Example Lesson</a:t>
                      </a:r>
                      <a:endParaRPr lang="en-US" sz="1600" b="0" dirty="0">
                        <a:effectLst/>
                        <a:latin typeface="+mn-lt"/>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dirty="0">
                          <a:effectLst/>
                          <a:latin typeface="Calibri" panose="020F0502020204030204" pitchFamily="34" charset="0"/>
                          <a:ea typeface="Malgun Gothic" panose="020B0503020000020004" pitchFamily="34" charset="-127"/>
                          <a:cs typeface="Times New Roman" panose="02020603050405020304" pitchFamily="18" charset="0"/>
                        </a:rPr>
                        <a:t>10</a:t>
                      </a: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b="1" dirty="0">
                          <a:solidFill>
                            <a:srgbClr val="4D5156"/>
                          </a:solidFill>
                          <a:effectLst/>
                          <a:latin typeface="Arial" panose="020B0604020202020204" pitchFamily="34" charset="0"/>
                          <a:ea typeface="Malgun Gothic" panose="020B0503020000020004" pitchFamily="34" charset="-127"/>
                          <a:cs typeface="Times New Roman" panose="02020603050405020304" pitchFamily="18" charset="0"/>
                        </a:rPr>
                        <a:t>□</a:t>
                      </a:r>
                      <a:endParaRPr lang="en-US" sz="16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151135637"/>
                  </a:ext>
                </a:extLst>
              </a:tr>
              <a:tr h="211085">
                <a:tc>
                  <a:txBody>
                    <a:bodyPr/>
                    <a:lstStyle/>
                    <a:p>
                      <a:pPr>
                        <a:lnSpc>
                          <a:spcPct val="115000"/>
                        </a:lnSpc>
                        <a:spcAft>
                          <a:spcPts val="1000"/>
                        </a:spcAft>
                      </a:pPr>
                      <a:r>
                        <a:rPr lang="en-US" sz="1600" b="0" dirty="0">
                          <a:effectLst/>
                          <a:latin typeface="+mn-lt"/>
                          <a:ea typeface="Malgun Gothic" panose="020B0503020000020004" pitchFamily="34" charset="-127"/>
                          <a:cs typeface="Times New Roman" panose="02020603050405020304" pitchFamily="18" charset="0"/>
                        </a:rPr>
                        <a:t>Initial Steps</a:t>
                      </a: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dirty="0">
                          <a:effectLst/>
                          <a:latin typeface="Calibri" panose="020F0502020204030204" pitchFamily="34" charset="0"/>
                          <a:ea typeface="Malgun Gothic" panose="020B0503020000020004" pitchFamily="34" charset="-127"/>
                          <a:cs typeface="Times New Roman" panose="02020603050405020304" pitchFamily="18" charset="0"/>
                        </a:rPr>
                        <a:t>20</a:t>
                      </a: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marL="0" marR="0" lvl="0" indent="0" algn="r" defTabSz="685800" rtl="0" eaLnBrk="1" fontAlgn="auto" latinLnBrk="0" hangingPunct="1">
                        <a:lnSpc>
                          <a:spcPct val="115000"/>
                        </a:lnSpc>
                        <a:spcBef>
                          <a:spcPts val="0"/>
                        </a:spcBef>
                        <a:spcAft>
                          <a:spcPts val="1000"/>
                        </a:spcAft>
                        <a:buClrTx/>
                        <a:buSzTx/>
                        <a:buFontTx/>
                        <a:buNone/>
                        <a:tabLst/>
                        <a:defRPr/>
                      </a:pPr>
                      <a:r>
                        <a:rPr lang="en-US" sz="1600" b="1" dirty="0">
                          <a:solidFill>
                            <a:srgbClr val="4D5156"/>
                          </a:solidFill>
                          <a:effectLst/>
                          <a:latin typeface="Arial" panose="020B0604020202020204" pitchFamily="34" charset="0"/>
                          <a:ea typeface="Malgun Gothic" panose="020B0503020000020004" pitchFamily="34" charset="-127"/>
                          <a:cs typeface="Times New Roman" panose="02020603050405020304" pitchFamily="18" charset="0"/>
                        </a:rPr>
                        <a:t>□</a:t>
                      </a:r>
                      <a:endParaRPr lang="en-US" sz="16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3978837339"/>
                  </a:ext>
                </a:extLst>
              </a:tr>
              <a:tr h="211085">
                <a:tc>
                  <a:txBody>
                    <a:bodyPr/>
                    <a:lstStyle/>
                    <a:p>
                      <a:pPr>
                        <a:lnSpc>
                          <a:spcPct val="115000"/>
                        </a:lnSpc>
                        <a:spcAft>
                          <a:spcPts val="1000"/>
                        </a:spcAft>
                      </a:pPr>
                      <a:r>
                        <a:rPr lang="en-US" sz="1600" b="0" dirty="0">
                          <a:effectLst/>
                          <a:latin typeface="+mn-lt"/>
                          <a:ea typeface="Malgun Gothic" panose="020B0503020000020004" pitchFamily="34" charset="-127"/>
                          <a:cs typeface="Times New Roman" panose="02020603050405020304" pitchFamily="18" charset="0"/>
                        </a:rPr>
                        <a:t>Planning Assignment Schedule</a:t>
                      </a: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dirty="0">
                          <a:effectLst/>
                          <a:latin typeface="Calibri" panose="020F0502020204030204" pitchFamily="34" charset="0"/>
                          <a:ea typeface="Malgun Gothic" panose="020B0503020000020004" pitchFamily="34" charset="-127"/>
                          <a:cs typeface="Times New Roman" panose="02020603050405020304" pitchFamily="18" charset="0"/>
                        </a:rPr>
                        <a:t>21</a:t>
                      </a: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marL="0" marR="0" lvl="0" indent="0" algn="r" defTabSz="685800" rtl="0" eaLnBrk="1" fontAlgn="auto" latinLnBrk="0" hangingPunct="1">
                        <a:lnSpc>
                          <a:spcPct val="115000"/>
                        </a:lnSpc>
                        <a:spcBef>
                          <a:spcPts val="0"/>
                        </a:spcBef>
                        <a:spcAft>
                          <a:spcPts val="1000"/>
                        </a:spcAft>
                        <a:buClrTx/>
                        <a:buSzTx/>
                        <a:buFontTx/>
                        <a:buNone/>
                        <a:tabLst/>
                        <a:defRPr/>
                      </a:pPr>
                      <a:r>
                        <a:rPr lang="en-US" sz="1600" b="1" dirty="0">
                          <a:solidFill>
                            <a:srgbClr val="4D5156"/>
                          </a:solidFill>
                          <a:effectLst/>
                          <a:latin typeface="Arial" panose="020B0604020202020204" pitchFamily="34" charset="0"/>
                          <a:ea typeface="Malgun Gothic" panose="020B0503020000020004" pitchFamily="34" charset="-127"/>
                          <a:cs typeface="Times New Roman" panose="02020603050405020304" pitchFamily="18" charset="0"/>
                        </a:rPr>
                        <a:t>□</a:t>
                      </a:r>
                      <a:endParaRPr lang="en-US" sz="16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462527652"/>
                  </a:ext>
                </a:extLst>
              </a:tr>
              <a:tr h="211085">
                <a:tc>
                  <a:txBody>
                    <a:bodyPr/>
                    <a:lstStyle/>
                    <a:p>
                      <a:pPr>
                        <a:lnSpc>
                          <a:spcPct val="115000"/>
                        </a:lnSpc>
                        <a:spcAft>
                          <a:spcPts val="1000"/>
                        </a:spcAft>
                      </a:pPr>
                      <a:r>
                        <a:rPr lang="en-US" sz="1600" b="0" dirty="0">
                          <a:effectLst/>
                          <a:latin typeface="+mn-lt"/>
                          <a:ea typeface="Calibri" panose="020F0502020204030204" pitchFamily="34" charset="0"/>
                          <a:cs typeface="Calibri" panose="020F0502020204030204" pitchFamily="34" charset="0"/>
                        </a:rPr>
                        <a:t>Brainstorming</a:t>
                      </a:r>
                      <a:endParaRPr lang="en-US" sz="1600" b="0" dirty="0">
                        <a:effectLst/>
                        <a:latin typeface="+mn-lt"/>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dirty="0">
                          <a:effectLst/>
                          <a:latin typeface="Calibri" panose="020F0502020204030204" pitchFamily="34" charset="0"/>
                          <a:ea typeface="Malgun Gothic" panose="020B0503020000020004" pitchFamily="34" charset="-127"/>
                          <a:cs typeface="Times New Roman" panose="02020603050405020304" pitchFamily="18" charset="0"/>
                        </a:rPr>
                        <a:t>22</a:t>
                      </a: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b="1" dirty="0">
                          <a:solidFill>
                            <a:srgbClr val="4D5156"/>
                          </a:solidFill>
                          <a:effectLst/>
                          <a:latin typeface="Arial" panose="020B0604020202020204" pitchFamily="34" charset="0"/>
                          <a:ea typeface="Malgun Gothic" panose="020B0503020000020004" pitchFamily="34" charset="-127"/>
                          <a:cs typeface="Times New Roman" panose="02020603050405020304" pitchFamily="18" charset="0"/>
                        </a:rPr>
                        <a:t>□</a:t>
                      </a:r>
                      <a:endParaRPr lang="en-US" sz="16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3731734271"/>
                  </a:ext>
                </a:extLst>
              </a:tr>
              <a:tr h="211085">
                <a:tc>
                  <a:txBody>
                    <a:bodyPr/>
                    <a:lstStyle/>
                    <a:p>
                      <a:pPr>
                        <a:lnSpc>
                          <a:spcPct val="115000"/>
                        </a:lnSpc>
                        <a:spcAft>
                          <a:spcPts val="1000"/>
                        </a:spcAft>
                      </a:pPr>
                      <a:r>
                        <a:rPr lang="en-US" sz="1600" b="0" dirty="0">
                          <a:effectLst/>
                          <a:latin typeface="+mn-lt"/>
                          <a:ea typeface="Calibri" panose="020F0502020204030204" pitchFamily="34" charset="0"/>
                          <a:cs typeface="Calibri" panose="020F0502020204030204" pitchFamily="34" charset="0"/>
                        </a:rPr>
                        <a:t>Linking &amp; Scaffolding</a:t>
                      </a:r>
                      <a:endParaRPr lang="en-US" sz="1600" b="0" dirty="0">
                        <a:effectLst/>
                        <a:latin typeface="+mn-lt"/>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dirty="0">
                          <a:effectLst/>
                          <a:latin typeface="Calibri" panose="020F0502020204030204" pitchFamily="34" charset="0"/>
                          <a:ea typeface="Malgun Gothic" panose="020B0503020000020004" pitchFamily="34" charset="-127"/>
                          <a:cs typeface="Times New Roman" panose="02020603050405020304" pitchFamily="18" charset="0"/>
                        </a:rPr>
                        <a:t>23</a:t>
                      </a: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b="1" dirty="0">
                          <a:solidFill>
                            <a:srgbClr val="4D5156"/>
                          </a:solidFill>
                          <a:effectLst/>
                          <a:latin typeface="Arial" panose="020B0604020202020204" pitchFamily="34" charset="0"/>
                          <a:ea typeface="Malgun Gothic" panose="020B0503020000020004" pitchFamily="34" charset="-127"/>
                          <a:cs typeface="Times New Roman" panose="02020603050405020304" pitchFamily="18" charset="0"/>
                        </a:rPr>
                        <a:t>□</a:t>
                      </a:r>
                      <a:endParaRPr lang="en-US" sz="16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2961906641"/>
                  </a:ext>
                </a:extLst>
              </a:tr>
              <a:tr h="211085">
                <a:tc>
                  <a:txBody>
                    <a:bodyPr/>
                    <a:lstStyle/>
                    <a:p>
                      <a:pPr marL="0" marR="0" lvl="0" indent="0" algn="l" defTabSz="685800" rtl="0" eaLnBrk="1" fontAlgn="auto" latinLnBrk="0" hangingPunct="1">
                        <a:lnSpc>
                          <a:spcPct val="115000"/>
                        </a:lnSpc>
                        <a:spcBef>
                          <a:spcPts val="0"/>
                        </a:spcBef>
                        <a:spcAft>
                          <a:spcPts val="1000"/>
                        </a:spcAft>
                        <a:buClrTx/>
                        <a:buSzTx/>
                        <a:buFontTx/>
                        <a:buNone/>
                        <a:tabLst/>
                        <a:defRPr/>
                      </a:pPr>
                      <a:r>
                        <a:rPr lang="en-US" sz="1600" b="0" dirty="0">
                          <a:effectLst/>
                          <a:latin typeface="+mn-lt"/>
                          <a:ea typeface="Malgun Gothic" panose="020B0503020000020004" pitchFamily="34" charset="-127"/>
                          <a:cs typeface="Calibri" panose="020F0502020204030204" pitchFamily="34" charset="0"/>
                        </a:rPr>
                        <a:t>Production Activities &amp; Interactions</a:t>
                      </a:r>
                      <a:endParaRPr lang="en-US" sz="1600" b="0" dirty="0">
                        <a:effectLst/>
                        <a:latin typeface="+mn-lt"/>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dirty="0">
                          <a:effectLst/>
                          <a:latin typeface="Calibri" panose="020F0502020204030204" pitchFamily="34" charset="0"/>
                          <a:ea typeface="Malgun Gothic" panose="020B0503020000020004" pitchFamily="34" charset="-127"/>
                          <a:cs typeface="Times New Roman" panose="02020603050405020304" pitchFamily="18" charset="0"/>
                        </a:rPr>
                        <a:t>24</a:t>
                      </a: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b="1" dirty="0">
                          <a:solidFill>
                            <a:srgbClr val="4D5156"/>
                          </a:solidFill>
                          <a:effectLst/>
                          <a:latin typeface="Arial" panose="020B0604020202020204" pitchFamily="34" charset="0"/>
                          <a:ea typeface="Malgun Gothic" panose="020B0503020000020004" pitchFamily="34" charset="-127"/>
                          <a:cs typeface="Times New Roman" panose="02020603050405020304" pitchFamily="18" charset="0"/>
                        </a:rPr>
                        <a:t>□</a:t>
                      </a:r>
                      <a:endParaRPr lang="en-US" sz="16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3156185933"/>
                  </a:ext>
                </a:extLst>
              </a:tr>
              <a:tr h="211085">
                <a:tc>
                  <a:txBody>
                    <a:bodyPr/>
                    <a:lstStyle/>
                    <a:p>
                      <a:pPr>
                        <a:lnSpc>
                          <a:spcPct val="115000"/>
                        </a:lnSpc>
                        <a:spcAft>
                          <a:spcPts val="1000"/>
                        </a:spcAft>
                      </a:pPr>
                      <a:r>
                        <a:rPr lang="en-US" sz="1600" b="0" dirty="0">
                          <a:effectLst/>
                          <a:latin typeface="+mn-lt"/>
                          <a:ea typeface="Malgun Gothic" panose="020B0503020000020004" pitchFamily="34" charset="-127"/>
                          <a:cs typeface="Times New Roman" panose="02020603050405020304" pitchFamily="18" charset="0"/>
                        </a:rPr>
                        <a:t>Formatting</a:t>
                      </a: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dirty="0">
                          <a:effectLst/>
                          <a:latin typeface="Calibri" panose="020F0502020204030204" pitchFamily="34" charset="0"/>
                          <a:ea typeface="Malgun Gothic" panose="020B0503020000020004" pitchFamily="34" charset="-127"/>
                          <a:cs typeface="Times New Roman" panose="02020603050405020304" pitchFamily="18" charset="0"/>
                        </a:rPr>
                        <a:t>25</a:t>
                      </a: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b="1" dirty="0">
                          <a:solidFill>
                            <a:srgbClr val="4D5156"/>
                          </a:solidFill>
                          <a:effectLst/>
                          <a:latin typeface="Arial" panose="020B0604020202020204" pitchFamily="34" charset="0"/>
                          <a:ea typeface="Malgun Gothic" panose="020B0503020000020004" pitchFamily="34" charset="-127"/>
                          <a:cs typeface="Times New Roman" panose="02020603050405020304" pitchFamily="18" charset="0"/>
                        </a:rPr>
                        <a:t>□</a:t>
                      </a:r>
                      <a:endParaRPr lang="en-US" sz="16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1242052920"/>
                  </a:ext>
                </a:extLst>
              </a:tr>
              <a:tr h="211085">
                <a:tc>
                  <a:txBody>
                    <a:bodyPr/>
                    <a:lstStyle/>
                    <a:p>
                      <a:pPr>
                        <a:lnSpc>
                          <a:spcPct val="115000"/>
                        </a:lnSpc>
                        <a:spcAft>
                          <a:spcPts val="1000"/>
                        </a:spcAft>
                      </a:pPr>
                      <a:r>
                        <a:rPr lang="en-US" sz="1600" b="0" dirty="0">
                          <a:effectLst/>
                          <a:latin typeface="+mn-lt"/>
                          <a:ea typeface="Calibri" panose="020F0502020204030204" pitchFamily="34" charset="0"/>
                          <a:cs typeface="Calibri" panose="020F0502020204030204" pitchFamily="34" charset="0"/>
                        </a:rPr>
                        <a:t>Resources</a:t>
                      </a:r>
                      <a:endParaRPr lang="en-US" sz="1600" b="0" dirty="0">
                        <a:effectLst/>
                        <a:latin typeface="+mn-lt"/>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dirty="0">
                          <a:effectLst/>
                          <a:latin typeface="Calibri" panose="020F0502020204030204" pitchFamily="34" charset="0"/>
                          <a:ea typeface="Malgun Gothic" panose="020B0503020000020004" pitchFamily="34" charset="-127"/>
                          <a:cs typeface="Calibri" panose="020F0502020204030204" pitchFamily="34" charset="0"/>
                        </a:rPr>
                        <a:t>28</a:t>
                      </a:r>
                      <a:endParaRPr lang="en-US" sz="16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b="1" dirty="0">
                          <a:solidFill>
                            <a:srgbClr val="4D5156"/>
                          </a:solidFill>
                          <a:effectLst/>
                          <a:latin typeface="Arial" panose="020B0604020202020204" pitchFamily="34" charset="0"/>
                          <a:ea typeface="Malgun Gothic" panose="020B0503020000020004" pitchFamily="34" charset="-127"/>
                          <a:cs typeface="Times New Roman" panose="02020603050405020304" pitchFamily="18" charset="0"/>
                        </a:rPr>
                        <a:t>□</a:t>
                      </a:r>
                      <a:endParaRPr lang="en-US" sz="16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2511951537"/>
                  </a:ext>
                </a:extLst>
              </a:tr>
              <a:tr h="211085">
                <a:tc>
                  <a:txBody>
                    <a:bodyPr/>
                    <a:lstStyle/>
                    <a:p>
                      <a:pPr marL="0" marR="0" lvl="0" indent="0" algn="l" defTabSz="685800" rtl="0" eaLnBrk="1" fontAlgn="auto" latinLnBrk="0" hangingPunct="1">
                        <a:lnSpc>
                          <a:spcPct val="115000"/>
                        </a:lnSpc>
                        <a:spcBef>
                          <a:spcPts val="0"/>
                        </a:spcBef>
                        <a:spcAft>
                          <a:spcPts val="1000"/>
                        </a:spcAft>
                        <a:buClrTx/>
                        <a:buSzTx/>
                        <a:buFontTx/>
                        <a:buNone/>
                        <a:tabLst/>
                        <a:defRPr/>
                      </a:pPr>
                      <a:r>
                        <a:rPr lang="en-US" sz="1600" b="0" dirty="0">
                          <a:effectLst/>
                          <a:latin typeface="+mn-lt"/>
                          <a:ea typeface="Calibri" panose="020F0502020204030204" pitchFamily="34" charset="0"/>
                          <a:cs typeface="Calibri" panose="020F0502020204030204" pitchFamily="34" charset="0"/>
                        </a:rPr>
                        <a:t>Teaching Differences</a:t>
                      </a:r>
                      <a:endParaRPr lang="en-US" sz="1600" b="0" dirty="0">
                        <a:effectLst/>
                        <a:latin typeface="+mn-lt"/>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dirty="0">
                          <a:effectLst/>
                          <a:latin typeface="Calibri" panose="020F0502020204030204" pitchFamily="34" charset="0"/>
                          <a:ea typeface="Malgun Gothic" panose="020B0503020000020004" pitchFamily="34" charset="-127"/>
                          <a:cs typeface="Calibri" panose="020F0502020204030204" pitchFamily="34" charset="0"/>
                        </a:rPr>
                        <a:t>29</a:t>
                      </a:r>
                      <a:endParaRPr lang="en-US" sz="16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b="1" dirty="0">
                          <a:solidFill>
                            <a:srgbClr val="4D5156"/>
                          </a:solidFill>
                          <a:effectLst/>
                          <a:latin typeface="Arial" panose="020B0604020202020204" pitchFamily="34" charset="0"/>
                          <a:ea typeface="Malgun Gothic" panose="020B0503020000020004" pitchFamily="34" charset="-127"/>
                          <a:cs typeface="Times New Roman" panose="02020603050405020304" pitchFamily="18" charset="0"/>
                        </a:rPr>
                        <a:t>□</a:t>
                      </a:r>
                      <a:endParaRPr lang="en-US" sz="16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87413997"/>
                  </a:ext>
                </a:extLst>
              </a:tr>
              <a:tr h="211085">
                <a:tc>
                  <a:txBody>
                    <a:bodyPr/>
                    <a:lstStyle/>
                    <a:p>
                      <a:pPr>
                        <a:lnSpc>
                          <a:spcPct val="115000"/>
                        </a:lnSpc>
                        <a:spcAft>
                          <a:spcPts val="1000"/>
                        </a:spcAft>
                      </a:pPr>
                      <a:r>
                        <a:rPr lang="en-GB" sz="1600" b="0" dirty="0">
                          <a:effectLst/>
                          <a:latin typeface="+mn-lt"/>
                          <a:ea typeface="Calibri" panose="020F0502020204030204" pitchFamily="34" charset="0"/>
                          <a:cs typeface="Calibri" panose="020F0502020204030204" pitchFamily="34" charset="0"/>
                        </a:rPr>
                        <a:t>Teacher Pages &amp; Adaptability</a:t>
                      </a: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dirty="0">
                          <a:effectLst/>
                          <a:latin typeface="Calibri" panose="020F0502020204030204" pitchFamily="34" charset="0"/>
                          <a:ea typeface="Malgun Gothic" panose="020B0503020000020004" pitchFamily="34" charset="-127"/>
                          <a:cs typeface="Times New Roman" panose="02020603050405020304" pitchFamily="18" charset="0"/>
                        </a:rPr>
                        <a:t>30</a:t>
                      </a: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b="1" dirty="0">
                          <a:solidFill>
                            <a:srgbClr val="4D5156"/>
                          </a:solidFill>
                          <a:effectLst/>
                          <a:latin typeface="Arial" panose="020B0604020202020204" pitchFamily="34" charset="0"/>
                          <a:ea typeface="Malgun Gothic" panose="020B0503020000020004" pitchFamily="34" charset="-127"/>
                          <a:cs typeface="Times New Roman" panose="02020603050405020304" pitchFamily="18" charset="0"/>
                        </a:rPr>
                        <a:t>□</a:t>
                      </a:r>
                      <a:endParaRPr lang="en-US" sz="16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2623215464"/>
                  </a:ext>
                </a:extLst>
              </a:tr>
              <a:tr h="211085">
                <a:tc>
                  <a:txBody>
                    <a:bodyPr/>
                    <a:lstStyle/>
                    <a:p>
                      <a:pPr>
                        <a:lnSpc>
                          <a:spcPct val="115000"/>
                        </a:lnSpc>
                        <a:spcAft>
                          <a:spcPts val="1000"/>
                        </a:spcAft>
                      </a:pPr>
                      <a:r>
                        <a:rPr lang="en-US" sz="1600" b="0" dirty="0">
                          <a:effectLst/>
                          <a:latin typeface="+mn-lt"/>
                          <a:ea typeface="Malgun Gothic" panose="020B0503020000020004" pitchFamily="34" charset="-127"/>
                          <a:cs typeface="Times New Roman" panose="02020603050405020304" pitchFamily="18" charset="0"/>
                        </a:rPr>
                        <a:t>Review Process</a:t>
                      </a: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r">
                        <a:lnSpc>
                          <a:spcPct val="115000"/>
                        </a:lnSpc>
                        <a:spcAft>
                          <a:spcPts val="1000"/>
                        </a:spcAft>
                      </a:pPr>
                      <a:r>
                        <a:rPr lang="en-US" sz="1600" dirty="0">
                          <a:effectLst/>
                          <a:latin typeface="Calibri" panose="020F0502020204030204" pitchFamily="34" charset="0"/>
                          <a:ea typeface="Malgun Gothic" panose="020B0503020000020004" pitchFamily="34" charset="-127"/>
                          <a:cs typeface="Times New Roman" panose="02020603050405020304" pitchFamily="18" charset="0"/>
                        </a:rPr>
                        <a:t>31</a:t>
                      </a: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marL="0" marR="0" lvl="0" indent="0" algn="r" defTabSz="685800" rtl="0" eaLnBrk="1" fontAlgn="auto" latinLnBrk="0" hangingPunct="1">
                        <a:lnSpc>
                          <a:spcPct val="115000"/>
                        </a:lnSpc>
                        <a:spcBef>
                          <a:spcPts val="0"/>
                        </a:spcBef>
                        <a:spcAft>
                          <a:spcPts val="1000"/>
                        </a:spcAft>
                        <a:buClrTx/>
                        <a:buSzTx/>
                        <a:buFontTx/>
                        <a:buNone/>
                        <a:tabLst/>
                        <a:defRPr/>
                      </a:pPr>
                      <a:r>
                        <a:rPr lang="en-US" sz="1600" b="1" dirty="0">
                          <a:solidFill>
                            <a:srgbClr val="4D5156"/>
                          </a:solidFill>
                          <a:effectLst/>
                          <a:latin typeface="Arial" panose="020B0604020202020204" pitchFamily="34" charset="0"/>
                          <a:ea typeface="Malgun Gothic" panose="020B0503020000020004" pitchFamily="34" charset="-127"/>
                          <a:cs typeface="Times New Roman" panose="02020603050405020304" pitchFamily="18" charset="0"/>
                        </a:rPr>
                        <a:t>□</a:t>
                      </a:r>
                      <a:endParaRPr lang="en-US" sz="1600" dirty="0">
                        <a:effectLst/>
                        <a:latin typeface="Calibri" panose="020F0502020204030204" pitchFamily="34" charset="0"/>
                        <a:ea typeface="Malgun Gothic" panose="020B0503020000020004" pitchFamily="34" charset="-127"/>
                        <a:cs typeface="Times New Roman" panose="02020603050405020304" pitchFamily="18" charset="0"/>
                      </a:endParaRPr>
                    </a:p>
                  </a:txBody>
                  <a:tcPr marL="45041" marR="4504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2958763994"/>
                  </a:ext>
                </a:extLst>
              </a:tr>
            </a:tbl>
          </a:graphicData>
        </a:graphic>
      </p:graphicFrame>
    </p:spTree>
    <p:extLst>
      <p:ext uri="{BB962C8B-B14F-4D97-AF65-F5344CB8AC3E}">
        <p14:creationId xmlns:p14="http://schemas.microsoft.com/office/powerpoint/2010/main" val="2041985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69078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Lesson Planning</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34500"/>
            <a:ext cx="482600" cy="190475"/>
          </a:xfrm>
        </p:spPr>
        <p:txBody>
          <a:bodyPr/>
          <a:lstStyle/>
          <a:p>
            <a:pPr marL="0" indent="0" algn="ctr">
              <a:buNone/>
            </a:pPr>
            <a:r>
              <a:rPr lang="en-US" sz="1600" dirty="0"/>
              <a:t>1</a:t>
            </a:r>
          </a:p>
        </p:txBody>
      </p:sp>
      <p:sp>
        <p:nvSpPr>
          <p:cNvPr id="4" name="TextBox 3">
            <a:extLst>
              <a:ext uri="{FF2B5EF4-FFF2-40B4-BE49-F238E27FC236}">
                <a16:creationId xmlns:a16="http://schemas.microsoft.com/office/drawing/2014/main" id="{4E2768CD-9BEA-DF44-605B-9C5A7C189DC6}"/>
              </a:ext>
            </a:extLst>
          </p:cNvPr>
          <p:cNvSpPr txBox="1"/>
          <p:nvPr/>
        </p:nvSpPr>
        <p:spPr>
          <a:xfrm>
            <a:off x="441542" y="1349675"/>
            <a:ext cx="5974915" cy="7810408"/>
          </a:xfrm>
          <a:prstGeom prst="rect">
            <a:avLst/>
          </a:prstGeom>
          <a:noFill/>
        </p:spPr>
        <p:txBody>
          <a:bodyPr wrap="square" lIns="91440" tIns="45720" rIns="91440" bIns="45720" rtlCol="0" anchor="t">
            <a:spAutoFit/>
          </a:bodyPr>
          <a:lstStyle/>
          <a:p>
            <a:pPr algn="ctr">
              <a:lnSpc>
                <a:spcPct val="114000"/>
              </a:lnSpc>
              <a:spcAft>
                <a:spcPts val="600"/>
              </a:spcAft>
            </a:pPr>
            <a:r>
              <a:rPr lang="en-GB" sz="1600" b="1" u="sng" dirty="0"/>
              <a:t>What is Lesson Planning?</a:t>
            </a:r>
          </a:p>
          <a:p>
            <a:pPr>
              <a:lnSpc>
                <a:spcPct val="114000"/>
              </a:lnSpc>
            </a:pPr>
            <a:r>
              <a:rPr lang="en-GB" sz="1200" dirty="0"/>
              <a:t>At DYB, we have the freedom and flexibility of teaching our own lesson plans made those of other Native English Teachers (NETs). Our lessons are based on the students’ reading boo topics covered by Korean Teachers (KTs).</a:t>
            </a:r>
          </a:p>
          <a:p>
            <a:pPr>
              <a:lnSpc>
                <a:spcPct val="114000"/>
              </a:lnSpc>
            </a:pPr>
            <a:endParaRPr lang="en-GB" sz="1200" dirty="0"/>
          </a:p>
          <a:p>
            <a:pPr>
              <a:lnSpc>
                <a:spcPct val="114000"/>
              </a:lnSpc>
            </a:pPr>
            <a:r>
              <a:rPr lang="en-GB" sz="1200" dirty="0"/>
              <a:t>Each week, NETs create a lesson assigned according to the lesson planning schedule. These lessons are then shared on Dropbox for all NETs to use. We aim to offer a selection of lessons for each unit to provide options for each class.</a:t>
            </a:r>
          </a:p>
          <a:p>
            <a:pPr algn="ctr">
              <a:lnSpc>
                <a:spcPct val="114000"/>
              </a:lnSpc>
            </a:pPr>
            <a:endParaRPr lang="en-GB" sz="1600" b="1" u="sng" dirty="0"/>
          </a:p>
          <a:p>
            <a:pPr algn="ctr">
              <a:lnSpc>
                <a:spcPct val="114000"/>
              </a:lnSpc>
              <a:spcAft>
                <a:spcPts val="600"/>
              </a:spcAft>
            </a:pPr>
            <a:r>
              <a:rPr lang="en-GB" sz="1600" b="1" u="sng" dirty="0"/>
              <a:t>Aims</a:t>
            </a:r>
            <a:endParaRPr lang="en-GB" sz="1400" b="1" u="sng" dirty="0"/>
          </a:p>
          <a:p>
            <a:pPr>
              <a:lnSpc>
                <a:spcPct val="114000"/>
              </a:lnSpc>
            </a:pPr>
            <a:r>
              <a:rPr lang="en-GB" sz="1200" dirty="0"/>
              <a:t>NET classes, and therefore our content, should link back to the unit read with the Korean teacher. </a:t>
            </a:r>
          </a:p>
          <a:p>
            <a:pPr lvl="0" algn="just">
              <a:lnSpc>
                <a:spcPct val="115000"/>
              </a:lnSpc>
              <a:spcAft>
                <a:spcPts val="600"/>
              </a:spcAft>
              <a:buSzPts val="1100"/>
            </a:pPr>
            <a:r>
              <a:rPr lang="en-GB" sz="1200" dirty="0"/>
              <a:t>KT classes focus on the receptive skills, listening and reading, along with teaching grammar and vocabulary. As such, </a:t>
            </a:r>
            <a:r>
              <a:rPr lang="en-GB" sz="1200" b="1" dirty="0">
                <a:effectLst/>
                <a:latin typeface="Calibri" panose="020F0502020204030204" pitchFamily="34" charset="0"/>
                <a:ea typeface="Malgun Gothic" panose="020B0503020000020004" pitchFamily="34" charset="-127"/>
                <a:cs typeface="Times New Roman" panose="02020603050405020304" pitchFamily="18" charset="0"/>
              </a:rPr>
              <a:t>grammar does not need to be </a:t>
            </a:r>
            <a:r>
              <a:rPr lang="en-GB" sz="1200" b="1" dirty="0">
                <a:latin typeface="Calibri" panose="020F0502020204030204" pitchFamily="34" charset="0"/>
                <a:ea typeface="Malgun Gothic" panose="020B0503020000020004" pitchFamily="34" charset="-127"/>
                <a:cs typeface="Times New Roman" panose="02020603050405020304" pitchFamily="18" charset="0"/>
              </a:rPr>
              <a:t>the sole focus </a:t>
            </a:r>
            <a:r>
              <a:rPr lang="en-GB" sz="1200" b="1" dirty="0">
                <a:effectLst/>
                <a:latin typeface="Calibri" panose="020F0502020204030204" pitchFamily="34" charset="0"/>
                <a:ea typeface="Malgun Gothic" panose="020B0503020000020004" pitchFamily="34" charset="-127"/>
                <a:cs typeface="Times New Roman" panose="02020603050405020304" pitchFamily="18" charset="0"/>
              </a:rPr>
              <a:t>of our lessons.</a:t>
            </a:r>
            <a:r>
              <a:rPr lang="en-GB" sz="1200" dirty="0">
                <a:effectLst/>
                <a:latin typeface="Calibri" panose="020F0502020204030204" pitchFamily="34" charset="0"/>
                <a:ea typeface="Malgun Gothic" panose="020B0503020000020004" pitchFamily="34" charset="-127"/>
                <a:cs typeface="Times New Roman" panose="02020603050405020304" pitchFamily="18" charset="0"/>
              </a:rPr>
              <a:t> Our aim is to have students speak </a:t>
            </a:r>
            <a:r>
              <a:rPr lang="en-GB" sz="1200" dirty="0">
                <a:latin typeface="Calibri" panose="020F0502020204030204" pitchFamily="34" charset="0"/>
                <a:ea typeface="Malgun Gothic" panose="020B0503020000020004" pitchFamily="34" charset="-127"/>
                <a:cs typeface="Times New Roman" panose="02020603050405020304" pitchFamily="18" charset="0"/>
              </a:rPr>
              <a:t>or write freely using </a:t>
            </a:r>
            <a:r>
              <a:rPr lang="en-GB" sz="1200" u="sng" dirty="0">
                <a:latin typeface="Calibri" panose="020F0502020204030204" pitchFamily="34" charset="0"/>
                <a:ea typeface="Malgun Gothic" panose="020B0503020000020004" pitchFamily="34" charset="-127"/>
                <a:cs typeface="Times New Roman" panose="02020603050405020304" pitchFamily="18" charset="0"/>
              </a:rPr>
              <a:t>target language</a:t>
            </a:r>
            <a:r>
              <a:rPr lang="en-GB" sz="1200" dirty="0">
                <a:latin typeface="Calibri" panose="020F0502020204030204" pitchFamily="34" charset="0"/>
                <a:ea typeface="Malgun Gothic" panose="020B0503020000020004" pitchFamily="34" charset="-127"/>
                <a:cs typeface="Times New Roman" panose="02020603050405020304" pitchFamily="18" charset="0"/>
              </a:rPr>
              <a:t> at the end of the class. </a:t>
            </a:r>
            <a:r>
              <a:rPr lang="en-GB" sz="1200" b="1" dirty="0">
                <a:effectLst/>
                <a:latin typeface="Calibri" panose="020F0502020204030204" pitchFamily="34" charset="0"/>
                <a:ea typeface="Malgun Gothic" panose="020B0503020000020004" pitchFamily="34" charset="-127"/>
                <a:cs typeface="Times New Roman" panose="02020603050405020304" pitchFamily="18" charset="0"/>
              </a:rPr>
              <a:t>This can be supported with a grammar point</a:t>
            </a:r>
            <a:r>
              <a:rPr lang="en-GB" sz="1200" dirty="0">
                <a:effectLst/>
                <a:latin typeface="Calibri" panose="020F0502020204030204" pitchFamily="34" charset="0"/>
                <a:ea typeface="Malgun Gothic" panose="020B0503020000020004" pitchFamily="34" charset="-127"/>
                <a:cs typeface="Times New Roman" panose="02020603050405020304" pitchFamily="18" charset="0"/>
              </a:rPr>
              <a:t>, but it doesn’t have to be the key focus. A good lesson should aim for the following:</a:t>
            </a:r>
          </a:p>
          <a:p>
            <a:pPr marL="628650" lvl="1" indent="-171450" algn="just">
              <a:lnSpc>
                <a:spcPct val="115000"/>
              </a:lnSpc>
              <a:spcAft>
                <a:spcPts val="600"/>
              </a:spcAft>
              <a:buSzPts val="1100"/>
              <a:buFont typeface="Arial" panose="020B0604020202020204" pitchFamily="34" charset="0"/>
              <a:buChar char="•"/>
            </a:pPr>
            <a:r>
              <a:rPr lang="en-GB" sz="1200" dirty="0">
                <a:effectLst/>
                <a:latin typeface="Calibri" panose="020F0502020204030204" pitchFamily="34" charset="0"/>
                <a:ea typeface="Malgun Gothic" panose="020B0503020000020004" pitchFamily="34" charset="-127"/>
                <a:cs typeface="Times New Roman" panose="02020603050405020304" pitchFamily="18" charset="0"/>
              </a:rPr>
              <a:t>Enjoyable content that has significant educational value.</a:t>
            </a:r>
          </a:p>
          <a:p>
            <a:pPr marL="628650" lvl="1" indent="-171450" algn="just">
              <a:lnSpc>
                <a:spcPct val="115000"/>
              </a:lnSpc>
              <a:spcAft>
                <a:spcPts val="600"/>
              </a:spcAft>
              <a:buSzPts val="1100"/>
              <a:buFont typeface="Arial" panose="020B0604020202020204" pitchFamily="34" charset="0"/>
              <a:buChar char="•"/>
            </a:pPr>
            <a:r>
              <a:rPr lang="en-GB" sz="1200" dirty="0">
                <a:effectLst/>
                <a:latin typeface="Calibri" panose="020F0502020204030204" pitchFamily="34" charset="0"/>
                <a:ea typeface="Malgun Gothic" panose="020B0503020000020004" pitchFamily="34" charset="-127"/>
                <a:cs typeface="Times New Roman" panose="02020603050405020304" pitchFamily="18" charset="0"/>
              </a:rPr>
              <a:t>Challenge students </a:t>
            </a:r>
            <a:r>
              <a:rPr lang="en-GB" sz="1200" dirty="0">
                <a:latin typeface="Calibri" panose="020F0502020204030204" pitchFamily="34" charset="0"/>
                <a:ea typeface="Malgun Gothic" panose="020B0503020000020004" pitchFamily="34" charset="-127"/>
                <a:cs typeface="Times New Roman" panose="02020603050405020304" pitchFamily="18" charset="0"/>
              </a:rPr>
              <a:t>to use the reading book unit topic and lesson target skill in accordance with the DYB Circular System.</a:t>
            </a:r>
          </a:p>
          <a:p>
            <a:pPr marL="1085850" lvl="2" indent="-171450" algn="just">
              <a:lnSpc>
                <a:spcPct val="115000"/>
              </a:lnSpc>
              <a:spcAft>
                <a:spcPts val="600"/>
              </a:spcAft>
              <a:buSzPts val="1100"/>
              <a:buFont typeface="Arial" panose="020B0604020202020204" pitchFamily="34" charset="0"/>
              <a:buChar char="•"/>
            </a:pPr>
            <a:r>
              <a:rPr lang="en-GB" sz="1200" b="1" dirty="0">
                <a:latin typeface="Calibri" panose="020F0502020204030204" pitchFamily="34" charset="0"/>
                <a:ea typeface="Malgun Gothic" panose="020B0503020000020004" pitchFamily="34" charset="-127"/>
                <a:cs typeface="Times New Roman" panose="02020603050405020304" pitchFamily="18" charset="0"/>
              </a:rPr>
              <a:t>Refer to page 3 of the DYB Training Book</a:t>
            </a:r>
            <a:endParaRPr lang="en-GB" sz="1200" b="1" dirty="0">
              <a:effectLst/>
              <a:latin typeface="Calibri" panose="020F0502020204030204" pitchFamily="34" charset="0"/>
              <a:ea typeface="Malgun Gothic" panose="020B0503020000020004" pitchFamily="34" charset="-127"/>
              <a:cs typeface="Times New Roman" panose="02020603050405020304" pitchFamily="18" charset="0"/>
            </a:endParaRPr>
          </a:p>
          <a:p>
            <a:pPr marL="628650" lvl="1" indent="-171450" algn="just">
              <a:lnSpc>
                <a:spcPct val="115000"/>
              </a:lnSpc>
              <a:spcAft>
                <a:spcPts val="600"/>
              </a:spcAft>
              <a:buSzPts val="1100"/>
              <a:buFont typeface="Arial" panose="020B0604020202020204" pitchFamily="34" charset="0"/>
              <a:buChar char="•"/>
            </a:pPr>
            <a:r>
              <a:rPr lang="en-GB" sz="1200" b="1" dirty="0">
                <a:effectLst/>
                <a:latin typeface="Calibri" panose="020F0502020204030204" pitchFamily="34" charset="0"/>
                <a:ea typeface="Malgun Gothic" panose="020B0503020000020004" pitchFamily="34" charset="-127"/>
                <a:cs typeface="Times New Roman" panose="02020603050405020304" pitchFamily="18" charset="0"/>
              </a:rPr>
              <a:t>Active participation </a:t>
            </a:r>
            <a:r>
              <a:rPr lang="en-GB" sz="1200" dirty="0">
                <a:effectLst/>
                <a:latin typeface="Calibri" panose="020F0502020204030204" pitchFamily="34" charset="0"/>
                <a:ea typeface="Malgun Gothic" panose="020B0503020000020004" pitchFamily="34" charset="-127"/>
                <a:cs typeface="Times New Roman" panose="02020603050405020304" pitchFamily="18" charset="0"/>
              </a:rPr>
              <a:t>and </a:t>
            </a:r>
            <a:r>
              <a:rPr lang="en-GB" sz="1200" b="1" dirty="0">
                <a:effectLst/>
                <a:latin typeface="Calibri" panose="020F0502020204030204" pitchFamily="34" charset="0"/>
                <a:ea typeface="Malgun Gothic" panose="020B0503020000020004" pitchFamily="34" charset="-127"/>
                <a:cs typeface="Times New Roman" panose="02020603050405020304" pitchFamily="18" charset="0"/>
              </a:rPr>
              <a:t>interaction</a:t>
            </a:r>
            <a:r>
              <a:rPr lang="en-GB" sz="1200" dirty="0">
                <a:effectLst/>
                <a:latin typeface="Calibri" panose="020F0502020204030204" pitchFamily="34" charset="0"/>
                <a:ea typeface="Malgun Gothic" panose="020B0503020000020004" pitchFamily="34" charset="-127"/>
                <a:cs typeface="Times New Roman" panose="02020603050405020304" pitchFamily="18" charset="0"/>
              </a:rPr>
              <a:t> between students.</a:t>
            </a:r>
          </a:p>
          <a:p>
            <a:pPr marL="628650" lvl="1" indent="-171450" algn="just">
              <a:lnSpc>
                <a:spcPct val="115000"/>
              </a:lnSpc>
              <a:spcAft>
                <a:spcPts val="600"/>
              </a:spcAft>
              <a:buSzPts val="1100"/>
              <a:buFont typeface="Arial" panose="020B0604020202020204" pitchFamily="34" charset="0"/>
              <a:buChar char="•"/>
            </a:pPr>
            <a:r>
              <a:rPr lang="en-GB" sz="1200" b="1" dirty="0"/>
              <a:t>Frequent</a:t>
            </a:r>
            <a:r>
              <a:rPr lang="en-GB" sz="1200" dirty="0"/>
              <a:t> and </a:t>
            </a:r>
            <a:r>
              <a:rPr lang="en-GB" sz="1200" b="1" dirty="0"/>
              <a:t>equal</a:t>
            </a:r>
            <a:r>
              <a:rPr lang="en-GB" sz="1200" dirty="0"/>
              <a:t> opportunities to use English.</a:t>
            </a:r>
          </a:p>
          <a:p>
            <a:pPr algn="ctr">
              <a:lnSpc>
                <a:spcPct val="114000"/>
              </a:lnSpc>
              <a:spcAft>
                <a:spcPts val="600"/>
              </a:spcAft>
            </a:pPr>
            <a:r>
              <a:rPr lang="en-GB" sz="1600" b="1" u="sng" dirty="0"/>
              <a:t>Benefits</a:t>
            </a:r>
            <a:endParaRPr lang="en-GB" sz="1400" b="1" u="sng" dirty="0"/>
          </a:p>
          <a:p>
            <a:pPr>
              <a:lnSpc>
                <a:spcPct val="114000"/>
              </a:lnSpc>
            </a:pPr>
            <a:r>
              <a:rPr lang="en-US" sz="1200" dirty="0"/>
              <a:t>Weekly lesson creation ensures fresh, relevant content along with continuous improvements in quality</a:t>
            </a:r>
            <a:r>
              <a:rPr lang="en-GB" sz="1200" dirty="0"/>
              <a:t>. By creating our own lessons, we can tailor the content and difficulty to best suit our students’ needs and have the flexibility to adjust and adapt lessons for our own classes.</a:t>
            </a:r>
          </a:p>
          <a:p>
            <a:pPr>
              <a:lnSpc>
                <a:spcPct val="114000"/>
              </a:lnSpc>
            </a:pPr>
            <a:endParaRPr lang="en-GB" sz="1200" dirty="0"/>
          </a:p>
          <a:p>
            <a:pPr>
              <a:lnSpc>
                <a:spcPct val="114000"/>
              </a:lnSpc>
            </a:pPr>
            <a:r>
              <a:rPr lang="en-GB" sz="1200" dirty="0"/>
              <a:t>The lesson creation process helps us to improve as teachers as we can reflect on our classes consider what our students need and how they responded to content. Always reflect on your lesson and consider what went well and how it could be improved. Exposure to other teachers’ lessons can help improve our own lesson creation and classroom outcomes. </a:t>
            </a:r>
          </a:p>
        </p:txBody>
      </p:sp>
    </p:spTree>
    <p:extLst>
      <p:ext uri="{BB962C8B-B14F-4D97-AF65-F5344CB8AC3E}">
        <p14:creationId xmlns:p14="http://schemas.microsoft.com/office/powerpoint/2010/main" val="136566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Lesson Types</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190475"/>
          </a:xfrm>
        </p:spPr>
        <p:txBody>
          <a:bodyPr/>
          <a:lstStyle/>
          <a:p>
            <a:pPr marL="0" indent="0" algn="ctr">
              <a:buNone/>
            </a:pPr>
            <a:r>
              <a:rPr lang="en-US" sz="1600" dirty="0"/>
              <a:t>2</a:t>
            </a:r>
          </a:p>
        </p:txBody>
      </p:sp>
      <p:sp>
        <p:nvSpPr>
          <p:cNvPr id="8" name="TextBox 7">
            <a:extLst>
              <a:ext uri="{FF2B5EF4-FFF2-40B4-BE49-F238E27FC236}">
                <a16:creationId xmlns:a16="http://schemas.microsoft.com/office/drawing/2014/main" id="{DF1AD76A-F1C2-888F-DD1A-82EE40FBDD07}"/>
              </a:ext>
            </a:extLst>
          </p:cNvPr>
          <p:cNvSpPr txBox="1"/>
          <p:nvPr/>
        </p:nvSpPr>
        <p:spPr>
          <a:xfrm>
            <a:off x="485775" y="1202760"/>
            <a:ext cx="5886450" cy="7940507"/>
          </a:xfrm>
          <a:prstGeom prst="rect">
            <a:avLst/>
          </a:prstGeom>
          <a:noFill/>
        </p:spPr>
        <p:txBody>
          <a:bodyPr wrap="square" rtlCol="0">
            <a:spAutoFit/>
          </a:bodyPr>
          <a:lstStyle/>
          <a:p>
            <a:pPr algn="ctr">
              <a:lnSpc>
                <a:spcPct val="115000"/>
              </a:lnSpc>
              <a:spcAft>
                <a:spcPts val="600"/>
              </a:spcAft>
              <a:buSzPts val="1100"/>
            </a:pPr>
            <a:r>
              <a:rPr lang="en-US" sz="1600" b="1" u="sng" kern="100" spc="75" dirty="0">
                <a:solidFill>
                  <a:srgbClr val="000000"/>
                </a:solidFill>
                <a:latin typeface="Calibri" panose="020F0502020204030204" pitchFamily="34" charset="0"/>
                <a:ea typeface="Malgun Gothic" panose="020B0503020000020004" pitchFamily="34" charset="-127"/>
                <a:cs typeface="Times New Roman" panose="02020603050405020304" pitchFamily="18" charset="0"/>
              </a:rPr>
              <a:t>Types of NET Lessons</a:t>
            </a:r>
          </a:p>
          <a:p>
            <a:pPr lvl="0" algn="just">
              <a:lnSpc>
                <a:spcPct val="115000"/>
              </a:lnSpc>
              <a:spcAft>
                <a:spcPts val="600"/>
              </a:spcAft>
              <a:buSzPts val="1100"/>
            </a:pPr>
            <a:r>
              <a:rPr lang="en-GB" sz="1200" dirty="0">
                <a:latin typeface="Calibri" panose="020F0502020204030204" pitchFamily="34" charset="0"/>
                <a:ea typeface="Malgun Gothic" panose="020B0503020000020004" pitchFamily="34" charset="-127"/>
                <a:cs typeface="Times New Roman" panose="02020603050405020304" pitchFamily="18" charset="0"/>
              </a:rPr>
              <a:t>L</a:t>
            </a:r>
            <a:r>
              <a:rPr lang="en-GB" sz="1200" dirty="0">
                <a:effectLst/>
                <a:latin typeface="Calibri" panose="020F0502020204030204" pitchFamily="34" charset="0"/>
                <a:ea typeface="Malgun Gothic" panose="020B0503020000020004" pitchFamily="34" charset="-127"/>
                <a:cs typeface="Times New Roman" panose="02020603050405020304" pitchFamily="18" charset="0"/>
              </a:rPr>
              <a:t>essons fall into the following categories: </a:t>
            </a:r>
          </a:p>
          <a:p>
            <a:pPr lvl="0" algn="just">
              <a:lnSpc>
                <a:spcPct val="115000"/>
              </a:lnSpc>
              <a:spcAft>
                <a:spcPts val="600"/>
              </a:spcAft>
              <a:buSzPts val="1100"/>
            </a:pPr>
            <a:r>
              <a:rPr lang="en-GB" sz="1200" b="1" dirty="0">
                <a:effectLst/>
                <a:latin typeface="Calibri" panose="020F0502020204030204" pitchFamily="34" charset="0"/>
                <a:ea typeface="Malgun Gothic" panose="020B0503020000020004" pitchFamily="34" charset="-127"/>
                <a:cs typeface="Times New Roman" panose="02020603050405020304" pitchFamily="18" charset="0"/>
              </a:rPr>
              <a:t>Speaking</a:t>
            </a:r>
            <a:r>
              <a:rPr lang="en-GB" sz="1200" dirty="0">
                <a:effectLst/>
                <a:latin typeface="Calibri" panose="020F0502020204030204" pitchFamily="34" charset="0"/>
                <a:ea typeface="Malgun Gothic" panose="020B0503020000020004" pitchFamily="34" charset="-127"/>
                <a:cs typeface="Times New Roman" panose="02020603050405020304" pitchFamily="18" charset="0"/>
              </a:rPr>
              <a:t> – A speaking lesson should aim to have students speaking freely about the unit topic and using the target language. A reduction in the amount students are expected to write should be noticeable in this type of lesson. </a:t>
            </a:r>
          </a:p>
          <a:p>
            <a:pPr lvl="0" algn="just">
              <a:lnSpc>
                <a:spcPct val="115000"/>
              </a:lnSpc>
              <a:spcAft>
                <a:spcPts val="600"/>
              </a:spcAft>
              <a:buSzPts val="1100"/>
            </a:pPr>
            <a:r>
              <a:rPr lang="en-GB" sz="1200" b="1" dirty="0">
                <a:effectLst/>
                <a:latin typeface="Calibri" panose="020F0502020204030204" pitchFamily="34" charset="0"/>
                <a:ea typeface="Malgun Gothic" panose="020B0503020000020004" pitchFamily="34" charset="-127"/>
                <a:cs typeface="Times New Roman" panose="02020603050405020304" pitchFamily="18" charset="0"/>
              </a:rPr>
              <a:t>Writing</a:t>
            </a:r>
            <a:r>
              <a:rPr lang="en-GB" sz="1200" dirty="0">
                <a:effectLst/>
                <a:latin typeface="Calibri" panose="020F0502020204030204" pitchFamily="34" charset="0"/>
                <a:ea typeface="Malgun Gothic" panose="020B0503020000020004" pitchFamily="34" charset="-127"/>
                <a:cs typeface="Times New Roman" panose="02020603050405020304" pitchFamily="18" charset="0"/>
              </a:rPr>
              <a:t> –  </a:t>
            </a:r>
          </a:p>
          <a:p>
            <a:pPr marL="628650" lvl="1" indent="-171450" algn="just">
              <a:lnSpc>
                <a:spcPct val="115000"/>
              </a:lnSpc>
              <a:spcAft>
                <a:spcPts val="600"/>
              </a:spcAft>
              <a:buSzPts val="1100"/>
              <a:buFont typeface="Arial" panose="020B0604020202020204" pitchFamily="34" charset="0"/>
              <a:buChar char="•"/>
            </a:pPr>
            <a:r>
              <a:rPr lang="en-GB" sz="1200" b="1" dirty="0">
                <a:effectLst/>
                <a:latin typeface="Calibri" panose="020F0502020204030204" pitchFamily="34" charset="0"/>
                <a:ea typeface="Malgun Gothic" panose="020B0503020000020004" pitchFamily="34" charset="-127"/>
                <a:cs typeface="Times New Roman" panose="02020603050405020304" pitchFamily="18" charset="0"/>
              </a:rPr>
              <a:t>Writing Lesson</a:t>
            </a:r>
            <a:r>
              <a:rPr lang="en-GB" sz="1200" dirty="0">
                <a:effectLst/>
                <a:latin typeface="Calibri" panose="020F0502020204030204" pitchFamily="34" charset="0"/>
                <a:ea typeface="Malgun Gothic" panose="020B0503020000020004" pitchFamily="34" charset="-127"/>
                <a:cs typeface="Times New Roman" panose="02020603050405020304" pitchFamily="18" charset="0"/>
              </a:rPr>
              <a:t>– A writing lesson should aim to have students writing in some format based on the topic they studied and usin</a:t>
            </a:r>
            <a:r>
              <a:rPr lang="en-GB" sz="1200" dirty="0">
                <a:latin typeface="Calibri" panose="020F0502020204030204" pitchFamily="34" charset="0"/>
                <a:ea typeface="Malgun Gothic" panose="020B0503020000020004" pitchFamily="34" charset="-127"/>
                <a:cs typeface="Times New Roman" panose="02020603050405020304" pitchFamily="18" charset="0"/>
              </a:rPr>
              <a:t>g the target language</a:t>
            </a:r>
            <a:r>
              <a:rPr lang="en-GB" sz="1200" dirty="0">
                <a:effectLst/>
                <a:latin typeface="Calibri" panose="020F0502020204030204" pitchFamily="34" charset="0"/>
                <a:ea typeface="Malgun Gothic" panose="020B0503020000020004" pitchFamily="34" charset="-127"/>
                <a:cs typeface="Times New Roman" panose="02020603050405020304" pitchFamily="18" charset="0"/>
              </a:rPr>
              <a:t>. Writing can take place on worksheets, the whiteboard, on mini whiteboards, or poster paper. </a:t>
            </a:r>
          </a:p>
          <a:p>
            <a:pPr marL="628650" lvl="1" indent="-171450" algn="just">
              <a:lnSpc>
                <a:spcPct val="115000"/>
              </a:lnSpc>
              <a:spcAft>
                <a:spcPts val="600"/>
              </a:spcAft>
              <a:buSzPts val="1100"/>
              <a:buFont typeface="Arial" panose="020B0604020202020204" pitchFamily="34" charset="0"/>
              <a:buChar char="•"/>
            </a:pPr>
            <a:r>
              <a:rPr lang="en-GB" sz="1200" b="1" dirty="0">
                <a:effectLst/>
                <a:latin typeface="Calibri" panose="020F0502020204030204" pitchFamily="34" charset="0"/>
                <a:ea typeface="Malgun Gothic" panose="020B0503020000020004" pitchFamily="34" charset="-127"/>
                <a:cs typeface="Times New Roman" panose="02020603050405020304" pitchFamily="18" charset="0"/>
              </a:rPr>
              <a:t>Essay Writing </a:t>
            </a:r>
            <a:r>
              <a:rPr lang="en-GB" sz="1200" dirty="0">
                <a:effectLst/>
                <a:latin typeface="Calibri" panose="020F0502020204030204" pitchFamily="34" charset="0"/>
                <a:ea typeface="Malgun Gothic" panose="020B0503020000020004" pitchFamily="34" charset="-127"/>
                <a:cs typeface="Times New Roman" panose="02020603050405020304" pitchFamily="18" charset="0"/>
              </a:rPr>
              <a:t>– Every two weeks, students have an essay lesson to assist</a:t>
            </a:r>
            <a:r>
              <a:rPr lang="en-GB" sz="1200" dirty="0">
                <a:latin typeface="Calibri" panose="020F0502020204030204" pitchFamily="34" charset="0"/>
                <a:ea typeface="Malgun Gothic" panose="020B0503020000020004" pitchFamily="34" charset="-127"/>
                <a:cs typeface="Times New Roman" panose="02020603050405020304" pitchFamily="18" charset="0"/>
              </a:rPr>
              <a:t> with essay writing skills and idea formation for their online essays.</a:t>
            </a:r>
            <a:endParaRPr lang="en-GB" sz="1200" dirty="0">
              <a:effectLst/>
              <a:latin typeface="Calibri" panose="020F0502020204030204" pitchFamily="34" charset="0"/>
              <a:ea typeface="Malgun Gothic" panose="020B0503020000020004" pitchFamily="34" charset="-127"/>
              <a:cs typeface="Times New Roman" panose="02020603050405020304" pitchFamily="18" charset="0"/>
            </a:endParaRPr>
          </a:p>
          <a:p>
            <a:pPr marL="1085850" lvl="2" indent="-171450" algn="just">
              <a:lnSpc>
                <a:spcPct val="115000"/>
              </a:lnSpc>
              <a:spcAft>
                <a:spcPts val="600"/>
              </a:spcAft>
              <a:buSzPts val="1100"/>
              <a:buFont typeface="Arial" panose="020B0604020202020204" pitchFamily="34" charset="0"/>
              <a:buChar char="•"/>
            </a:pPr>
            <a:r>
              <a:rPr lang="en-GB" sz="1200" dirty="0">
                <a:effectLst/>
                <a:latin typeface="Calibri" panose="020F0502020204030204" pitchFamily="34" charset="0"/>
                <a:ea typeface="Malgun Gothic" panose="020B0503020000020004" pitchFamily="34" charset="-127"/>
                <a:cs typeface="Times New Roman" panose="02020603050405020304" pitchFamily="18" charset="0"/>
              </a:rPr>
              <a:t>For elementary, </a:t>
            </a:r>
            <a:r>
              <a:rPr lang="en-GB" sz="1200" dirty="0">
                <a:latin typeface="Calibri" panose="020F0502020204030204" pitchFamily="34" charset="0"/>
                <a:ea typeface="Malgun Gothic" panose="020B0503020000020004" pitchFamily="34" charset="-127"/>
                <a:cs typeface="Times New Roman" panose="02020603050405020304" pitchFamily="18" charset="0"/>
              </a:rPr>
              <a:t>we use our NET essay workbooks. For middle school, we create essay lessons.</a:t>
            </a:r>
            <a:endParaRPr lang="en-GB" sz="1200" dirty="0">
              <a:effectLst/>
              <a:latin typeface="Calibri" panose="020F0502020204030204" pitchFamily="34" charset="0"/>
              <a:ea typeface="Malgun Gothic" panose="020B0503020000020004" pitchFamily="34" charset="-127"/>
              <a:cs typeface="Times New Roman" panose="02020603050405020304" pitchFamily="18" charset="0"/>
            </a:endParaRPr>
          </a:p>
          <a:p>
            <a:pPr lvl="0" algn="just">
              <a:lnSpc>
                <a:spcPct val="115000"/>
              </a:lnSpc>
              <a:spcAft>
                <a:spcPts val="600"/>
              </a:spcAft>
              <a:buSzPts val="1100"/>
            </a:pPr>
            <a:r>
              <a:rPr lang="en-GB" sz="1200" b="1" dirty="0">
                <a:effectLst/>
                <a:latin typeface="Calibri" panose="020F0502020204030204" pitchFamily="34" charset="0"/>
                <a:ea typeface="Malgun Gothic" panose="020B0503020000020004" pitchFamily="34" charset="-127"/>
                <a:cs typeface="Times New Roman" panose="02020603050405020304" pitchFamily="18" charset="0"/>
              </a:rPr>
              <a:t>Skill &amp; Event Lessons </a:t>
            </a:r>
            <a:r>
              <a:rPr lang="en-GB" sz="1200" dirty="0">
                <a:effectLst/>
                <a:latin typeface="Calibri" panose="020F0502020204030204" pitchFamily="34" charset="0"/>
                <a:ea typeface="Malgun Gothic" panose="020B0503020000020004" pitchFamily="34" charset="-127"/>
                <a:cs typeface="Times New Roman" panose="02020603050405020304" pitchFamily="18" charset="0"/>
              </a:rPr>
              <a:t>– Skill lessons are not based on a reading book. These are usually taught in the first week of the semester to give the Korean teacher the opportunity to read the first </a:t>
            </a:r>
            <a:r>
              <a:rPr lang="en-GB" sz="1200" dirty="0">
                <a:latin typeface="Calibri" panose="020F0502020204030204" pitchFamily="34" charset="0"/>
                <a:ea typeface="Malgun Gothic" panose="020B0503020000020004" pitchFamily="34" charset="-127"/>
                <a:cs typeface="Times New Roman" panose="02020603050405020304" pitchFamily="18" charset="0"/>
              </a:rPr>
              <a:t>unit of the book with</a:t>
            </a:r>
            <a:r>
              <a:rPr lang="en-GB" sz="1200" dirty="0">
                <a:effectLst/>
                <a:latin typeface="Calibri" panose="020F0502020204030204" pitchFamily="34" charset="0"/>
                <a:ea typeface="Malgun Gothic" panose="020B0503020000020004" pitchFamily="34" charset="-127"/>
                <a:cs typeface="Times New Roman" panose="02020603050405020304" pitchFamily="18" charset="0"/>
              </a:rPr>
              <a:t> the students before we teach a lesson based on it. Event  lessons are based around upcoming holidays</a:t>
            </a:r>
            <a:r>
              <a:rPr lang="en-GB" sz="1200" dirty="0">
                <a:latin typeface="Calibri" panose="020F0502020204030204" pitchFamily="34" charset="0"/>
                <a:ea typeface="Malgun Gothic" panose="020B0503020000020004" pitchFamily="34" charset="-127"/>
                <a:cs typeface="Times New Roman" panose="02020603050405020304" pitchFamily="18" charset="0"/>
              </a:rPr>
              <a:t> or events.</a:t>
            </a:r>
          </a:p>
          <a:p>
            <a:pPr lvl="0" algn="just">
              <a:lnSpc>
                <a:spcPct val="115000"/>
              </a:lnSpc>
              <a:spcAft>
                <a:spcPts val="600"/>
              </a:spcAft>
              <a:buSzPts val="1100"/>
            </a:pPr>
            <a:endParaRPr lang="en-GB" sz="1200" dirty="0">
              <a:effectLst/>
              <a:latin typeface="Calibri" panose="020F0502020204030204" pitchFamily="34" charset="0"/>
              <a:ea typeface="Malgun Gothic" panose="020B0503020000020004" pitchFamily="34" charset="-127"/>
              <a:cs typeface="Times New Roman" panose="02020603050405020304" pitchFamily="18" charset="0"/>
            </a:endParaRPr>
          </a:p>
          <a:p>
            <a:pPr lvl="0" algn="ctr">
              <a:lnSpc>
                <a:spcPct val="115000"/>
              </a:lnSpc>
              <a:spcAft>
                <a:spcPts val="600"/>
              </a:spcAft>
              <a:buSzPts val="1100"/>
            </a:pPr>
            <a:r>
              <a:rPr lang="en-GB" sz="1600" b="1" u="sng" kern="100" spc="75" dirty="0">
                <a:solidFill>
                  <a:srgbClr val="000000"/>
                </a:solidFill>
                <a:latin typeface="Calibri" panose="020F0502020204030204" pitchFamily="34" charset="0"/>
                <a:ea typeface="Malgun Gothic" panose="020B0503020000020004" pitchFamily="34" charset="-127"/>
                <a:cs typeface="Times New Roman" panose="02020603050405020304" pitchFamily="18" charset="0"/>
              </a:rPr>
              <a:t>Lesson Structure</a:t>
            </a:r>
          </a:p>
          <a:p>
            <a:pPr lvl="0">
              <a:lnSpc>
                <a:spcPct val="115000"/>
              </a:lnSpc>
              <a:spcAft>
                <a:spcPts val="600"/>
              </a:spcAft>
              <a:buSzPts val="1100"/>
            </a:pPr>
            <a:r>
              <a:rPr lang="en-GB" sz="1200" dirty="0">
                <a:latin typeface="Calibri" panose="020F0502020204030204" pitchFamily="34" charset="0"/>
                <a:ea typeface="Malgun Gothic" panose="020B0503020000020004" pitchFamily="34" charset="-127"/>
                <a:cs typeface="Times New Roman" panose="02020603050405020304" pitchFamily="18" charset="0"/>
              </a:rPr>
              <a:t>On the next page, there is the detailed overview of the structure of a DYB lesson. This should be followed making a lesson. </a:t>
            </a:r>
            <a:r>
              <a:rPr lang="en-GB" sz="1200" b="1" dirty="0">
                <a:latin typeface="Calibri" panose="020F0502020204030204" pitchFamily="34" charset="0"/>
                <a:ea typeface="Malgun Gothic" panose="020B0503020000020004" pitchFamily="34" charset="-127"/>
                <a:cs typeface="Times New Roman" panose="02020603050405020304" pitchFamily="18" charset="0"/>
              </a:rPr>
              <a:t>Consider the purpose of each section, how it links to the sections before and after it, and how long each section should take as a percentage of the total class time </a:t>
            </a:r>
            <a:r>
              <a:rPr lang="en-GB" sz="1200" dirty="0">
                <a:latin typeface="Calibri" panose="020F0502020204030204" pitchFamily="34" charset="0"/>
                <a:ea typeface="Malgun Gothic" panose="020B0503020000020004" pitchFamily="34" charset="-127"/>
                <a:cs typeface="Times New Roman" panose="02020603050405020304" pitchFamily="18" charset="0"/>
              </a:rPr>
              <a:t>(50 minutes).</a:t>
            </a:r>
          </a:p>
          <a:p>
            <a:pPr lvl="0">
              <a:lnSpc>
                <a:spcPct val="115000"/>
              </a:lnSpc>
              <a:spcAft>
                <a:spcPts val="600"/>
              </a:spcAft>
              <a:buSzPts val="1100"/>
            </a:pPr>
            <a:r>
              <a:rPr lang="en-GB" sz="1200" dirty="0">
                <a:latin typeface="Calibri" panose="020F0502020204030204" pitchFamily="34" charset="0"/>
                <a:ea typeface="Malgun Gothic" panose="020B0503020000020004" pitchFamily="34" charset="-127"/>
                <a:cs typeface="Times New Roman" panose="02020603050405020304" pitchFamily="18" charset="0"/>
              </a:rPr>
              <a:t>As with everything, there is flexibility, and it is best to be overprepared rather than underprepared. Class size, ability, and engagement can vary between days of the week, co-teachers, and campuses. As such, content will likely need to be adjusted by each individual teacher to best suit their classes. Please keep this in mind when creating lessons, as other teachers at DYB are relying on your lessons and being able to easily adapt them.</a:t>
            </a:r>
          </a:p>
          <a:p>
            <a:pPr lvl="0">
              <a:lnSpc>
                <a:spcPct val="115000"/>
              </a:lnSpc>
              <a:spcAft>
                <a:spcPts val="600"/>
              </a:spcAft>
              <a:buSzPts val="1100"/>
            </a:pPr>
            <a:r>
              <a:rPr lang="en-GB" sz="1200" dirty="0">
                <a:latin typeface="Calibri" panose="020F0502020204030204" pitchFamily="34" charset="0"/>
                <a:ea typeface="Malgun Gothic" panose="020B0503020000020004" pitchFamily="34" charset="-127"/>
                <a:cs typeface="Times New Roman" panose="02020603050405020304" pitchFamily="18" charset="0"/>
              </a:rPr>
              <a:t>For example, some classes may only need two practices to show full comprehension of the target language. However, other classes may require a third practice to better understand and to be ready for the production activity. As teachers, we have the autonomy and flexibility to adjust lessons as needed either before, during, or after the class. </a:t>
            </a:r>
          </a:p>
        </p:txBody>
      </p:sp>
    </p:spTree>
    <p:extLst>
      <p:ext uri="{BB962C8B-B14F-4D97-AF65-F5344CB8AC3E}">
        <p14:creationId xmlns:p14="http://schemas.microsoft.com/office/powerpoint/2010/main" val="2171167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Lesson Structure</a:t>
            </a:r>
          </a:p>
        </p:txBody>
      </p:sp>
      <p:sp>
        <p:nvSpPr>
          <p:cNvPr id="12" name="TextBox 11">
            <a:extLst>
              <a:ext uri="{FF2B5EF4-FFF2-40B4-BE49-F238E27FC236}">
                <a16:creationId xmlns:a16="http://schemas.microsoft.com/office/drawing/2014/main" id="{2B43C38A-0E85-ADBD-D316-9D7ED1CD0731}"/>
              </a:ext>
            </a:extLst>
          </p:cNvPr>
          <p:cNvSpPr txBox="1"/>
          <p:nvPr/>
        </p:nvSpPr>
        <p:spPr>
          <a:xfrm>
            <a:off x="485775" y="1162511"/>
            <a:ext cx="5886450" cy="8248412"/>
          </a:xfrm>
          <a:prstGeom prst="rect">
            <a:avLst/>
          </a:prstGeom>
          <a:noFill/>
        </p:spPr>
        <p:txBody>
          <a:bodyPr wrap="square" rtlCol="0">
            <a:spAutoFit/>
          </a:bodyPr>
          <a:lstStyle/>
          <a:p>
            <a:pPr marL="0" marR="0" lvl="0" indent="0" algn="ctr" defTabSz="457200" rtl="0" eaLnBrk="1" fontAlgn="auto" latinLnBrk="0" hangingPunct="1">
              <a:spcBef>
                <a:spcPts val="0"/>
              </a:spcBef>
              <a:spcAft>
                <a:spcPts val="600"/>
              </a:spcAft>
              <a:buClrTx/>
              <a:buSzPts val="1100"/>
              <a:buFontTx/>
              <a:buNone/>
              <a:tabLst/>
              <a:defRPr/>
            </a:pPr>
            <a:r>
              <a:rPr lang="en-GB" sz="1600" b="1" u="sng" kern="100" spc="75" dirty="0">
                <a:solidFill>
                  <a:srgbClr val="000000"/>
                </a:solidFill>
                <a:latin typeface="Calibri" panose="020F0502020204030204" pitchFamily="34" charset="0"/>
                <a:ea typeface="Malgun Gothic" panose="020B0503020000020004" pitchFamily="34" charset="-127"/>
                <a:cs typeface="Times New Roman" panose="02020603050405020304" pitchFamily="18" charset="0"/>
              </a:rPr>
              <a:t>Lesson Structure</a:t>
            </a:r>
          </a:p>
          <a:p>
            <a:pPr marL="0" marR="0" lvl="0" indent="0" defTabSz="457200" rtl="0" eaLnBrk="1" fontAlgn="auto" latinLnBrk="0" hangingPunct="1">
              <a:lnSpc>
                <a:spcPct val="100000"/>
              </a:lnSpc>
              <a:spcBef>
                <a:spcPts val="0"/>
              </a:spcBef>
              <a:spcAft>
                <a:spcPts val="0"/>
              </a:spcAft>
              <a:buClrTx/>
              <a:buSzPts val="1100"/>
              <a:buFontTx/>
              <a:buNone/>
              <a:tabLst/>
              <a:defRPr/>
            </a:pPr>
            <a:r>
              <a:rPr lang="en-GB" sz="1200" dirty="0">
                <a:latin typeface="Calibri" panose="020F0502020204030204" pitchFamily="34" charset="0"/>
                <a:ea typeface="Malgun Gothic" panose="020B0503020000020004" pitchFamily="34" charset="-127"/>
                <a:cs typeface="Times New Roman" panose="02020603050405020304" pitchFamily="18" charset="0"/>
              </a:rPr>
              <a:t>A good lesson is one that flows, is formatted well, and is uncluttered. Simple and relatable examples should be used and lessons should link back to the unit often. Our lessons should not only help students learn, but enjoy learning.</a:t>
            </a:r>
          </a:p>
          <a:p>
            <a:pPr marL="0" marR="0" lvl="0" indent="0" defTabSz="457200" rtl="0" eaLnBrk="1" fontAlgn="auto" latinLnBrk="0" hangingPunct="1">
              <a:lnSpc>
                <a:spcPct val="100000"/>
              </a:lnSpc>
              <a:spcBef>
                <a:spcPts val="0"/>
              </a:spcBef>
              <a:spcAft>
                <a:spcPts val="0"/>
              </a:spcAft>
              <a:buClrTx/>
              <a:buSzPts val="1100"/>
              <a:buFontTx/>
              <a:buNone/>
              <a:tabLst/>
              <a:defRPr/>
            </a:pPr>
            <a:endParaRPr lang="en-GB" sz="1200" dirty="0">
              <a:latin typeface="Calibri" panose="020F0502020204030204" pitchFamily="34" charset="0"/>
              <a:ea typeface="Malgun Gothic" panose="020B0503020000020004" pitchFamily="34" charset="-127"/>
              <a:cs typeface="Times New Roman" panose="02020603050405020304" pitchFamily="18" charset="0"/>
            </a:endParaRPr>
          </a:p>
          <a:p>
            <a:pPr algn="ctr">
              <a:lnSpc>
                <a:spcPct val="150000"/>
              </a:lnSpc>
              <a:buSzPts val="1100"/>
              <a:defRPr/>
            </a:pPr>
            <a:r>
              <a:rPr lang="en-GB" sz="1600" b="1" u="sng" kern="100" spc="75" dirty="0">
                <a:solidFill>
                  <a:srgbClr val="000000"/>
                </a:solidFill>
                <a:latin typeface="Calibri" panose="020F0502020204030204" pitchFamily="34" charset="0"/>
                <a:ea typeface="Malgun Gothic" panose="020B0503020000020004" pitchFamily="34" charset="-127"/>
                <a:cs typeface="Times New Roman" panose="02020603050405020304" pitchFamily="18" charset="0"/>
              </a:rPr>
              <a:t>Pre-Lesson Engagement (PLE) (10%)</a:t>
            </a:r>
          </a:p>
          <a:p>
            <a:pPr marL="0" marR="0" lvl="0" indent="0" defTabSz="457200" rtl="0" eaLnBrk="1" fontAlgn="auto" latinLnBrk="0" hangingPunct="1">
              <a:lnSpc>
                <a:spcPct val="100000"/>
              </a:lnSpc>
              <a:spcBef>
                <a:spcPts val="0"/>
              </a:spcBef>
              <a:spcAft>
                <a:spcPts val="0"/>
              </a:spcAft>
              <a:buClrTx/>
              <a:buSzPts val="1100"/>
              <a:buFontTx/>
              <a:buNone/>
              <a:tabLst/>
              <a:defRPr/>
            </a:pPr>
            <a:r>
              <a:rPr lang="en-GB" sz="1200" b="1" dirty="0">
                <a:latin typeface="Calibri" panose="020F0502020204030204" pitchFamily="34" charset="0"/>
                <a:ea typeface="Malgun Gothic" panose="020B0503020000020004" pitchFamily="34" charset="-127"/>
                <a:cs typeface="Times New Roman" panose="02020603050405020304" pitchFamily="18" charset="0"/>
              </a:rPr>
              <a:t>Discussion Questions</a:t>
            </a:r>
          </a:p>
          <a:p>
            <a:pPr marL="171450" marR="0" lvl="0" indent="-171450" defTabSz="457200" rtl="0" eaLnBrk="1" fontAlgn="auto" latinLnBrk="0" hangingPunct="1">
              <a:lnSpc>
                <a:spcPct val="100000"/>
              </a:lnSpc>
              <a:spcBef>
                <a:spcPts val="0"/>
              </a:spcBef>
              <a:spcAft>
                <a:spcPts val="0"/>
              </a:spcAft>
              <a:buClrTx/>
              <a:buSzPts val="1100"/>
              <a:buFont typeface="Arial" panose="020B0604020202020204" pitchFamily="34" charset="0"/>
              <a:buChar char="•"/>
              <a:tabLst/>
              <a:defRPr/>
            </a:pPr>
            <a:r>
              <a:rPr lang="en-GB" sz="1200" dirty="0">
                <a:latin typeface="Calibri" panose="020F0502020204030204" pitchFamily="34" charset="0"/>
                <a:ea typeface="Malgun Gothic" panose="020B0503020000020004" pitchFamily="34" charset="-127"/>
                <a:cs typeface="Times New Roman" panose="02020603050405020304" pitchFamily="18" charset="0"/>
              </a:rPr>
              <a:t>Discussion questions to help elicit ideas about the topic.</a:t>
            </a:r>
          </a:p>
          <a:p>
            <a:pPr marL="0" marR="0" lvl="0" indent="0" defTabSz="457200" rtl="0" eaLnBrk="1" fontAlgn="auto" latinLnBrk="0" hangingPunct="1">
              <a:lnSpc>
                <a:spcPct val="100000"/>
              </a:lnSpc>
              <a:spcBef>
                <a:spcPts val="0"/>
              </a:spcBef>
              <a:spcAft>
                <a:spcPts val="0"/>
              </a:spcAft>
              <a:buClrTx/>
              <a:buSzPts val="1100"/>
              <a:buFontTx/>
              <a:buNone/>
              <a:tabLst/>
              <a:defRPr/>
            </a:pPr>
            <a:r>
              <a:rPr lang="en-GB" sz="1200" b="1" dirty="0">
                <a:latin typeface="Calibri" panose="020F0502020204030204" pitchFamily="34" charset="0"/>
                <a:ea typeface="Malgun Gothic" panose="020B0503020000020004" pitchFamily="34" charset="-127"/>
                <a:cs typeface="Times New Roman" panose="02020603050405020304" pitchFamily="18" charset="0"/>
              </a:rPr>
              <a:t>Vocabulary</a:t>
            </a:r>
          </a:p>
          <a:p>
            <a:pPr marL="171450" marR="0" lvl="0" indent="-171450" defTabSz="457200" rtl="0" eaLnBrk="1" fontAlgn="auto" latinLnBrk="0" hangingPunct="1">
              <a:lnSpc>
                <a:spcPct val="100000"/>
              </a:lnSpc>
              <a:spcBef>
                <a:spcPts val="0"/>
              </a:spcBef>
              <a:spcAft>
                <a:spcPts val="0"/>
              </a:spcAft>
              <a:buClrTx/>
              <a:buSzPts val="1100"/>
              <a:buFont typeface="Arial" panose="020B0604020202020204" pitchFamily="34" charset="0"/>
              <a:buChar char="•"/>
              <a:tabLst/>
              <a:defRPr/>
            </a:pPr>
            <a:r>
              <a:rPr lang="en-GB" sz="1200" dirty="0">
                <a:latin typeface="Calibri" panose="020F0502020204030204" pitchFamily="34" charset="0"/>
                <a:ea typeface="Malgun Gothic" panose="020B0503020000020004" pitchFamily="34" charset="-127"/>
                <a:cs typeface="Times New Roman" panose="02020603050405020304" pitchFamily="18" charset="0"/>
              </a:rPr>
              <a:t>Review important topic vocabulary words, these words will be used in the comprehension questions or during the lesson, so a quick recap is useful.</a:t>
            </a:r>
          </a:p>
          <a:p>
            <a:pPr marL="171450" marR="0" lvl="0" indent="-171450" defTabSz="457200" rtl="0" eaLnBrk="1" fontAlgn="auto" latinLnBrk="0" hangingPunct="1">
              <a:lnSpc>
                <a:spcPct val="100000"/>
              </a:lnSpc>
              <a:spcBef>
                <a:spcPts val="0"/>
              </a:spcBef>
              <a:spcAft>
                <a:spcPts val="0"/>
              </a:spcAft>
              <a:buClrTx/>
              <a:buSzPts val="1100"/>
              <a:buFont typeface="Arial" panose="020B0604020202020204" pitchFamily="34" charset="0"/>
              <a:buChar char="•"/>
              <a:tabLst/>
              <a:defRPr/>
            </a:pPr>
            <a:r>
              <a:rPr lang="en-GB" sz="1200" dirty="0">
                <a:latin typeface="Calibri" panose="020F0502020204030204" pitchFamily="34" charset="0"/>
                <a:ea typeface="Malgun Gothic" panose="020B0503020000020004" pitchFamily="34" charset="-127"/>
                <a:cs typeface="Times New Roman" panose="02020603050405020304" pitchFamily="18" charset="0"/>
              </a:rPr>
              <a:t>Turn this into a simple game or activity to engage the students.</a:t>
            </a:r>
          </a:p>
          <a:p>
            <a:pPr marL="0" marR="0" lvl="0" indent="0" defTabSz="457200" rtl="0" eaLnBrk="1" fontAlgn="auto" latinLnBrk="0" hangingPunct="1">
              <a:lnSpc>
                <a:spcPct val="100000"/>
              </a:lnSpc>
              <a:spcBef>
                <a:spcPts val="0"/>
              </a:spcBef>
              <a:spcAft>
                <a:spcPts val="0"/>
              </a:spcAft>
              <a:buClrTx/>
              <a:buSzPts val="1100"/>
              <a:buFontTx/>
              <a:buNone/>
              <a:tabLst/>
              <a:defRPr/>
            </a:pPr>
            <a:r>
              <a:rPr lang="en-GB" sz="1200" b="1" dirty="0">
                <a:latin typeface="Calibri" panose="020F0502020204030204" pitchFamily="34" charset="0"/>
                <a:ea typeface="Malgun Gothic" panose="020B0503020000020004" pitchFamily="34" charset="-127"/>
                <a:cs typeface="Times New Roman" panose="02020603050405020304" pitchFamily="18" charset="0"/>
              </a:rPr>
              <a:t>Comprehension Questions</a:t>
            </a:r>
          </a:p>
          <a:p>
            <a:pPr marL="171450" marR="0" lvl="0" indent="-171450" defTabSz="457200" rtl="0" eaLnBrk="1" fontAlgn="auto" latinLnBrk="0" hangingPunct="1">
              <a:lnSpc>
                <a:spcPct val="100000"/>
              </a:lnSpc>
              <a:spcBef>
                <a:spcPts val="0"/>
              </a:spcBef>
              <a:spcAft>
                <a:spcPts val="0"/>
              </a:spcAft>
              <a:buClrTx/>
              <a:buSzPts val="1100"/>
              <a:buFont typeface="Arial" panose="020B0604020202020204" pitchFamily="34" charset="0"/>
              <a:buChar char="•"/>
              <a:tabLst/>
              <a:defRPr/>
            </a:pPr>
            <a:r>
              <a:rPr lang="en-GB" sz="1200" dirty="0">
                <a:latin typeface="Calibri" panose="020F0502020204030204" pitchFamily="34" charset="0"/>
                <a:ea typeface="Malgun Gothic" panose="020B0503020000020004" pitchFamily="34" charset="-127"/>
                <a:cs typeface="Times New Roman" panose="02020603050405020304" pitchFamily="18" charset="0"/>
              </a:rPr>
              <a:t>Four or five comprehension questions to check the students’ understanding of the topic they studied previously with their Korean teacher.</a:t>
            </a:r>
          </a:p>
          <a:p>
            <a:pPr marR="0" lvl="0" algn="ctr" defTabSz="457200" rtl="0" eaLnBrk="1" fontAlgn="auto" latinLnBrk="0" hangingPunct="1">
              <a:lnSpc>
                <a:spcPct val="100000"/>
              </a:lnSpc>
              <a:spcBef>
                <a:spcPts val="0"/>
              </a:spcBef>
              <a:spcAft>
                <a:spcPts val="0"/>
              </a:spcAft>
              <a:buClrTx/>
              <a:buSzPts val="1100"/>
              <a:tabLst/>
              <a:defRPr/>
            </a:pPr>
            <a:r>
              <a:rPr lang="en-GB" sz="1200" b="1" dirty="0">
                <a:latin typeface="Calibri" panose="020F0502020204030204" pitchFamily="34" charset="0"/>
                <a:ea typeface="Malgun Gothic" panose="020B0503020000020004" pitchFamily="34" charset="-127"/>
                <a:cs typeface="Times New Roman" panose="02020603050405020304" pitchFamily="18" charset="0"/>
              </a:rPr>
              <a:t>The PLE is completed verbally and is not included on the PPT</a:t>
            </a:r>
          </a:p>
          <a:p>
            <a:pPr marR="0" lvl="0" indent="0" algn="ctr" fontAlgn="auto">
              <a:lnSpc>
                <a:spcPct val="150000"/>
              </a:lnSpc>
              <a:spcBef>
                <a:spcPts val="0"/>
              </a:spcBef>
              <a:spcAft>
                <a:spcPts val="0"/>
              </a:spcAft>
              <a:buClrTx/>
              <a:buSzPts val="1100"/>
              <a:buFontTx/>
              <a:buNone/>
              <a:tabLst/>
              <a:defRPr/>
            </a:pPr>
            <a:r>
              <a:rPr lang="en-GB" sz="1600" b="1" u="sng" kern="100" spc="75" dirty="0">
                <a:solidFill>
                  <a:srgbClr val="000000"/>
                </a:solidFill>
                <a:latin typeface="Calibri" panose="020F0502020204030204" pitchFamily="34" charset="0"/>
                <a:ea typeface="Malgun Gothic" panose="020B0503020000020004" pitchFamily="34" charset="-127"/>
                <a:cs typeface="Times New Roman" panose="02020603050405020304" pitchFamily="18" charset="0"/>
              </a:rPr>
              <a:t>Warm-Up Activity (15%)</a:t>
            </a:r>
          </a:p>
          <a:p>
            <a:pPr marL="171450" marR="0" lvl="0" indent="-171450" defTabSz="457200" rtl="0" eaLnBrk="1" fontAlgn="auto" latinLnBrk="0" hangingPunct="1">
              <a:lnSpc>
                <a:spcPct val="100000"/>
              </a:lnSpc>
              <a:spcBef>
                <a:spcPts val="0"/>
              </a:spcBef>
              <a:spcAft>
                <a:spcPts val="0"/>
              </a:spcAft>
              <a:buClrTx/>
              <a:buSzPts val="1100"/>
              <a:buFont typeface="Arial" panose="020B0604020202020204" pitchFamily="34" charset="0"/>
              <a:buChar char="•"/>
              <a:tabLst/>
              <a:defRPr/>
            </a:pPr>
            <a:r>
              <a:rPr lang="en-GB" sz="1200" dirty="0">
                <a:latin typeface="Calibri" panose="020F0502020204030204" pitchFamily="34" charset="0"/>
                <a:ea typeface="Malgun Gothic" panose="020B0503020000020004" pitchFamily="34" charset="-127"/>
                <a:cs typeface="Times New Roman" panose="02020603050405020304" pitchFamily="18" charset="0"/>
              </a:rPr>
              <a:t>This should be a fun and engaging activity that gets the students to subtly start using the skill or vocabulary for the lesson. It can also be useful to check their existing ability. </a:t>
            </a:r>
          </a:p>
          <a:p>
            <a:pPr algn="ctr">
              <a:lnSpc>
                <a:spcPct val="150000"/>
              </a:lnSpc>
              <a:buSzPts val="1100"/>
              <a:defRPr/>
            </a:pPr>
            <a:r>
              <a:rPr lang="en-GB" sz="1600" b="1" u="sng" kern="100" spc="75" dirty="0">
                <a:solidFill>
                  <a:srgbClr val="000000"/>
                </a:solidFill>
                <a:latin typeface="Calibri" panose="020F0502020204030204" pitchFamily="34" charset="0"/>
                <a:ea typeface="Malgun Gothic" panose="020B0503020000020004" pitchFamily="34" charset="-127"/>
                <a:cs typeface="Times New Roman" panose="02020603050405020304" pitchFamily="18" charset="0"/>
              </a:rPr>
              <a:t>Practice (25%-35%)</a:t>
            </a:r>
          </a:p>
          <a:p>
            <a:pPr marL="171450" marR="0" lvl="0" indent="-171450" defTabSz="457200" rtl="0" eaLnBrk="1" fontAlgn="auto" latinLnBrk="0" hangingPunct="1">
              <a:lnSpc>
                <a:spcPct val="100000"/>
              </a:lnSpc>
              <a:spcBef>
                <a:spcPts val="0"/>
              </a:spcBef>
              <a:spcAft>
                <a:spcPts val="0"/>
              </a:spcAft>
              <a:buClrTx/>
              <a:buSzPts val="1100"/>
              <a:buFont typeface="Arial" panose="020B0604020202020204" pitchFamily="34" charset="0"/>
              <a:buChar char="•"/>
              <a:tabLst/>
              <a:defRPr/>
            </a:pPr>
            <a:r>
              <a:rPr lang="en-GB" sz="1200" dirty="0">
                <a:latin typeface="Calibri" panose="020F0502020204030204" pitchFamily="34" charset="0"/>
                <a:ea typeface="Malgun Gothic" panose="020B0503020000020004" pitchFamily="34" charset="-127"/>
                <a:cs typeface="Times New Roman" panose="02020603050405020304" pitchFamily="18" charset="0"/>
              </a:rPr>
              <a:t>This starts with the teacher driven portion of the class that should involve the most teaching, board work, and working together.</a:t>
            </a:r>
          </a:p>
          <a:p>
            <a:pPr marL="171450" marR="0" lvl="0" indent="-171450" defTabSz="457200" rtl="0" eaLnBrk="1" fontAlgn="auto" latinLnBrk="0" hangingPunct="1">
              <a:lnSpc>
                <a:spcPct val="100000"/>
              </a:lnSpc>
              <a:spcBef>
                <a:spcPts val="0"/>
              </a:spcBef>
              <a:spcAft>
                <a:spcPts val="0"/>
              </a:spcAft>
              <a:buClrTx/>
              <a:buSzPts val="1100"/>
              <a:buFont typeface="Arial" panose="020B0604020202020204" pitchFamily="34" charset="0"/>
              <a:buChar char="•"/>
              <a:tabLst/>
              <a:defRPr/>
            </a:pPr>
            <a:r>
              <a:rPr lang="en-GB" sz="1200" dirty="0">
                <a:latin typeface="Calibri" panose="020F0502020204030204" pitchFamily="34" charset="0"/>
                <a:ea typeface="Malgun Gothic" panose="020B0503020000020004" pitchFamily="34" charset="-127"/>
                <a:cs typeface="Times New Roman" panose="02020603050405020304" pitchFamily="18" charset="0"/>
              </a:rPr>
              <a:t>Use scaffolded controlled practices to give students particular speaking or writing skills that are </a:t>
            </a:r>
            <a:r>
              <a:rPr lang="en-GB" sz="1200" b="1" dirty="0">
                <a:latin typeface="Calibri" panose="020F0502020204030204" pitchFamily="34" charset="0"/>
                <a:ea typeface="Malgun Gothic" panose="020B0503020000020004" pitchFamily="34" charset="-127"/>
                <a:cs typeface="Times New Roman" panose="02020603050405020304" pitchFamily="18" charset="0"/>
              </a:rPr>
              <a:t>required for the production</a:t>
            </a:r>
            <a:r>
              <a:rPr lang="en-GB" sz="1200" dirty="0">
                <a:latin typeface="Calibri" panose="020F0502020204030204" pitchFamily="34" charset="0"/>
                <a:ea typeface="Malgun Gothic" panose="020B0503020000020004" pitchFamily="34" charset="-127"/>
                <a:cs typeface="Times New Roman" panose="02020603050405020304" pitchFamily="18" charset="0"/>
              </a:rPr>
              <a:t>.</a:t>
            </a:r>
          </a:p>
          <a:p>
            <a:pPr marL="171450" marR="0" lvl="0" indent="-171450" defTabSz="457200" rtl="0" eaLnBrk="1" fontAlgn="auto" latinLnBrk="0" hangingPunct="1">
              <a:lnSpc>
                <a:spcPct val="100000"/>
              </a:lnSpc>
              <a:spcBef>
                <a:spcPts val="0"/>
              </a:spcBef>
              <a:spcAft>
                <a:spcPts val="0"/>
              </a:spcAft>
              <a:buClrTx/>
              <a:buSzPts val="1100"/>
              <a:buFont typeface="Arial" panose="020B0604020202020204" pitchFamily="34" charset="0"/>
              <a:buChar char="•"/>
              <a:tabLst/>
              <a:defRPr/>
            </a:pPr>
            <a:r>
              <a:rPr lang="en-GB" sz="1200" dirty="0">
                <a:latin typeface="Calibri" panose="020F0502020204030204" pitchFamily="34" charset="0"/>
                <a:ea typeface="Malgun Gothic" panose="020B0503020000020004" pitchFamily="34" charset="-127"/>
                <a:cs typeface="Times New Roman" panose="02020603050405020304" pitchFamily="18" charset="0"/>
              </a:rPr>
              <a:t>Two or three activities can normally ensure that students have practiced the skill sufficiently.</a:t>
            </a:r>
          </a:p>
          <a:p>
            <a:pPr marL="171450" marR="0" lvl="0" indent="-171450" defTabSz="457200" rtl="0" eaLnBrk="1" fontAlgn="auto" latinLnBrk="0" hangingPunct="1">
              <a:lnSpc>
                <a:spcPct val="100000"/>
              </a:lnSpc>
              <a:spcBef>
                <a:spcPts val="0"/>
              </a:spcBef>
              <a:spcAft>
                <a:spcPts val="0"/>
              </a:spcAft>
              <a:buClrTx/>
              <a:buSzPts val="1100"/>
              <a:buFont typeface="Arial" panose="020B0604020202020204" pitchFamily="34" charset="0"/>
              <a:buChar char="•"/>
              <a:tabLst/>
              <a:defRPr/>
            </a:pPr>
            <a:r>
              <a:rPr lang="en-GB" sz="1200" dirty="0">
                <a:latin typeface="Calibri" panose="020F0502020204030204" pitchFamily="34" charset="0"/>
                <a:ea typeface="Malgun Gothic" panose="020B0503020000020004" pitchFamily="34" charset="-127"/>
                <a:cs typeface="Times New Roman" panose="02020603050405020304" pitchFamily="18" charset="0"/>
              </a:rPr>
              <a:t>Guide students, correct mistakes, and give positive reinforcement.</a:t>
            </a:r>
          </a:p>
          <a:p>
            <a:pPr marR="0" lvl="0" indent="0" algn="ctr" fontAlgn="auto">
              <a:lnSpc>
                <a:spcPct val="150000"/>
              </a:lnSpc>
              <a:spcBef>
                <a:spcPts val="0"/>
              </a:spcBef>
              <a:spcAft>
                <a:spcPts val="0"/>
              </a:spcAft>
              <a:buClrTx/>
              <a:buSzPts val="1100"/>
              <a:buFontTx/>
              <a:buNone/>
              <a:tabLst/>
              <a:defRPr/>
            </a:pPr>
            <a:r>
              <a:rPr lang="en-GB" sz="1600" b="1" u="sng" kern="100" spc="75" dirty="0">
                <a:solidFill>
                  <a:srgbClr val="000000"/>
                </a:solidFill>
                <a:latin typeface="Calibri" panose="020F0502020204030204" pitchFamily="34" charset="0"/>
                <a:ea typeface="Malgun Gothic" panose="020B0503020000020004" pitchFamily="34" charset="-127"/>
                <a:cs typeface="Times New Roman" panose="02020603050405020304" pitchFamily="18" charset="0"/>
              </a:rPr>
              <a:t>Production (35%-45%)</a:t>
            </a:r>
          </a:p>
          <a:p>
            <a:pPr marL="171450" marR="0" lvl="0" indent="-171450" algn="l" defTabSz="457200" rtl="0" eaLnBrk="1" fontAlgn="auto" latinLnBrk="0" hangingPunct="1">
              <a:lnSpc>
                <a:spcPct val="100000"/>
              </a:lnSpc>
              <a:spcBef>
                <a:spcPts val="0"/>
              </a:spcBef>
              <a:spcAft>
                <a:spcPts val="0"/>
              </a:spcAft>
              <a:buClrTx/>
              <a:buSzPts val="1100"/>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panose="020F0502020204030204" pitchFamily="34" charset="0"/>
                <a:ea typeface="Malgun Gothic" panose="020B0503020000020004" pitchFamily="34" charset="-127"/>
                <a:cs typeface="Times New Roman" panose="02020603050405020304" pitchFamily="18" charset="0"/>
              </a:rPr>
              <a:t>This is the student driven portion of the class where students use what they learned to independently complete a piece of writing or a speaking exercise.</a:t>
            </a:r>
          </a:p>
          <a:p>
            <a:pPr marL="171450" marR="0" lvl="0" indent="-171450" algn="l" defTabSz="457200" rtl="0" eaLnBrk="1" fontAlgn="auto" latinLnBrk="0" hangingPunct="1">
              <a:lnSpc>
                <a:spcPct val="100000"/>
              </a:lnSpc>
              <a:spcBef>
                <a:spcPts val="0"/>
              </a:spcBef>
              <a:spcAft>
                <a:spcPts val="0"/>
              </a:spcAft>
              <a:buClrTx/>
              <a:buSzPts val="1100"/>
              <a:buFont typeface="Arial" panose="020B0604020202020204" pitchFamily="34" charset="0"/>
              <a:buChar char="•"/>
              <a:tabLst/>
              <a:defRPr/>
            </a:pPr>
            <a:r>
              <a:rPr lang="en-GB" sz="1200" dirty="0">
                <a:solidFill>
                  <a:prstClr val="black"/>
                </a:solidFill>
                <a:latin typeface="Calibri" panose="020F0502020204030204" pitchFamily="34" charset="0"/>
                <a:ea typeface="Malgun Gothic" panose="020B0503020000020004" pitchFamily="34" charset="-127"/>
                <a:cs typeface="Times New Roman" panose="02020603050405020304" pitchFamily="18" charset="0"/>
              </a:rPr>
              <a:t>Try to reduce the teacher focus during this time to allow for maximum language usage by students.</a:t>
            </a:r>
            <a:endParaRPr kumimoji="0" lang="en-GB" sz="1200" b="0" i="0" u="none" strike="noStrike" kern="1200" cap="none" spc="0" normalizeH="0" baseline="0" noProof="0" dirty="0">
              <a:ln>
                <a:noFill/>
              </a:ln>
              <a:solidFill>
                <a:prstClr val="black"/>
              </a:solidFill>
              <a:effectLst/>
              <a:uLnTx/>
              <a:uFillTx/>
              <a:latin typeface="Calibri" panose="020F0502020204030204" pitchFamily="34" charset="0"/>
              <a:ea typeface="Malgun Gothic" panose="020B0503020000020004" pitchFamily="34" charset="-127"/>
              <a:cs typeface="Times New Roman" panose="02020603050405020304" pitchFamily="18" charset="0"/>
            </a:endParaRPr>
          </a:p>
          <a:p>
            <a:pPr marL="171450" marR="0" lvl="0" indent="-171450" algn="l" defTabSz="457200" rtl="0" eaLnBrk="1" fontAlgn="auto" latinLnBrk="0" hangingPunct="1">
              <a:lnSpc>
                <a:spcPct val="100000"/>
              </a:lnSpc>
              <a:spcBef>
                <a:spcPts val="0"/>
              </a:spcBef>
              <a:spcAft>
                <a:spcPts val="0"/>
              </a:spcAft>
              <a:buClrTx/>
              <a:buSzPts val="1100"/>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panose="020F0502020204030204" pitchFamily="34" charset="0"/>
                <a:ea typeface="Malgun Gothic" panose="020B0503020000020004" pitchFamily="34" charset="-127"/>
                <a:cs typeface="Times New Roman" panose="02020603050405020304" pitchFamily="18" charset="0"/>
              </a:rPr>
              <a:t>Monitor and guide the students as needed and make note of any errors.</a:t>
            </a:r>
          </a:p>
          <a:p>
            <a:pPr marL="171450" marR="0" lvl="0" indent="-171450" algn="l" defTabSz="457200" rtl="0" eaLnBrk="1" fontAlgn="auto" latinLnBrk="0" hangingPunct="1">
              <a:lnSpc>
                <a:spcPct val="100000"/>
              </a:lnSpc>
              <a:spcBef>
                <a:spcPts val="0"/>
              </a:spcBef>
              <a:spcAft>
                <a:spcPts val="0"/>
              </a:spcAft>
              <a:buClrTx/>
              <a:buSzPts val="1100"/>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panose="020F0502020204030204" pitchFamily="34" charset="0"/>
                <a:ea typeface="Malgun Gothic" panose="020B0503020000020004" pitchFamily="34" charset="-127"/>
                <a:cs typeface="Times New Roman" panose="02020603050405020304" pitchFamily="18" charset="0"/>
              </a:rPr>
              <a:t>Correct any errors after the exercise.</a:t>
            </a:r>
          </a:p>
          <a:p>
            <a:pPr algn="ctr">
              <a:lnSpc>
                <a:spcPct val="150000"/>
              </a:lnSpc>
              <a:buSzPts val="1100"/>
              <a:defRPr/>
            </a:pPr>
            <a:r>
              <a:rPr lang="en-GB" sz="1600" b="1" u="sng" kern="100" spc="75" dirty="0">
                <a:solidFill>
                  <a:srgbClr val="000000"/>
                </a:solidFill>
                <a:latin typeface="Calibri" panose="020F0502020204030204" pitchFamily="34" charset="0"/>
                <a:ea typeface="Malgun Gothic" panose="020B0503020000020004" pitchFamily="34" charset="-127"/>
                <a:cs typeface="Times New Roman" panose="02020603050405020304" pitchFamily="18" charset="0"/>
              </a:rPr>
              <a:t>Closure (5%)</a:t>
            </a:r>
          </a:p>
          <a:p>
            <a:pPr marL="171450" marR="0" lvl="0" indent="-171450" algn="l" defTabSz="457200" rtl="0" eaLnBrk="1" fontAlgn="auto" latinLnBrk="0" hangingPunct="1">
              <a:lnSpc>
                <a:spcPct val="100000"/>
              </a:lnSpc>
              <a:spcBef>
                <a:spcPts val="0"/>
              </a:spcBef>
              <a:spcAft>
                <a:spcPts val="0"/>
              </a:spcAft>
              <a:buClrTx/>
              <a:buSzPts val="1100"/>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panose="020F0502020204030204" pitchFamily="34" charset="0"/>
                <a:ea typeface="Malgun Gothic" panose="020B0503020000020004" pitchFamily="34" charset="-127"/>
                <a:cs typeface="Times New Roman" panose="02020603050405020304" pitchFamily="18" charset="0"/>
              </a:rPr>
              <a:t>Reinforce the skill taught and discover if you reached your goal of the class.</a:t>
            </a:r>
          </a:p>
          <a:p>
            <a:pPr marL="171450" marR="0" lvl="0" indent="-171450" algn="l" defTabSz="457200" rtl="0" eaLnBrk="1" fontAlgn="auto" latinLnBrk="0" hangingPunct="1">
              <a:lnSpc>
                <a:spcPct val="100000"/>
              </a:lnSpc>
              <a:spcBef>
                <a:spcPts val="0"/>
              </a:spcBef>
              <a:spcAft>
                <a:spcPts val="0"/>
              </a:spcAft>
              <a:buClrTx/>
              <a:buSzPts val="1100"/>
              <a:buFont typeface="Arial" panose="020B0604020202020204" pitchFamily="34" charset="0"/>
              <a:buChar char="•"/>
              <a:tabLst/>
              <a:defRPr/>
            </a:pPr>
            <a:r>
              <a:rPr lang="en-GB" sz="1200" dirty="0">
                <a:solidFill>
                  <a:prstClr val="black"/>
                </a:solidFill>
                <a:latin typeface="Calibri" panose="020F0502020204030204" pitchFamily="34" charset="0"/>
                <a:ea typeface="Malgun Gothic" panose="020B0503020000020004" pitchFamily="34" charset="-127"/>
                <a:cs typeface="Times New Roman" panose="02020603050405020304" pitchFamily="18" charset="0"/>
              </a:rPr>
              <a:t>A quick skill review question can work well.</a:t>
            </a:r>
            <a:endParaRPr kumimoji="0" lang="en-GB" sz="1200" b="0" i="0" u="none" strike="noStrike" kern="1200" cap="none" spc="0" normalizeH="0" baseline="0" noProof="0" dirty="0">
              <a:ln>
                <a:noFill/>
              </a:ln>
              <a:solidFill>
                <a:prstClr val="black"/>
              </a:solidFill>
              <a:effectLst/>
              <a:uLnTx/>
              <a:uFillTx/>
              <a:latin typeface="Calibri" panose="020F0502020204030204" pitchFamily="34" charset="0"/>
              <a:ea typeface="Malgun Gothic" panose="020B0503020000020004" pitchFamily="34" charset="-127"/>
              <a:cs typeface="Times New Roman" panose="02020603050405020304" pitchFamily="18" charset="0"/>
            </a:endParaRP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190475"/>
          </a:xfrm>
        </p:spPr>
        <p:txBody>
          <a:bodyPr/>
          <a:lstStyle/>
          <a:p>
            <a:pPr marL="0" indent="0" algn="ctr">
              <a:buNone/>
            </a:pPr>
            <a:r>
              <a:rPr lang="en-US" sz="1600" dirty="0"/>
              <a:t>3</a:t>
            </a:r>
          </a:p>
        </p:txBody>
      </p:sp>
    </p:spTree>
    <p:extLst>
      <p:ext uri="{BB962C8B-B14F-4D97-AF65-F5344CB8AC3E}">
        <p14:creationId xmlns:p14="http://schemas.microsoft.com/office/powerpoint/2010/main" val="2011658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Lesson Template</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190475"/>
          </a:xfrm>
        </p:spPr>
        <p:txBody>
          <a:bodyPr/>
          <a:lstStyle/>
          <a:p>
            <a:pPr marL="0" indent="0" algn="ctr">
              <a:buNone/>
            </a:pPr>
            <a:r>
              <a:rPr lang="en-US" sz="1600" dirty="0"/>
              <a:t>4</a:t>
            </a:r>
          </a:p>
        </p:txBody>
      </p:sp>
      <p:sp>
        <p:nvSpPr>
          <p:cNvPr id="7" name="TextBox 6">
            <a:extLst>
              <a:ext uri="{FF2B5EF4-FFF2-40B4-BE49-F238E27FC236}">
                <a16:creationId xmlns:a16="http://schemas.microsoft.com/office/drawing/2014/main" id="{F71D39B5-0E80-F22D-6003-7829674EEECD}"/>
              </a:ext>
            </a:extLst>
          </p:cNvPr>
          <p:cNvSpPr txBox="1"/>
          <p:nvPr/>
        </p:nvSpPr>
        <p:spPr>
          <a:xfrm>
            <a:off x="485775" y="1252864"/>
            <a:ext cx="5886450" cy="646331"/>
          </a:xfrm>
          <a:prstGeom prst="rect">
            <a:avLst/>
          </a:prstGeom>
          <a:noFill/>
        </p:spPr>
        <p:txBody>
          <a:bodyPr wrap="square" rtlCol="0">
            <a:spAutoFit/>
          </a:bodyPr>
          <a:lstStyle/>
          <a:p>
            <a:pPr>
              <a:spcAft>
                <a:spcPts val="600"/>
              </a:spcAft>
            </a:pPr>
            <a:r>
              <a:rPr lang="en-GB" sz="1200" dirty="0">
                <a:latin typeface="Calibri" panose="020F0502020204030204" pitchFamily="34" charset="0"/>
                <a:ea typeface="Arial Unicode MS"/>
                <a:cs typeface="Arial Unicode MS"/>
              </a:rPr>
              <a:t>Below is the standard lesson template for a normal speaking or writing lesson. This template is used for both elementary and middle school lessons. </a:t>
            </a:r>
            <a:r>
              <a:rPr lang="en-GB" sz="1200" b="1" dirty="0">
                <a:latin typeface="Calibri" panose="020F0502020204030204" pitchFamily="34" charset="0"/>
                <a:ea typeface="Arial Unicode MS"/>
                <a:cs typeface="Arial Unicode MS"/>
              </a:rPr>
              <a:t>You should already be familiar with these pages from your first few weeks of teaching.</a:t>
            </a:r>
            <a:endParaRPr lang="en-GB" sz="1200" b="1" dirty="0">
              <a:effectLst/>
              <a:latin typeface="Calibri" panose="020F0502020204030204" pitchFamily="34" charset="0"/>
              <a:ea typeface="Arial Unicode MS"/>
              <a:cs typeface="Arial Unicode MS"/>
            </a:endParaRPr>
          </a:p>
        </p:txBody>
      </p:sp>
      <p:pic>
        <p:nvPicPr>
          <p:cNvPr id="4" name="Picture 3">
            <a:extLst>
              <a:ext uri="{FF2B5EF4-FFF2-40B4-BE49-F238E27FC236}">
                <a16:creationId xmlns:a16="http://schemas.microsoft.com/office/drawing/2014/main" id="{228F79BE-0612-7DD9-298B-BC1FF6CC3F9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3295" y="2427017"/>
            <a:ext cx="4472920" cy="6480000"/>
          </a:xfrm>
          <a:prstGeom prst="rect">
            <a:avLst/>
          </a:prstGeom>
        </p:spPr>
      </p:pic>
      <p:sp>
        <p:nvSpPr>
          <p:cNvPr id="10" name="Rectangle 9">
            <a:extLst>
              <a:ext uri="{FF2B5EF4-FFF2-40B4-BE49-F238E27FC236}">
                <a16:creationId xmlns:a16="http://schemas.microsoft.com/office/drawing/2014/main" id="{6E598A5C-216C-D341-A433-271032834CA2}"/>
              </a:ext>
            </a:extLst>
          </p:cNvPr>
          <p:cNvSpPr/>
          <p:nvPr/>
        </p:nvSpPr>
        <p:spPr>
          <a:xfrm>
            <a:off x="452697" y="1899195"/>
            <a:ext cx="4274115" cy="523859"/>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Update the header following the directions box on the template.</a:t>
            </a:r>
          </a:p>
        </p:txBody>
      </p:sp>
      <p:cxnSp>
        <p:nvCxnSpPr>
          <p:cNvPr id="14" name="Straight Arrow Connector 13">
            <a:extLst>
              <a:ext uri="{FF2B5EF4-FFF2-40B4-BE49-F238E27FC236}">
                <a16:creationId xmlns:a16="http://schemas.microsoft.com/office/drawing/2014/main" id="{0F48A8EF-9E58-F619-5645-4DCB03311F76}"/>
              </a:ext>
            </a:extLst>
          </p:cNvPr>
          <p:cNvCxnSpPr/>
          <p:nvPr/>
        </p:nvCxnSpPr>
        <p:spPr>
          <a:xfrm flipH="1">
            <a:off x="4441432" y="3169085"/>
            <a:ext cx="384784" cy="513567"/>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5" name="Straight Arrow Connector 14">
            <a:extLst>
              <a:ext uri="{FF2B5EF4-FFF2-40B4-BE49-F238E27FC236}">
                <a16:creationId xmlns:a16="http://schemas.microsoft.com/office/drawing/2014/main" id="{116FDF1D-1EDE-6046-6EA0-FD4E67BB88AB}"/>
              </a:ext>
            </a:extLst>
          </p:cNvPr>
          <p:cNvCxnSpPr>
            <a:cxnSpLocks/>
          </p:cNvCxnSpPr>
          <p:nvPr/>
        </p:nvCxnSpPr>
        <p:spPr>
          <a:xfrm flipH="1">
            <a:off x="2048006" y="2416059"/>
            <a:ext cx="300526" cy="289368"/>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6" name="Straight Arrow Connector 15">
            <a:extLst>
              <a:ext uri="{FF2B5EF4-FFF2-40B4-BE49-F238E27FC236}">
                <a16:creationId xmlns:a16="http://schemas.microsoft.com/office/drawing/2014/main" id="{93D8FBBF-CBBB-8805-E895-6C0C5BBBE5FF}"/>
              </a:ext>
            </a:extLst>
          </p:cNvPr>
          <p:cNvCxnSpPr>
            <a:cxnSpLocks/>
          </p:cNvCxnSpPr>
          <p:nvPr/>
        </p:nvCxnSpPr>
        <p:spPr>
          <a:xfrm>
            <a:off x="2348532" y="2423985"/>
            <a:ext cx="789238" cy="281442"/>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0" name="Rectangle 19">
            <a:extLst>
              <a:ext uri="{FF2B5EF4-FFF2-40B4-BE49-F238E27FC236}">
                <a16:creationId xmlns:a16="http://schemas.microsoft.com/office/drawing/2014/main" id="{ABE28654-CB52-6100-C996-CA28800E5201}"/>
              </a:ext>
            </a:extLst>
          </p:cNvPr>
          <p:cNvSpPr/>
          <p:nvPr/>
        </p:nvSpPr>
        <p:spPr>
          <a:xfrm>
            <a:off x="4756354" y="2655518"/>
            <a:ext cx="1728766" cy="513567"/>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Complete the basic information.</a:t>
            </a:r>
          </a:p>
        </p:txBody>
      </p:sp>
      <p:sp>
        <p:nvSpPr>
          <p:cNvPr id="21" name="Rectangle 20">
            <a:extLst>
              <a:ext uri="{FF2B5EF4-FFF2-40B4-BE49-F238E27FC236}">
                <a16:creationId xmlns:a16="http://schemas.microsoft.com/office/drawing/2014/main" id="{CE66D5AF-C55C-A4FA-1C82-4B3821D1EBFF}"/>
              </a:ext>
            </a:extLst>
          </p:cNvPr>
          <p:cNvSpPr/>
          <p:nvPr/>
        </p:nvSpPr>
        <p:spPr>
          <a:xfrm>
            <a:off x="4737732" y="3529888"/>
            <a:ext cx="1728766" cy="845504"/>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Add a clear aim for the lesson.</a:t>
            </a:r>
          </a:p>
          <a:p>
            <a:pPr algn="ctr"/>
            <a:r>
              <a:rPr lang="en-US" sz="1200" b="1" dirty="0">
                <a:solidFill>
                  <a:sysClr val="windowText" lastClr="000000"/>
                </a:solidFill>
              </a:rPr>
              <a:t>(SWBAT = Students will be able to …)</a:t>
            </a:r>
          </a:p>
        </p:txBody>
      </p:sp>
      <p:cxnSp>
        <p:nvCxnSpPr>
          <p:cNvPr id="22" name="Straight Arrow Connector 21">
            <a:extLst>
              <a:ext uri="{FF2B5EF4-FFF2-40B4-BE49-F238E27FC236}">
                <a16:creationId xmlns:a16="http://schemas.microsoft.com/office/drawing/2014/main" id="{3D2D99F5-EEAF-7076-1ABD-B5D9C52DC487}"/>
              </a:ext>
            </a:extLst>
          </p:cNvPr>
          <p:cNvCxnSpPr>
            <a:cxnSpLocks/>
            <a:stCxn id="21" idx="1"/>
          </p:cNvCxnSpPr>
          <p:nvPr/>
        </p:nvCxnSpPr>
        <p:spPr>
          <a:xfrm flipH="1">
            <a:off x="4258849" y="3952640"/>
            <a:ext cx="478883" cy="43921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4" name="Rectangle 23">
            <a:extLst>
              <a:ext uri="{FF2B5EF4-FFF2-40B4-BE49-F238E27FC236}">
                <a16:creationId xmlns:a16="http://schemas.microsoft.com/office/drawing/2014/main" id="{A0270D1E-DDD2-C374-343C-D0618C6F9BB6}"/>
              </a:ext>
            </a:extLst>
          </p:cNvPr>
          <p:cNvSpPr/>
          <p:nvPr/>
        </p:nvSpPr>
        <p:spPr>
          <a:xfrm>
            <a:off x="4756354" y="4646431"/>
            <a:ext cx="1728766" cy="77035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What materials are needed. (Worksheets, dice, coloring pencils, etc.)</a:t>
            </a:r>
          </a:p>
        </p:txBody>
      </p:sp>
      <p:cxnSp>
        <p:nvCxnSpPr>
          <p:cNvPr id="27" name="Straight Arrow Connector 26">
            <a:extLst>
              <a:ext uri="{FF2B5EF4-FFF2-40B4-BE49-F238E27FC236}">
                <a16:creationId xmlns:a16="http://schemas.microsoft.com/office/drawing/2014/main" id="{8287702F-DD99-E464-B09F-50B026B1A0D9}"/>
              </a:ext>
            </a:extLst>
          </p:cNvPr>
          <p:cNvCxnSpPr>
            <a:cxnSpLocks/>
            <a:stCxn id="24" idx="1"/>
          </p:cNvCxnSpPr>
          <p:nvPr/>
        </p:nvCxnSpPr>
        <p:spPr>
          <a:xfrm flipH="1" flipV="1">
            <a:off x="4083485" y="4903214"/>
            <a:ext cx="672869" cy="128392"/>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30" name="Rectangle 29">
            <a:extLst>
              <a:ext uri="{FF2B5EF4-FFF2-40B4-BE49-F238E27FC236}">
                <a16:creationId xmlns:a16="http://schemas.microsoft.com/office/drawing/2014/main" id="{79B53B06-20BB-27FD-CB03-93A93F221317}"/>
              </a:ext>
            </a:extLst>
          </p:cNvPr>
          <p:cNvSpPr/>
          <p:nvPr/>
        </p:nvSpPr>
        <p:spPr>
          <a:xfrm>
            <a:off x="4756354" y="5762975"/>
            <a:ext cx="1728766" cy="2720004"/>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Detailed purpose statements, teaching directions / notes, and answers for each section of the lesson. </a:t>
            </a:r>
            <a:br>
              <a:rPr lang="en-US" sz="1200" b="1" dirty="0">
                <a:solidFill>
                  <a:sysClr val="windowText" lastClr="000000"/>
                </a:solidFill>
              </a:rPr>
            </a:br>
            <a:br>
              <a:rPr lang="en-US" sz="1200" b="1" dirty="0">
                <a:solidFill>
                  <a:sysClr val="windowText" lastClr="000000"/>
                </a:solidFill>
              </a:rPr>
            </a:br>
            <a:r>
              <a:rPr lang="en-US" sz="1200" b="1" dirty="0">
                <a:solidFill>
                  <a:sysClr val="windowText" lastClr="000000"/>
                </a:solidFill>
              </a:rPr>
              <a:t>Alternative teaching approaches could be included. </a:t>
            </a:r>
            <a:br>
              <a:rPr lang="en-US" sz="1200" b="1" dirty="0">
                <a:solidFill>
                  <a:sysClr val="windowText" lastClr="000000"/>
                </a:solidFill>
              </a:rPr>
            </a:br>
            <a:br>
              <a:rPr lang="en-US" sz="1200" b="1" dirty="0">
                <a:solidFill>
                  <a:sysClr val="windowText" lastClr="000000"/>
                </a:solidFill>
              </a:rPr>
            </a:br>
            <a:r>
              <a:rPr lang="en-US" sz="1200" b="1" dirty="0">
                <a:solidFill>
                  <a:sysClr val="windowText" lastClr="000000"/>
                </a:solidFill>
              </a:rPr>
              <a:t>Remember, other teachers rely on these to teach your lesson!</a:t>
            </a:r>
          </a:p>
        </p:txBody>
      </p:sp>
      <p:sp>
        <p:nvSpPr>
          <p:cNvPr id="31" name="Rectangle 30">
            <a:extLst>
              <a:ext uri="{FF2B5EF4-FFF2-40B4-BE49-F238E27FC236}">
                <a16:creationId xmlns:a16="http://schemas.microsoft.com/office/drawing/2014/main" id="{AF3108BA-1CEF-DB34-B014-79F2518CCE05}"/>
              </a:ext>
            </a:extLst>
          </p:cNvPr>
          <p:cNvSpPr/>
          <p:nvPr/>
        </p:nvSpPr>
        <p:spPr>
          <a:xfrm>
            <a:off x="532510" y="8897227"/>
            <a:ext cx="3388137" cy="355984"/>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Follow the directions to add the filename.</a:t>
            </a:r>
          </a:p>
        </p:txBody>
      </p:sp>
      <p:cxnSp>
        <p:nvCxnSpPr>
          <p:cNvPr id="32" name="Straight Arrow Connector 31">
            <a:extLst>
              <a:ext uri="{FF2B5EF4-FFF2-40B4-BE49-F238E27FC236}">
                <a16:creationId xmlns:a16="http://schemas.microsoft.com/office/drawing/2014/main" id="{ABAF79E6-7B26-0676-82AB-51D4ED198383}"/>
              </a:ext>
            </a:extLst>
          </p:cNvPr>
          <p:cNvCxnSpPr>
            <a:cxnSpLocks/>
          </p:cNvCxnSpPr>
          <p:nvPr/>
        </p:nvCxnSpPr>
        <p:spPr>
          <a:xfrm flipV="1">
            <a:off x="2226578" y="8741314"/>
            <a:ext cx="363176" cy="15195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34" name="Straight Arrow Connector 33">
            <a:extLst>
              <a:ext uri="{FF2B5EF4-FFF2-40B4-BE49-F238E27FC236}">
                <a16:creationId xmlns:a16="http://schemas.microsoft.com/office/drawing/2014/main" id="{FB6112D5-EA45-A79F-2B65-4D08111D6A17}"/>
              </a:ext>
            </a:extLst>
          </p:cNvPr>
          <p:cNvCxnSpPr>
            <a:cxnSpLocks/>
            <a:stCxn id="31" idx="0"/>
          </p:cNvCxnSpPr>
          <p:nvPr/>
        </p:nvCxnSpPr>
        <p:spPr>
          <a:xfrm flipH="1" flipV="1">
            <a:off x="1069611" y="8614854"/>
            <a:ext cx="1156968" cy="282373"/>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890904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Lesson Template</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190475"/>
          </a:xfrm>
        </p:spPr>
        <p:txBody>
          <a:bodyPr/>
          <a:lstStyle/>
          <a:p>
            <a:pPr marL="0" indent="0" algn="ctr">
              <a:buNone/>
            </a:pPr>
            <a:r>
              <a:rPr lang="en-US" sz="1600" dirty="0"/>
              <a:t>5</a:t>
            </a:r>
          </a:p>
        </p:txBody>
      </p:sp>
      <p:pic>
        <p:nvPicPr>
          <p:cNvPr id="5" name="Picture 4">
            <a:extLst>
              <a:ext uri="{FF2B5EF4-FFF2-40B4-BE49-F238E27FC236}">
                <a16:creationId xmlns:a16="http://schemas.microsoft.com/office/drawing/2014/main" id="{713C86B0-848A-C160-840C-6600E971E91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53080" y="1916461"/>
            <a:ext cx="4472920" cy="6479999"/>
          </a:xfrm>
          <a:prstGeom prst="rect">
            <a:avLst/>
          </a:prstGeom>
        </p:spPr>
      </p:pic>
      <p:sp>
        <p:nvSpPr>
          <p:cNvPr id="9" name="Rectangle 8">
            <a:extLst>
              <a:ext uri="{FF2B5EF4-FFF2-40B4-BE49-F238E27FC236}">
                <a16:creationId xmlns:a16="http://schemas.microsoft.com/office/drawing/2014/main" id="{B2BC8F66-4AF5-CF44-29EF-0614B9CED34E}"/>
              </a:ext>
            </a:extLst>
          </p:cNvPr>
          <p:cNvSpPr/>
          <p:nvPr/>
        </p:nvSpPr>
        <p:spPr>
          <a:xfrm>
            <a:off x="4726000" y="2071602"/>
            <a:ext cx="1728766" cy="989577"/>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Continued notes about the Pre-Lesson Engagement section.</a:t>
            </a:r>
          </a:p>
        </p:txBody>
      </p:sp>
      <p:sp>
        <p:nvSpPr>
          <p:cNvPr id="10" name="Rectangle 9">
            <a:extLst>
              <a:ext uri="{FF2B5EF4-FFF2-40B4-BE49-F238E27FC236}">
                <a16:creationId xmlns:a16="http://schemas.microsoft.com/office/drawing/2014/main" id="{EB08E8A0-BF79-D207-6B5E-73C1F0E02FF2}"/>
              </a:ext>
            </a:extLst>
          </p:cNvPr>
          <p:cNvSpPr/>
          <p:nvPr/>
        </p:nvSpPr>
        <p:spPr>
          <a:xfrm>
            <a:off x="4726000" y="5088737"/>
            <a:ext cx="1728766" cy="1147556"/>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Teaching notes for the Warm-up section.           If more space is needed, you can create a new page. </a:t>
            </a:r>
          </a:p>
        </p:txBody>
      </p:sp>
      <p:sp>
        <p:nvSpPr>
          <p:cNvPr id="11" name="Rectangle 10">
            <a:extLst>
              <a:ext uri="{FF2B5EF4-FFF2-40B4-BE49-F238E27FC236}">
                <a16:creationId xmlns:a16="http://schemas.microsoft.com/office/drawing/2014/main" id="{C74A6DE0-66AD-ADB6-40A3-6C6E4EC7D946}"/>
              </a:ext>
            </a:extLst>
          </p:cNvPr>
          <p:cNvSpPr/>
          <p:nvPr/>
        </p:nvSpPr>
        <p:spPr>
          <a:xfrm>
            <a:off x="4704723" y="6436965"/>
            <a:ext cx="1728766" cy="2456514"/>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For the rest of the teacher pages, you will need to complete the purpose statements yourself. </a:t>
            </a:r>
            <a:br>
              <a:rPr lang="en-US" sz="1200" b="1" dirty="0">
                <a:solidFill>
                  <a:sysClr val="windowText" lastClr="000000"/>
                </a:solidFill>
              </a:rPr>
            </a:br>
            <a:br>
              <a:rPr lang="en-US" sz="1200" b="1" dirty="0">
                <a:solidFill>
                  <a:sysClr val="windowText" lastClr="000000"/>
                </a:solidFill>
              </a:rPr>
            </a:br>
            <a:r>
              <a:rPr lang="en-US" sz="1200" b="1" dirty="0">
                <a:solidFill>
                  <a:sysClr val="windowText" lastClr="000000"/>
                </a:solidFill>
              </a:rPr>
              <a:t>This is not what to do, but </a:t>
            </a:r>
            <a:r>
              <a:rPr lang="en-US" sz="1200" b="1" u="sng" dirty="0">
                <a:solidFill>
                  <a:sysClr val="windowText" lastClr="000000"/>
                </a:solidFill>
              </a:rPr>
              <a:t>WHY</a:t>
            </a:r>
            <a:r>
              <a:rPr lang="en-US" sz="1200" b="1" dirty="0">
                <a:solidFill>
                  <a:sysClr val="windowText" lastClr="000000"/>
                </a:solidFill>
              </a:rPr>
              <a:t> students are doing it. What is the desired outcome of the activity?</a:t>
            </a:r>
          </a:p>
        </p:txBody>
      </p:sp>
      <p:cxnSp>
        <p:nvCxnSpPr>
          <p:cNvPr id="12" name="Straight Arrow Connector 11">
            <a:extLst>
              <a:ext uri="{FF2B5EF4-FFF2-40B4-BE49-F238E27FC236}">
                <a16:creationId xmlns:a16="http://schemas.microsoft.com/office/drawing/2014/main" id="{A21AFA63-7158-3106-39B7-3582979A5B6A}"/>
              </a:ext>
            </a:extLst>
          </p:cNvPr>
          <p:cNvCxnSpPr>
            <a:cxnSpLocks/>
          </p:cNvCxnSpPr>
          <p:nvPr/>
        </p:nvCxnSpPr>
        <p:spPr>
          <a:xfrm flipH="1" flipV="1">
            <a:off x="3043825" y="5730241"/>
            <a:ext cx="1660898" cy="1934981"/>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5" name="Rectangle 14">
            <a:extLst>
              <a:ext uri="{FF2B5EF4-FFF2-40B4-BE49-F238E27FC236}">
                <a16:creationId xmlns:a16="http://schemas.microsoft.com/office/drawing/2014/main" id="{9F93AF24-3790-E912-9D55-77493D6E45CE}"/>
              </a:ext>
            </a:extLst>
          </p:cNvPr>
          <p:cNvSpPr/>
          <p:nvPr/>
        </p:nvSpPr>
        <p:spPr>
          <a:xfrm>
            <a:off x="1227380" y="1345889"/>
            <a:ext cx="3477343" cy="43180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This will automatically update for all the pages after you do it on the first page.</a:t>
            </a:r>
          </a:p>
        </p:txBody>
      </p:sp>
      <p:cxnSp>
        <p:nvCxnSpPr>
          <p:cNvPr id="16" name="Straight Arrow Connector 15">
            <a:extLst>
              <a:ext uri="{FF2B5EF4-FFF2-40B4-BE49-F238E27FC236}">
                <a16:creationId xmlns:a16="http://schemas.microsoft.com/office/drawing/2014/main" id="{D334D9B0-B0FB-B450-0318-7AD0B2B11CF0}"/>
              </a:ext>
            </a:extLst>
          </p:cNvPr>
          <p:cNvCxnSpPr>
            <a:cxnSpLocks/>
          </p:cNvCxnSpPr>
          <p:nvPr/>
        </p:nvCxnSpPr>
        <p:spPr>
          <a:xfrm flipH="1">
            <a:off x="2179529" y="1768432"/>
            <a:ext cx="623073" cy="465066"/>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4" name="Rectangle 3">
            <a:extLst>
              <a:ext uri="{FF2B5EF4-FFF2-40B4-BE49-F238E27FC236}">
                <a16:creationId xmlns:a16="http://schemas.microsoft.com/office/drawing/2014/main" id="{AEF7CC59-D533-91B8-29C6-79B30DBCEF95}"/>
              </a:ext>
            </a:extLst>
          </p:cNvPr>
          <p:cNvSpPr/>
          <p:nvPr/>
        </p:nvSpPr>
        <p:spPr>
          <a:xfrm>
            <a:off x="4726000" y="3344513"/>
            <a:ext cx="1707489" cy="1334462"/>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Approximate timings are also given. (These timings follow the percentage breakdown for a 50 minute lesson)</a:t>
            </a:r>
          </a:p>
        </p:txBody>
      </p:sp>
      <p:cxnSp>
        <p:nvCxnSpPr>
          <p:cNvPr id="6" name="Straight Arrow Connector 5">
            <a:extLst>
              <a:ext uri="{FF2B5EF4-FFF2-40B4-BE49-F238E27FC236}">
                <a16:creationId xmlns:a16="http://schemas.microsoft.com/office/drawing/2014/main" id="{1F6A9EB9-ACEE-603A-BB2C-1A49AFEDCF0B}"/>
              </a:ext>
            </a:extLst>
          </p:cNvPr>
          <p:cNvCxnSpPr>
            <a:cxnSpLocks/>
            <a:stCxn id="4" idx="1"/>
          </p:cNvCxnSpPr>
          <p:nvPr/>
        </p:nvCxnSpPr>
        <p:spPr>
          <a:xfrm flipH="1">
            <a:off x="1440493" y="4011744"/>
            <a:ext cx="3285507" cy="1215282"/>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065387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Lesson Template</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190475"/>
          </a:xfrm>
        </p:spPr>
        <p:txBody>
          <a:bodyPr/>
          <a:lstStyle/>
          <a:p>
            <a:pPr marL="0" indent="0" algn="ctr">
              <a:buNone/>
            </a:pPr>
            <a:r>
              <a:rPr lang="en-US" sz="1600" dirty="0"/>
              <a:t>6</a:t>
            </a:r>
          </a:p>
        </p:txBody>
      </p:sp>
      <p:pic>
        <p:nvPicPr>
          <p:cNvPr id="6" name="Picture 5">
            <a:extLst>
              <a:ext uri="{FF2B5EF4-FFF2-40B4-BE49-F238E27FC236}">
                <a16:creationId xmlns:a16="http://schemas.microsoft.com/office/drawing/2014/main" id="{BBBB0171-BE53-00EE-CA94-CABBA83079B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15274" y="2125146"/>
            <a:ext cx="4472919" cy="6479998"/>
          </a:xfrm>
          <a:prstGeom prst="rect">
            <a:avLst/>
          </a:prstGeom>
        </p:spPr>
      </p:pic>
      <p:sp>
        <p:nvSpPr>
          <p:cNvPr id="9" name="Rectangle 8">
            <a:extLst>
              <a:ext uri="{FF2B5EF4-FFF2-40B4-BE49-F238E27FC236}">
                <a16:creationId xmlns:a16="http://schemas.microsoft.com/office/drawing/2014/main" id="{12E23C0C-EE7F-CB20-0819-44CB9D27A204}"/>
              </a:ext>
            </a:extLst>
          </p:cNvPr>
          <p:cNvSpPr/>
          <p:nvPr/>
        </p:nvSpPr>
        <p:spPr>
          <a:xfrm>
            <a:off x="520004" y="1394531"/>
            <a:ext cx="3606800" cy="519643"/>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Important reminders for each section of the lesson are included under “Notes”.</a:t>
            </a:r>
          </a:p>
        </p:txBody>
      </p:sp>
      <p:cxnSp>
        <p:nvCxnSpPr>
          <p:cNvPr id="12" name="Straight Arrow Connector 11">
            <a:extLst>
              <a:ext uri="{FF2B5EF4-FFF2-40B4-BE49-F238E27FC236}">
                <a16:creationId xmlns:a16="http://schemas.microsoft.com/office/drawing/2014/main" id="{54E5AAC8-6AB6-2892-C292-694077E4BF51}"/>
              </a:ext>
            </a:extLst>
          </p:cNvPr>
          <p:cNvCxnSpPr>
            <a:cxnSpLocks/>
            <a:stCxn id="9" idx="2"/>
          </p:cNvCxnSpPr>
          <p:nvPr/>
        </p:nvCxnSpPr>
        <p:spPr>
          <a:xfrm flipH="1">
            <a:off x="989556" y="1914174"/>
            <a:ext cx="1333848" cy="1389104"/>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4" name="Rectangle 13">
            <a:extLst>
              <a:ext uri="{FF2B5EF4-FFF2-40B4-BE49-F238E27FC236}">
                <a16:creationId xmlns:a16="http://schemas.microsoft.com/office/drawing/2014/main" id="{E019881E-2259-315F-3EB8-3934FE0DE0A3}"/>
              </a:ext>
            </a:extLst>
          </p:cNvPr>
          <p:cNvSpPr/>
          <p:nvPr/>
        </p:nvSpPr>
        <p:spPr>
          <a:xfrm>
            <a:off x="4711346" y="1420553"/>
            <a:ext cx="1728766" cy="188272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Only the Target Skill / Language section needs to be completed by the lesson planner.</a:t>
            </a:r>
            <a:br>
              <a:rPr lang="en-US" sz="1200" b="1" dirty="0">
                <a:solidFill>
                  <a:sysClr val="windowText" lastClr="000000"/>
                </a:solidFill>
              </a:rPr>
            </a:br>
            <a:endParaRPr lang="en-US" sz="1200" b="1" dirty="0">
              <a:solidFill>
                <a:sysClr val="windowText" lastClr="000000"/>
              </a:solidFill>
            </a:endParaRPr>
          </a:p>
          <a:p>
            <a:pPr algn="ctr"/>
            <a:r>
              <a:rPr lang="en-US" sz="1200" b="1" dirty="0">
                <a:solidFill>
                  <a:sysClr val="windowText" lastClr="000000"/>
                </a:solidFill>
              </a:rPr>
              <a:t>Boardwork Preparation Notes are for teachers to complete before class.</a:t>
            </a:r>
          </a:p>
        </p:txBody>
      </p:sp>
      <p:cxnSp>
        <p:nvCxnSpPr>
          <p:cNvPr id="17" name="Straight Arrow Connector 16">
            <a:extLst>
              <a:ext uri="{FF2B5EF4-FFF2-40B4-BE49-F238E27FC236}">
                <a16:creationId xmlns:a16="http://schemas.microsoft.com/office/drawing/2014/main" id="{FCD2EC20-DA9A-5FA1-631E-6AB44D1423F1}"/>
              </a:ext>
            </a:extLst>
          </p:cNvPr>
          <p:cNvCxnSpPr>
            <a:cxnSpLocks/>
            <a:stCxn id="21" idx="0"/>
          </p:cNvCxnSpPr>
          <p:nvPr/>
        </p:nvCxnSpPr>
        <p:spPr>
          <a:xfrm flipH="1" flipV="1">
            <a:off x="4711346" y="4734838"/>
            <a:ext cx="941230" cy="1698215"/>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1" name="Rectangle 20">
            <a:extLst>
              <a:ext uri="{FF2B5EF4-FFF2-40B4-BE49-F238E27FC236}">
                <a16:creationId xmlns:a16="http://schemas.microsoft.com/office/drawing/2014/main" id="{7F414A54-A1BA-8CB2-DD47-590D6F2B80C8}"/>
              </a:ext>
            </a:extLst>
          </p:cNvPr>
          <p:cNvSpPr/>
          <p:nvPr/>
        </p:nvSpPr>
        <p:spPr>
          <a:xfrm>
            <a:off x="4788193" y="6433053"/>
            <a:ext cx="1728766" cy="2052394"/>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The yellow box should be placed over any teaching review slide on the lesson (PPT).</a:t>
            </a:r>
            <a:br>
              <a:rPr lang="en-US" sz="1200" b="1" dirty="0">
                <a:solidFill>
                  <a:sysClr val="windowText" lastClr="000000"/>
                </a:solidFill>
              </a:rPr>
            </a:br>
            <a:br>
              <a:rPr lang="en-US" sz="1200" b="1" dirty="0">
                <a:solidFill>
                  <a:sysClr val="windowText" lastClr="000000"/>
                </a:solidFill>
              </a:rPr>
            </a:br>
            <a:r>
              <a:rPr lang="en-US" sz="1200" b="1" dirty="0">
                <a:solidFill>
                  <a:sysClr val="windowText" lastClr="000000"/>
                </a:solidFill>
              </a:rPr>
              <a:t>It is included in the (DOC) template for convenience</a:t>
            </a:r>
          </a:p>
          <a:p>
            <a:pPr algn="ctr"/>
            <a:endParaRPr lang="en-US" sz="1200" b="1" dirty="0">
              <a:solidFill>
                <a:sysClr val="windowText" lastClr="000000"/>
              </a:solidFill>
            </a:endParaRPr>
          </a:p>
          <a:p>
            <a:pPr algn="ctr"/>
            <a:r>
              <a:rPr lang="en-US" sz="1200" b="1" dirty="0">
                <a:solidFill>
                  <a:sysClr val="windowText" lastClr="000000"/>
                </a:solidFill>
              </a:rPr>
              <a:t>Refer to the example lesson PPT.</a:t>
            </a:r>
          </a:p>
        </p:txBody>
      </p:sp>
    </p:spTree>
    <p:extLst>
      <p:ext uri="{BB962C8B-B14F-4D97-AF65-F5344CB8AC3E}">
        <p14:creationId xmlns:p14="http://schemas.microsoft.com/office/powerpoint/2010/main" val="911993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D300B-0D3F-A687-088F-F2BEF83F658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6AAE1D-A4CD-CD36-3088-92D492CC9CE5}"/>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Lesson Template</a:t>
            </a:r>
          </a:p>
        </p:txBody>
      </p:sp>
      <p:sp>
        <p:nvSpPr>
          <p:cNvPr id="3" name="Text Placeholder 2">
            <a:extLst>
              <a:ext uri="{FF2B5EF4-FFF2-40B4-BE49-F238E27FC236}">
                <a16:creationId xmlns:a16="http://schemas.microsoft.com/office/drawing/2014/main" id="{06072C5A-C1BF-C028-A8F8-6D5943ECBD92}"/>
              </a:ext>
            </a:extLst>
          </p:cNvPr>
          <p:cNvSpPr>
            <a:spLocks noGrp="1"/>
          </p:cNvSpPr>
          <p:nvPr>
            <p:ph type="body" sz="quarter" idx="11"/>
          </p:nvPr>
        </p:nvSpPr>
        <p:spPr>
          <a:xfrm>
            <a:off x="3187700" y="9347026"/>
            <a:ext cx="482600" cy="190475"/>
          </a:xfrm>
        </p:spPr>
        <p:txBody>
          <a:bodyPr/>
          <a:lstStyle/>
          <a:p>
            <a:pPr marL="0" indent="0" algn="ctr">
              <a:buNone/>
            </a:pPr>
            <a:r>
              <a:rPr lang="en-US" sz="1600" dirty="0"/>
              <a:t>7</a:t>
            </a:r>
          </a:p>
        </p:txBody>
      </p:sp>
      <p:pic>
        <p:nvPicPr>
          <p:cNvPr id="6" name="Picture 5">
            <a:extLst>
              <a:ext uri="{FF2B5EF4-FFF2-40B4-BE49-F238E27FC236}">
                <a16:creationId xmlns:a16="http://schemas.microsoft.com/office/drawing/2014/main" id="{80DC7D94-EAF0-7E58-7CBE-ED45C8C2210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15274" y="2125146"/>
            <a:ext cx="4472919" cy="6479998"/>
          </a:xfrm>
          <a:prstGeom prst="rect">
            <a:avLst/>
          </a:prstGeom>
        </p:spPr>
      </p:pic>
      <p:sp>
        <p:nvSpPr>
          <p:cNvPr id="10" name="Rectangle 9">
            <a:extLst>
              <a:ext uri="{FF2B5EF4-FFF2-40B4-BE49-F238E27FC236}">
                <a16:creationId xmlns:a16="http://schemas.microsoft.com/office/drawing/2014/main" id="{A472653F-3E83-FDA1-D999-F6DE37E36B52}"/>
              </a:ext>
            </a:extLst>
          </p:cNvPr>
          <p:cNvSpPr/>
          <p:nvPr/>
        </p:nvSpPr>
        <p:spPr>
          <a:xfrm>
            <a:off x="4788193" y="4385194"/>
            <a:ext cx="1571694" cy="1135612"/>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You can add or remove parts for each section as needed.</a:t>
            </a:r>
          </a:p>
        </p:txBody>
      </p:sp>
      <p:cxnSp>
        <p:nvCxnSpPr>
          <p:cNvPr id="11" name="Straight Arrow Connector 10">
            <a:extLst>
              <a:ext uri="{FF2B5EF4-FFF2-40B4-BE49-F238E27FC236}">
                <a16:creationId xmlns:a16="http://schemas.microsoft.com/office/drawing/2014/main" id="{A6223623-0CDC-AF81-E88F-BF6EC3AC6457}"/>
              </a:ext>
            </a:extLst>
          </p:cNvPr>
          <p:cNvCxnSpPr>
            <a:cxnSpLocks/>
          </p:cNvCxnSpPr>
          <p:nvPr/>
        </p:nvCxnSpPr>
        <p:spPr>
          <a:xfrm flipH="1" flipV="1">
            <a:off x="3827338" y="3871084"/>
            <a:ext cx="960855" cy="1081916"/>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AFF8EA1E-07BA-631B-0B1D-FF54DF127573}"/>
              </a:ext>
            </a:extLst>
          </p:cNvPr>
          <p:cNvCxnSpPr>
            <a:cxnSpLocks/>
          </p:cNvCxnSpPr>
          <p:nvPr/>
        </p:nvCxnSpPr>
        <p:spPr>
          <a:xfrm flipH="1" flipV="1">
            <a:off x="3827337" y="4696209"/>
            <a:ext cx="960856" cy="256791"/>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8" name="Rectangle 17">
            <a:extLst>
              <a:ext uri="{FF2B5EF4-FFF2-40B4-BE49-F238E27FC236}">
                <a16:creationId xmlns:a16="http://schemas.microsoft.com/office/drawing/2014/main" id="{969AAD42-05C4-441D-40A9-DF8616EB2933}"/>
              </a:ext>
            </a:extLst>
          </p:cNvPr>
          <p:cNvSpPr/>
          <p:nvPr/>
        </p:nvSpPr>
        <p:spPr>
          <a:xfrm>
            <a:off x="2177441" y="6325566"/>
            <a:ext cx="4182446" cy="1563396"/>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The rest of the teacher pages follow the same format.</a:t>
            </a:r>
          </a:p>
        </p:txBody>
      </p:sp>
      <p:sp>
        <p:nvSpPr>
          <p:cNvPr id="9" name="Rectangle 8">
            <a:extLst>
              <a:ext uri="{FF2B5EF4-FFF2-40B4-BE49-F238E27FC236}">
                <a16:creationId xmlns:a16="http://schemas.microsoft.com/office/drawing/2014/main" id="{2B12EDA6-23C0-BAF4-E88F-BAAB4D8CF939}"/>
              </a:ext>
            </a:extLst>
          </p:cNvPr>
          <p:cNvSpPr/>
          <p:nvPr/>
        </p:nvSpPr>
        <p:spPr>
          <a:xfrm>
            <a:off x="1384300" y="1383264"/>
            <a:ext cx="4177256" cy="593797"/>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Key Instructions should be simple one sentence explanations. More detailed instructions or considerations can be provided under Additional Notes.</a:t>
            </a:r>
          </a:p>
        </p:txBody>
      </p:sp>
      <p:cxnSp>
        <p:nvCxnSpPr>
          <p:cNvPr id="12" name="Straight Arrow Connector 11">
            <a:extLst>
              <a:ext uri="{FF2B5EF4-FFF2-40B4-BE49-F238E27FC236}">
                <a16:creationId xmlns:a16="http://schemas.microsoft.com/office/drawing/2014/main" id="{83B6594D-DDCB-E2AA-A978-AC4E25AC0022}"/>
              </a:ext>
            </a:extLst>
          </p:cNvPr>
          <p:cNvCxnSpPr>
            <a:cxnSpLocks/>
          </p:cNvCxnSpPr>
          <p:nvPr/>
        </p:nvCxnSpPr>
        <p:spPr>
          <a:xfrm flipH="1">
            <a:off x="1189973" y="1961486"/>
            <a:ext cx="1997727" cy="1508224"/>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69863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Lesson Template</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222859"/>
          </a:xfrm>
        </p:spPr>
        <p:txBody>
          <a:bodyPr/>
          <a:lstStyle/>
          <a:p>
            <a:pPr marL="0" indent="0" algn="ctr">
              <a:buNone/>
            </a:pPr>
            <a:r>
              <a:rPr lang="en-US" sz="1600" dirty="0"/>
              <a:t>8</a:t>
            </a:r>
          </a:p>
        </p:txBody>
      </p:sp>
      <p:pic>
        <p:nvPicPr>
          <p:cNvPr id="4" name="Picture 3">
            <a:extLst>
              <a:ext uri="{FF2B5EF4-FFF2-40B4-BE49-F238E27FC236}">
                <a16:creationId xmlns:a16="http://schemas.microsoft.com/office/drawing/2014/main" id="{CB9653D7-D847-C6E0-1ED9-34AF9CD211D7}"/>
              </a:ext>
            </a:extLst>
          </p:cNvPr>
          <p:cNvPicPr>
            <a:picLocks noChangeAspect="1"/>
          </p:cNvPicPr>
          <p:nvPr/>
        </p:nvPicPr>
        <p:blipFill>
          <a:blip r:embed="rId2"/>
          <a:stretch>
            <a:fillRect/>
          </a:stretch>
        </p:blipFill>
        <p:spPr>
          <a:xfrm>
            <a:off x="1192540" y="2370829"/>
            <a:ext cx="4472920" cy="6480000"/>
          </a:xfrm>
          <a:prstGeom prst="rect">
            <a:avLst/>
          </a:prstGeom>
        </p:spPr>
      </p:pic>
      <p:sp>
        <p:nvSpPr>
          <p:cNvPr id="5" name="TextBox 4">
            <a:extLst>
              <a:ext uri="{FF2B5EF4-FFF2-40B4-BE49-F238E27FC236}">
                <a16:creationId xmlns:a16="http://schemas.microsoft.com/office/drawing/2014/main" id="{18E764D6-4B5B-B0E2-0533-451C6B3C3A9D}"/>
              </a:ext>
            </a:extLst>
          </p:cNvPr>
          <p:cNvSpPr txBox="1"/>
          <p:nvPr/>
        </p:nvSpPr>
        <p:spPr>
          <a:xfrm>
            <a:off x="485775" y="1252864"/>
            <a:ext cx="5886450" cy="830997"/>
          </a:xfrm>
          <a:prstGeom prst="rect">
            <a:avLst/>
          </a:prstGeom>
          <a:noFill/>
        </p:spPr>
        <p:txBody>
          <a:bodyPr wrap="square" rtlCol="0">
            <a:spAutoFit/>
          </a:bodyPr>
          <a:lstStyle/>
          <a:p>
            <a:pPr>
              <a:spcAft>
                <a:spcPts val="600"/>
              </a:spcAft>
            </a:pPr>
            <a:r>
              <a:rPr lang="en-GB" sz="1200" dirty="0">
                <a:latin typeface="Calibri" panose="020F0502020204030204" pitchFamily="34" charset="0"/>
                <a:ea typeface="Arial Unicode MS"/>
                <a:cs typeface="Arial Unicode MS"/>
              </a:rPr>
              <a:t>For the student worksheets, you can delete pages if they are not required. However, please ensure that you have </a:t>
            </a:r>
            <a:r>
              <a:rPr lang="en-GB" sz="1200" b="1" dirty="0">
                <a:latin typeface="Calibri" panose="020F0502020204030204" pitchFamily="34" charset="0"/>
                <a:ea typeface="Arial Unicode MS"/>
                <a:cs typeface="Arial Unicode MS"/>
              </a:rPr>
              <a:t>at least 1-2 pages of worksheets for students</a:t>
            </a:r>
            <a:r>
              <a:rPr lang="en-GB" sz="1200" dirty="0">
                <a:latin typeface="Calibri" panose="020F0502020204030204" pitchFamily="34" charset="0"/>
                <a:ea typeface="Arial Unicode MS"/>
                <a:cs typeface="Arial Unicode MS"/>
              </a:rPr>
              <a:t>. Worksheets are needed so that students can practice on paper, students have materials to reference, and also so that parents can see what they have done in our class time.</a:t>
            </a:r>
            <a:endParaRPr lang="en-GB" sz="1200" b="1" dirty="0">
              <a:effectLst/>
              <a:latin typeface="Calibri" panose="020F0502020204030204" pitchFamily="34" charset="0"/>
              <a:ea typeface="Arial Unicode MS"/>
              <a:cs typeface="Arial Unicode MS"/>
            </a:endParaRPr>
          </a:p>
        </p:txBody>
      </p:sp>
      <p:sp>
        <p:nvSpPr>
          <p:cNvPr id="6" name="Rectangle 5">
            <a:extLst>
              <a:ext uri="{FF2B5EF4-FFF2-40B4-BE49-F238E27FC236}">
                <a16:creationId xmlns:a16="http://schemas.microsoft.com/office/drawing/2014/main" id="{4BBB2F0B-12A4-32BC-F3F1-EE00EFCA3327}"/>
              </a:ext>
            </a:extLst>
          </p:cNvPr>
          <p:cNvSpPr/>
          <p:nvPr/>
        </p:nvSpPr>
        <p:spPr>
          <a:xfrm>
            <a:off x="3670300" y="2200309"/>
            <a:ext cx="2701925" cy="59299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An instruction / directions box.</a:t>
            </a:r>
          </a:p>
          <a:p>
            <a:pPr algn="ctr"/>
            <a:r>
              <a:rPr lang="en-US" sz="1200" b="1" dirty="0">
                <a:solidFill>
                  <a:sysClr val="windowText" lastClr="000000"/>
                </a:solidFill>
              </a:rPr>
              <a:t> Ensure that instructions are simple so that all students can understand easily.</a:t>
            </a:r>
          </a:p>
        </p:txBody>
      </p:sp>
      <p:cxnSp>
        <p:nvCxnSpPr>
          <p:cNvPr id="7" name="Straight Arrow Connector 6">
            <a:extLst>
              <a:ext uri="{FF2B5EF4-FFF2-40B4-BE49-F238E27FC236}">
                <a16:creationId xmlns:a16="http://schemas.microsoft.com/office/drawing/2014/main" id="{1094FF3B-6380-1AFB-A7EB-D81E3E054666}"/>
              </a:ext>
            </a:extLst>
          </p:cNvPr>
          <p:cNvCxnSpPr>
            <a:cxnSpLocks/>
            <a:stCxn id="6" idx="2"/>
          </p:cNvCxnSpPr>
          <p:nvPr/>
        </p:nvCxnSpPr>
        <p:spPr>
          <a:xfrm flipH="1">
            <a:off x="2948572" y="2793304"/>
            <a:ext cx="2072691" cy="81314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348999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6AA52-629B-EE71-0E07-3AA8567F3D3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DFD9DE2-7B5B-A76F-C1A5-649BDDB54A07}"/>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Lesson Template</a:t>
            </a:r>
          </a:p>
        </p:txBody>
      </p:sp>
      <p:sp>
        <p:nvSpPr>
          <p:cNvPr id="3" name="Text Placeholder 2">
            <a:extLst>
              <a:ext uri="{FF2B5EF4-FFF2-40B4-BE49-F238E27FC236}">
                <a16:creationId xmlns:a16="http://schemas.microsoft.com/office/drawing/2014/main" id="{0E8B2CA5-191B-C074-F36B-BA9C75319B24}"/>
              </a:ext>
            </a:extLst>
          </p:cNvPr>
          <p:cNvSpPr>
            <a:spLocks noGrp="1"/>
          </p:cNvSpPr>
          <p:nvPr>
            <p:ph type="body" sz="quarter" idx="11"/>
          </p:nvPr>
        </p:nvSpPr>
        <p:spPr>
          <a:xfrm>
            <a:off x="3187700" y="9347026"/>
            <a:ext cx="482600" cy="222859"/>
          </a:xfrm>
        </p:spPr>
        <p:txBody>
          <a:bodyPr/>
          <a:lstStyle/>
          <a:p>
            <a:pPr marL="0" indent="0" algn="ctr">
              <a:buNone/>
            </a:pPr>
            <a:r>
              <a:rPr lang="en-US" sz="1600" dirty="0"/>
              <a:t>9</a:t>
            </a:r>
          </a:p>
        </p:txBody>
      </p:sp>
      <p:pic>
        <p:nvPicPr>
          <p:cNvPr id="4" name="Picture 3">
            <a:extLst>
              <a:ext uri="{FF2B5EF4-FFF2-40B4-BE49-F238E27FC236}">
                <a16:creationId xmlns:a16="http://schemas.microsoft.com/office/drawing/2014/main" id="{64C2EF5B-8C1F-59F2-FD9B-2E6871AC536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92540" y="2370829"/>
            <a:ext cx="4472920" cy="6479999"/>
          </a:xfrm>
          <a:prstGeom prst="rect">
            <a:avLst/>
          </a:prstGeom>
        </p:spPr>
      </p:pic>
      <p:sp>
        <p:nvSpPr>
          <p:cNvPr id="5" name="TextBox 4">
            <a:extLst>
              <a:ext uri="{FF2B5EF4-FFF2-40B4-BE49-F238E27FC236}">
                <a16:creationId xmlns:a16="http://schemas.microsoft.com/office/drawing/2014/main" id="{4DE15C9D-72E3-2268-8710-F97D147943E8}"/>
              </a:ext>
            </a:extLst>
          </p:cNvPr>
          <p:cNvSpPr txBox="1"/>
          <p:nvPr/>
        </p:nvSpPr>
        <p:spPr>
          <a:xfrm>
            <a:off x="485775" y="1459132"/>
            <a:ext cx="5886450" cy="830997"/>
          </a:xfrm>
          <a:prstGeom prst="rect">
            <a:avLst/>
          </a:prstGeom>
          <a:noFill/>
        </p:spPr>
        <p:txBody>
          <a:bodyPr wrap="square" rtlCol="0">
            <a:spAutoFit/>
          </a:bodyPr>
          <a:lstStyle/>
          <a:p>
            <a:pPr>
              <a:spcAft>
                <a:spcPts val="600"/>
              </a:spcAft>
            </a:pPr>
            <a:r>
              <a:rPr lang="en-GB" sz="1200" dirty="0">
                <a:latin typeface="Calibri" panose="020F0502020204030204" pitchFamily="34" charset="0"/>
                <a:ea typeface="Arial Unicode MS"/>
                <a:cs typeface="Arial Unicode MS"/>
              </a:rPr>
              <a:t>This </a:t>
            </a:r>
            <a:r>
              <a:rPr lang="en-GB" sz="1200" b="1" dirty="0">
                <a:latin typeface="Calibri" panose="020F0502020204030204" pitchFamily="34" charset="0"/>
                <a:ea typeface="Arial Unicode MS"/>
                <a:cs typeface="Arial Unicode MS"/>
              </a:rPr>
              <a:t>Teaching Notes page </a:t>
            </a:r>
            <a:r>
              <a:rPr lang="en-GB" sz="1200" dirty="0">
                <a:latin typeface="Calibri" panose="020F0502020204030204" pitchFamily="34" charset="0"/>
                <a:ea typeface="Arial Unicode MS"/>
                <a:cs typeface="Arial Unicode MS"/>
              </a:rPr>
              <a:t>is included at the end of the instruction pages and are left blank for the teachers to make use for class preparation and for notes required during the class. Nothing is required on this page for lesson planning, please make us of it in your classes though!</a:t>
            </a:r>
            <a:endParaRPr lang="en-GB" sz="1200" dirty="0">
              <a:effectLst/>
              <a:latin typeface="Calibri" panose="020F0502020204030204" pitchFamily="34" charset="0"/>
              <a:ea typeface="Arial Unicode MS"/>
              <a:cs typeface="Arial Unicode MS"/>
            </a:endParaRPr>
          </a:p>
        </p:txBody>
      </p:sp>
    </p:spTree>
    <p:extLst>
      <p:ext uri="{BB962C8B-B14F-4D97-AF65-F5344CB8AC3E}">
        <p14:creationId xmlns:p14="http://schemas.microsoft.com/office/powerpoint/2010/main" val="2240181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Example Lesson</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190475"/>
          </a:xfrm>
        </p:spPr>
        <p:txBody>
          <a:bodyPr/>
          <a:lstStyle/>
          <a:p>
            <a:pPr marL="0" indent="0" algn="ctr">
              <a:buNone/>
            </a:pPr>
            <a:r>
              <a:rPr lang="en-US" sz="1600" dirty="0"/>
              <a:t>10</a:t>
            </a:r>
          </a:p>
        </p:txBody>
      </p:sp>
      <p:sp>
        <p:nvSpPr>
          <p:cNvPr id="7" name="TextBox 6">
            <a:extLst>
              <a:ext uri="{FF2B5EF4-FFF2-40B4-BE49-F238E27FC236}">
                <a16:creationId xmlns:a16="http://schemas.microsoft.com/office/drawing/2014/main" id="{F71D39B5-0E80-F22D-6003-7829674EEECD}"/>
              </a:ext>
            </a:extLst>
          </p:cNvPr>
          <p:cNvSpPr txBox="1"/>
          <p:nvPr/>
        </p:nvSpPr>
        <p:spPr>
          <a:xfrm>
            <a:off x="485775" y="1177708"/>
            <a:ext cx="5886450" cy="1538883"/>
          </a:xfrm>
          <a:prstGeom prst="rect">
            <a:avLst/>
          </a:prstGeom>
          <a:noFill/>
        </p:spPr>
        <p:txBody>
          <a:bodyPr wrap="square" rtlCol="0">
            <a:spAutoFit/>
          </a:bodyPr>
          <a:lstStyle/>
          <a:p>
            <a:pPr>
              <a:spcAft>
                <a:spcPts val="600"/>
              </a:spcAft>
            </a:pPr>
            <a:r>
              <a:rPr lang="en-GB" sz="1200" dirty="0">
                <a:effectLst/>
                <a:latin typeface="Calibri" panose="020F0502020204030204" pitchFamily="34" charset="0"/>
                <a:ea typeface="Arial Unicode MS"/>
                <a:cs typeface="Arial Unicode MS"/>
              </a:rPr>
              <a:t>Below is an example of a reading that the students may complete. When teaching our classes, we should be aiming for students to use key vocabulary and themes from the reading. </a:t>
            </a:r>
          </a:p>
          <a:p>
            <a:pPr>
              <a:spcAft>
                <a:spcPts val="600"/>
              </a:spcAft>
            </a:pPr>
            <a:r>
              <a:rPr lang="en-GB" sz="1200" dirty="0">
                <a:latin typeface="Calibri" panose="020F0502020204030204" pitchFamily="34" charset="0"/>
                <a:ea typeface="Arial Unicode MS"/>
                <a:cs typeface="Arial Unicode MS"/>
              </a:rPr>
              <a:t>On the following pages, you will find a lesson made for this unit. The lesson consists of the teacher pages, the student worksheets, and a corresponding PPT.</a:t>
            </a:r>
          </a:p>
          <a:p>
            <a:pPr>
              <a:spcAft>
                <a:spcPts val="600"/>
              </a:spcAft>
            </a:pPr>
            <a:r>
              <a:rPr lang="en-GB" sz="1200" dirty="0">
                <a:effectLst/>
                <a:latin typeface="Calibri" panose="020F0502020204030204" pitchFamily="34" charset="0"/>
                <a:ea typeface="Arial Unicode MS"/>
                <a:cs typeface="Arial Unicode MS"/>
              </a:rPr>
              <a:t>This is a speaking lesson made for the Basic &amp; Beginner levels of Grade 6 (Helios &amp; Poseidon). </a:t>
            </a:r>
          </a:p>
        </p:txBody>
      </p:sp>
      <p:grpSp>
        <p:nvGrpSpPr>
          <p:cNvPr id="12" name="Group 11">
            <a:extLst>
              <a:ext uri="{FF2B5EF4-FFF2-40B4-BE49-F238E27FC236}">
                <a16:creationId xmlns:a16="http://schemas.microsoft.com/office/drawing/2014/main" id="{884D0CA1-48DA-9D96-45F1-1BF5349BCBD0}"/>
              </a:ext>
            </a:extLst>
          </p:cNvPr>
          <p:cNvGrpSpPr/>
          <p:nvPr/>
        </p:nvGrpSpPr>
        <p:grpSpPr>
          <a:xfrm>
            <a:off x="918427" y="2766695"/>
            <a:ext cx="4926472" cy="6456257"/>
            <a:chOff x="781446" y="3158637"/>
            <a:chExt cx="4831798" cy="6332184"/>
          </a:xfrm>
        </p:grpSpPr>
        <p:pic>
          <p:nvPicPr>
            <p:cNvPr id="9" name="Picture 8">
              <a:extLst>
                <a:ext uri="{FF2B5EF4-FFF2-40B4-BE49-F238E27FC236}">
                  <a16:creationId xmlns:a16="http://schemas.microsoft.com/office/drawing/2014/main" id="{4CFCFA68-BAA0-BB35-B7AE-F92CA6904ABF}"/>
                </a:ext>
              </a:extLst>
            </p:cNvPr>
            <p:cNvPicPr>
              <a:picLocks noChangeAspect="1"/>
            </p:cNvPicPr>
            <p:nvPr/>
          </p:nvPicPr>
          <p:blipFill>
            <a:blip r:embed="rId2"/>
            <a:stretch>
              <a:fillRect/>
            </a:stretch>
          </p:blipFill>
          <p:spPr>
            <a:xfrm>
              <a:off x="781446" y="3158637"/>
              <a:ext cx="4831798" cy="3168000"/>
            </a:xfrm>
            <a:prstGeom prst="rect">
              <a:avLst/>
            </a:prstGeom>
          </p:spPr>
        </p:pic>
        <p:pic>
          <p:nvPicPr>
            <p:cNvPr id="11" name="Picture 10">
              <a:extLst>
                <a:ext uri="{FF2B5EF4-FFF2-40B4-BE49-F238E27FC236}">
                  <a16:creationId xmlns:a16="http://schemas.microsoft.com/office/drawing/2014/main" id="{5093749A-5F5D-D5C5-2C1C-AD20D2EB775D}"/>
                </a:ext>
              </a:extLst>
            </p:cNvPr>
            <p:cNvPicPr>
              <a:picLocks noChangeAspect="1"/>
            </p:cNvPicPr>
            <p:nvPr/>
          </p:nvPicPr>
          <p:blipFill>
            <a:blip r:embed="rId3"/>
            <a:stretch>
              <a:fillRect/>
            </a:stretch>
          </p:blipFill>
          <p:spPr>
            <a:xfrm>
              <a:off x="784485" y="6322821"/>
              <a:ext cx="4825721" cy="3168000"/>
            </a:xfrm>
            <a:prstGeom prst="rect">
              <a:avLst/>
            </a:prstGeom>
          </p:spPr>
        </p:pic>
      </p:grpSp>
    </p:spTree>
    <p:extLst>
      <p:ext uri="{BB962C8B-B14F-4D97-AF65-F5344CB8AC3E}">
        <p14:creationId xmlns:p14="http://schemas.microsoft.com/office/powerpoint/2010/main" val="247923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Example Lesson</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190475"/>
          </a:xfrm>
        </p:spPr>
        <p:txBody>
          <a:bodyPr/>
          <a:lstStyle/>
          <a:p>
            <a:pPr marL="0" indent="0" algn="ctr">
              <a:buNone/>
            </a:pPr>
            <a:r>
              <a:rPr lang="en-US" sz="1600" dirty="0"/>
              <a:t>11</a:t>
            </a:r>
          </a:p>
        </p:txBody>
      </p:sp>
      <p:cxnSp>
        <p:nvCxnSpPr>
          <p:cNvPr id="1026" name="AutoShape 2">
            <a:extLst>
              <a:ext uri="{FF2B5EF4-FFF2-40B4-BE49-F238E27FC236}">
                <a16:creationId xmlns:a16="http://schemas.microsoft.com/office/drawing/2014/main" id="{BA5AB3BA-A106-D016-7E8D-ED7F6C2E4E38}"/>
              </a:ext>
            </a:extLst>
          </p:cNvPr>
          <p:cNvCxnSpPr>
            <a:cxnSpLocks noChangeShapeType="1"/>
          </p:cNvCxnSpPr>
          <p:nvPr/>
        </p:nvCxnSpPr>
        <p:spPr bwMode="auto">
          <a:xfrm>
            <a:off x="4398398" y="1870329"/>
            <a:ext cx="7937" cy="1254125"/>
          </a:xfrm>
          <a:prstGeom prst="straightConnector1">
            <a:avLst/>
          </a:prstGeom>
          <a:noFill/>
          <a:ln w="9525">
            <a:solidFill>
              <a:srgbClr val="FFFFFF"/>
            </a:solidFill>
            <a:round/>
            <a:headEnd/>
            <a:tailEnd/>
          </a:ln>
          <a:extLst>
            <a:ext uri="{909E8E84-426E-40DD-AFC4-6F175D3DCCD1}">
              <a14:hiddenFill xmlns:a14="http://schemas.microsoft.com/office/drawing/2010/main">
                <a:noFill/>
              </a14:hiddenFill>
            </a:ext>
          </a:extLst>
        </p:spPr>
      </p:cxnSp>
      <p:pic>
        <p:nvPicPr>
          <p:cNvPr id="6" name="Picture 5">
            <a:extLst>
              <a:ext uri="{FF2B5EF4-FFF2-40B4-BE49-F238E27FC236}">
                <a16:creationId xmlns:a16="http://schemas.microsoft.com/office/drawing/2014/main" id="{FF056918-5A20-8CEF-4888-1382B7282A6D}"/>
              </a:ext>
            </a:extLst>
          </p:cNvPr>
          <p:cNvPicPr>
            <a:picLocks noChangeAspect="1"/>
          </p:cNvPicPr>
          <p:nvPr/>
        </p:nvPicPr>
        <p:blipFill rotWithShape="1">
          <a:blip r:embed="rId2">
            <a:extLst>
              <a:ext uri="{28A0092B-C50C-407E-A947-70E740481C1C}">
                <a14:useLocalDpi xmlns:a14="http://schemas.microsoft.com/office/drawing/2010/main" val="0"/>
              </a:ext>
            </a:extLst>
          </a:blip>
          <a:srcRect t="242" b="242"/>
          <a:stretch/>
        </p:blipFill>
        <p:spPr>
          <a:xfrm>
            <a:off x="635675" y="1292749"/>
            <a:ext cx="5586649" cy="8054277"/>
          </a:xfrm>
          <a:prstGeom prst="rect">
            <a:avLst/>
          </a:prstGeom>
        </p:spPr>
      </p:pic>
      <p:sp>
        <p:nvSpPr>
          <p:cNvPr id="4" name="Rectangle 3">
            <a:extLst>
              <a:ext uri="{FF2B5EF4-FFF2-40B4-BE49-F238E27FC236}">
                <a16:creationId xmlns:a16="http://schemas.microsoft.com/office/drawing/2014/main" id="{698232C1-A942-528B-D952-1B60B0EA4700}"/>
              </a:ext>
            </a:extLst>
          </p:cNvPr>
          <p:cNvSpPr/>
          <p:nvPr/>
        </p:nvSpPr>
        <p:spPr>
          <a:xfrm>
            <a:off x="2276476" y="3324225"/>
            <a:ext cx="2460628" cy="19047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ysClr val="windowText" lastClr="000000"/>
                </a:solidFill>
              </a:rPr>
              <a:t>SWBAT – Students will be able to …</a:t>
            </a:r>
          </a:p>
        </p:txBody>
      </p:sp>
      <p:cxnSp>
        <p:nvCxnSpPr>
          <p:cNvPr id="9" name="Connector: Elbow 8">
            <a:extLst>
              <a:ext uri="{FF2B5EF4-FFF2-40B4-BE49-F238E27FC236}">
                <a16:creationId xmlns:a16="http://schemas.microsoft.com/office/drawing/2014/main" id="{07AF90AD-0355-C973-8F6E-C0C9F2DF9D4A}"/>
              </a:ext>
            </a:extLst>
          </p:cNvPr>
          <p:cNvCxnSpPr>
            <a:cxnSpLocks/>
            <a:endCxn id="4" idx="1"/>
          </p:cNvCxnSpPr>
          <p:nvPr/>
        </p:nvCxnSpPr>
        <p:spPr>
          <a:xfrm flipV="1">
            <a:off x="2047875" y="3419463"/>
            <a:ext cx="228601" cy="190475"/>
          </a:xfrm>
          <a:prstGeom prst="bentConnector3">
            <a:avLst>
              <a:gd name="adj1" fmla="val 0"/>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24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Example Lesson</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190475"/>
          </a:xfrm>
        </p:spPr>
        <p:txBody>
          <a:bodyPr/>
          <a:lstStyle/>
          <a:p>
            <a:pPr marL="0" indent="0" algn="ctr">
              <a:buNone/>
            </a:pPr>
            <a:r>
              <a:rPr lang="en-US" sz="1600" dirty="0"/>
              <a:t>12</a:t>
            </a:r>
          </a:p>
        </p:txBody>
      </p:sp>
      <p:cxnSp>
        <p:nvCxnSpPr>
          <p:cNvPr id="1026" name="AutoShape 2">
            <a:extLst>
              <a:ext uri="{FF2B5EF4-FFF2-40B4-BE49-F238E27FC236}">
                <a16:creationId xmlns:a16="http://schemas.microsoft.com/office/drawing/2014/main" id="{BA5AB3BA-A106-D016-7E8D-ED7F6C2E4E38}"/>
              </a:ext>
            </a:extLst>
          </p:cNvPr>
          <p:cNvCxnSpPr>
            <a:cxnSpLocks noChangeShapeType="1"/>
          </p:cNvCxnSpPr>
          <p:nvPr/>
        </p:nvCxnSpPr>
        <p:spPr bwMode="auto">
          <a:xfrm>
            <a:off x="4398398" y="1870329"/>
            <a:ext cx="7937" cy="1254125"/>
          </a:xfrm>
          <a:prstGeom prst="straightConnector1">
            <a:avLst/>
          </a:prstGeom>
          <a:noFill/>
          <a:ln w="9525">
            <a:solidFill>
              <a:srgbClr val="FFFFFF"/>
            </a:solidFill>
            <a:round/>
            <a:headEnd/>
            <a:tailEnd/>
          </a:ln>
          <a:extLst>
            <a:ext uri="{909E8E84-426E-40DD-AFC4-6F175D3DCCD1}">
              <a14:hiddenFill xmlns:a14="http://schemas.microsoft.com/office/drawing/2010/main">
                <a:noFill/>
              </a14:hiddenFill>
            </a:ext>
          </a:extLst>
        </p:spPr>
      </p:cxnSp>
      <p:pic>
        <p:nvPicPr>
          <p:cNvPr id="6" name="Picture 5">
            <a:extLst>
              <a:ext uri="{FF2B5EF4-FFF2-40B4-BE49-F238E27FC236}">
                <a16:creationId xmlns:a16="http://schemas.microsoft.com/office/drawing/2014/main" id="{FF056918-5A20-8CEF-4888-1382B7282A6D}"/>
              </a:ext>
            </a:extLst>
          </p:cNvPr>
          <p:cNvPicPr>
            <a:picLocks noChangeAspect="1"/>
          </p:cNvPicPr>
          <p:nvPr/>
        </p:nvPicPr>
        <p:blipFill rotWithShape="1">
          <a:blip r:embed="rId2">
            <a:extLst>
              <a:ext uri="{28A0092B-C50C-407E-A947-70E740481C1C}">
                <a14:useLocalDpi xmlns:a14="http://schemas.microsoft.com/office/drawing/2010/main" val="0"/>
              </a:ext>
            </a:extLst>
          </a:blip>
          <a:srcRect t="242" b="242"/>
          <a:stretch/>
        </p:blipFill>
        <p:spPr>
          <a:xfrm>
            <a:off x="616887" y="1213522"/>
            <a:ext cx="5624226" cy="8108452"/>
          </a:xfrm>
          <a:prstGeom prst="rect">
            <a:avLst/>
          </a:prstGeom>
        </p:spPr>
      </p:pic>
    </p:spTree>
    <p:extLst>
      <p:ext uri="{BB962C8B-B14F-4D97-AF65-F5344CB8AC3E}">
        <p14:creationId xmlns:p14="http://schemas.microsoft.com/office/powerpoint/2010/main" val="32293333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042DC-5B06-417B-F41B-4DCE53F8BEB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8095AD-8B37-4652-7B8D-4C0366AC2CD7}"/>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Example Lesson</a:t>
            </a:r>
          </a:p>
        </p:txBody>
      </p:sp>
      <p:sp>
        <p:nvSpPr>
          <p:cNvPr id="3" name="Text Placeholder 2">
            <a:extLst>
              <a:ext uri="{FF2B5EF4-FFF2-40B4-BE49-F238E27FC236}">
                <a16:creationId xmlns:a16="http://schemas.microsoft.com/office/drawing/2014/main" id="{65CE83C2-08C8-C8E3-AE3B-5AED0E1EAF02}"/>
              </a:ext>
            </a:extLst>
          </p:cNvPr>
          <p:cNvSpPr>
            <a:spLocks noGrp="1"/>
          </p:cNvSpPr>
          <p:nvPr>
            <p:ph type="body" sz="quarter" idx="11"/>
          </p:nvPr>
        </p:nvSpPr>
        <p:spPr>
          <a:xfrm>
            <a:off x="3187700" y="9347026"/>
            <a:ext cx="482600" cy="190475"/>
          </a:xfrm>
        </p:spPr>
        <p:txBody>
          <a:bodyPr/>
          <a:lstStyle/>
          <a:p>
            <a:pPr marL="0" indent="0" algn="ctr">
              <a:buNone/>
            </a:pPr>
            <a:r>
              <a:rPr lang="en-US" sz="1600" dirty="0"/>
              <a:t>13</a:t>
            </a:r>
          </a:p>
        </p:txBody>
      </p:sp>
      <p:cxnSp>
        <p:nvCxnSpPr>
          <p:cNvPr id="1026" name="AutoShape 2">
            <a:extLst>
              <a:ext uri="{FF2B5EF4-FFF2-40B4-BE49-F238E27FC236}">
                <a16:creationId xmlns:a16="http://schemas.microsoft.com/office/drawing/2014/main" id="{4FDD5AEC-12C0-0800-2B25-3303C98B4377}"/>
              </a:ext>
            </a:extLst>
          </p:cNvPr>
          <p:cNvCxnSpPr>
            <a:cxnSpLocks noChangeShapeType="1"/>
          </p:cNvCxnSpPr>
          <p:nvPr/>
        </p:nvCxnSpPr>
        <p:spPr bwMode="auto">
          <a:xfrm>
            <a:off x="4398398" y="1870329"/>
            <a:ext cx="7937" cy="1254125"/>
          </a:xfrm>
          <a:prstGeom prst="straightConnector1">
            <a:avLst/>
          </a:prstGeom>
          <a:noFill/>
          <a:ln w="9525">
            <a:solidFill>
              <a:srgbClr val="FFFFFF"/>
            </a:solidFill>
            <a:round/>
            <a:headEnd/>
            <a:tailEnd/>
          </a:ln>
          <a:extLst>
            <a:ext uri="{909E8E84-426E-40DD-AFC4-6F175D3DCCD1}">
              <a14:hiddenFill xmlns:a14="http://schemas.microsoft.com/office/drawing/2010/main">
                <a:noFill/>
              </a14:hiddenFill>
            </a:ext>
          </a:extLst>
        </p:spPr>
      </p:cxnSp>
      <p:pic>
        <p:nvPicPr>
          <p:cNvPr id="6" name="Picture 5">
            <a:extLst>
              <a:ext uri="{FF2B5EF4-FFF2-40B4-BE49-F238E27FC236}">
                <a16:creationId xmlns:a16="http://schemas.microsoft.com/office/drawing/2014/main" id="{9DB35517-5880-0D43-995F-6F8C338888F1}"/>
              </a:ext>
            </a:extLst>
          </p:cNvPr>
          <p:cNvPicPr>
            <a:picLocks noChangeAspect="1"/>
          </p:cNvPicPr>
          <p:nvPr/>
        </p:nvPicPr>
        <p:blipFill rotWithShape="1">
          <a:blip r:embed="rId2">
            <a:extLst>
              <a:ext uri="{28A0092B-C50C-407E-A947-70E740481C1C}">
                <a14:useLocalDpi xmlns:a14="http://schemas.microsoft.com/office/drawing/2010/main" val="0"/>
              </a:ext>
            </a:extLst>
          </a:blip>
          <a:srcRect t="242" b="242"/>
          <a:stretch/>
        </p:blipFill>
        <p:spPr>
          <a:xfrm>
            <a:off x="616887" y="1213522"/>
            <a:ext cx="5624226" cy="8108452"/>
          </a:xfrm>
          <a:prstGeom prst="rect">
            <a:avLst/>
          </a:prstGeom>
        </p:spPr>
      </p:pic>
    </p:spTree>
    <p:extLst>
      <p:ext uri="{BB962C8B-B14F-4D97-AF65-F5344CB8AC3E}">
        <p14:creationId xmlns:p14="http://schemas.microsoft.com/office/powerpoint/2010/main" val="35812077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Example Lesson</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190475"/>
          </a:xfrm>
        </p:spPr>
        <p:txBody>
          <a:bodyPr/>
          <a:lstStyle/>
          <a:p>
            <a:pPr marL="0" indent="0" algn="ctr">
              <a:buNone/>
            </a:pPr>
            <a:r>
              <a:rPr lang="en-US" sz="1600" dirty="0"/>
              <a:t>14</a:t>
            </a:r>
          </a:p>
        </p:txBody>
      </p:sp>
      <p:cxnSp>
        <p:nvCxnSpPr>
          <p:cNvPr id="1026" name="AutoShape 2">
            <a:extLst>
              <a:ext uri="{FF2B5EF4-FFF2-40B4-BE49-F238E27FC236}">
                <a16:creationId xmlns:a16="http://schemas.microsoft.com/office/drawing/2014/main" id="{BA5AB3BA-A106-D016-7E8D-ED7F6C2E4E38}"/>
              </a:ext>
            </a:extLst>
          </p:cNvPr>
          <p:cNvCxnSpPr>
            <a:cxnSpLocks noChangeShapeType="1"/>
          </p:cNvCxnSpPr>
          <p:nvPr/>
        </p:nvCxnSpPr>
        <p:spPr bwMode="auto">
          <a:xfrm>
            <a:off x="4398398" y="1870329"/>
            <a:ext cx="7937" cy="1254125"/>
          </a:xfrm>
          <a:prstGeom prst="straightConnector1">
            <a:avLst/>
          </a:prstGeom>
          <a:noFill/>
          <a:ln w="9525">
            <a:solidFill>
              <a:srgbClr val="FFFFFF"/>
            </a:solidFill>
            <a:round/>
            <a:headEnd/>
            <a:tailEnd/>
          </a:ln>
          <a:extLst>
            <a:ext uri="{909E8E84-426E-40DD-AFC4-6F175D3DCCD1}">
              <a14:hiddenFill xmlns:a14="http://schemas.microsoft.com/office/drawing/2010/main">
                <a:noFill/>
              </a14:hiddenFill>
            </a:ext>
          </a:extLst>
        </p:spPr>
      </p:cxnSp>
      <p:pic>
        <p:nvPicPr>
          <p:cNvPr id="6" name="Picture 5">
            <a:extLst>
              <a:ext uri="{FF2B5EF4-FFF2-40B4-BE49-F238E27FC236}">
                <a16:creationId xmlns:a16="http://schemas.microsoft.com/office/drawing/2014/main" id="{FF056918-5A20-8CEF-4888-1382B7282A6D}"/>
              </a:ext>
            </a:extLst>
          </p:cNvPr>
          <p:cNvPicPr>
            <a:picLocks noChangeAspect="1"/>
          </p:cNvPicPr>
          <p:nvPr/>
        </p:nvPicPr>
        <p:blipFill rotWithShape="1">
          <a:blip r:embed="rId2">
            <a:extLst>
              <a:ext uri="{28A0092B-C50C-407E-A947-70E740481C1C}">
                <a14:useLocalDpi xmlns:a14="http://schemas.microsoft.com/office/drawing/2010/main" val="0"/>
              </a:ext>
            </a:extLst>
          </a:blip>
          <a:srcRect t="242" b="242"/>
          <a:stretch/>
        </p:blipFill>
        <p:spPr>
          <a:xfrm>
            <a:off x="629412" y="1242585"/>
            <a:ext cx="5599175" cy="8072336"/>
          </a:xfrm>
          <a:prstGeom prst="rect">
            <a:avLst/>
          </a:prstGeom>
        </p:spPr>
      </p:pic>
    </p:spTree>
    <p:extLst>
      <p:ext uri="{BB962C8B-B14F-4D97-AF65-F5344CB8AC3E}">
        <p14:creationId xmlns:p14="http://schemas.microsoft.com/office/powerpoint/2010/main" val="37107596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CE6B6-5CD2-89B1-BA33-3FEBE8F11AF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8811B1E-758A-FE13-5D41-C78F5276F2F7}"/>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Example Lesson</a:t>
            </a:r>
          </a:p>
        </p:txBody>
      </p:sp>
      <p:sp>
        <p:nvSpPr>
          <p:cNvPr id="3" name="Text Placeholder 2">
            <a:extLst>
              <a:ext uri="{FF2B5EF4-FFF2-40B4-BE49-F238E27FC236}">
                <a16:creationId xmlns:a16="http://schemas.microsoft.com/office/drawing/2014/main" id="{A456ADEF-DE87-D474-C16E-57484576A169}"/>
              </a:ext>
            </a:extLst>
          </p:cNvPr>
          <p:cNvSpPr>
            <a:spLocks noGrp="1"/>
          </p:cNvSpPr>
          <p:nvPr>
            <p:ph type="body" sz="quarter" idx="11"/>
          </p:nvPr>
        </p:nvSpPr>
        <p:spPr>
          <a:xfrm>
            <a:off x="3187700" y="9347026"/>
            <a:ext cx="482600" cy="190475"/>
          </a:xfrm>
        </p:spPr>
        <p:txBody>
          <a:bodyPr/>
          <a:lstStyle/>
          <a:p>
            <a:pPr marL="0" indent="0" algn="ctr">
              <a:buNone/>
            </a:pPr>
            <a:r>
              <a:rPr lang="en-US" sz="1600" dirty="0"/>
              <a:t>15</a:t>
            </a:r>
          </a:p>
        </p:txBody>
      </p:sp>
      <p:cxnSp>
        <p:nvCxnSpPr>
          <p:cNvPr id="1026" name="AutoShape 2">
            <a:extLst>
              <a:ext uri="{FF2B5EF4-FFF2-40B4-BE49-F238E27FC236}">
                <a16:creationId xmlns:a16="http://schemas.microsoft.com/office/drawing/2014/main" id="{40CF7CEB-8AF7-D263-7098-EF67F3DA883B}"/>
              </a:ext>
            </a:extLst>
          </p:cNvPr>
          <p:cNvCxnSpPr>
            <a:cxnSpLocks noChangeShapeType="1"/>
          </p:cNvCxnSpPr>
          <p:nvPr/>
        </p:nvCxnSpPr>
        <p:spPr bwMode="auto">
          <a:xfrm>
            <a:off x="4398398" y="1870329"/>
            <a:ext cx="7937" cy="1254125"/>
          </a:xfrm>
          <a:prstGeom prst="straightConnector1">
            <a:avLst/>
          </a:prstGeom>
          <a:noFill/>
          <a:ln w="9525">
            <a:solidFill>
              <a:srgbClr val="FFFFFF"/>
            </a:solidFill>
            <a:round/>
            <a:headEnd/>
            <a:tailEnd/>
          </a:ln>
          <a:extLst>
            <a:ext uri="{909E8E84-426E-40DD-AFC4-6F175D3DCCD1}">
              <a14:hiddenFill xmlns:a14="http://schemas.microsoft.com/office/drawing/2010/main">
                <a:noFill/>
              </a14:hiddenFill>
            </a:ext>
          </a:extLst>
        </p:spPr>
      </p:cxnSp>
      <p:pic>
        <p:nvPicPr>
          <p:cNvPr id="6" name="Picture 5">
            <a:extLst>
              <a:ext uri="{FF2B5EF4-FFF2-40B4-BE49-F238E27FC236}">
                <a16:creationId xmlns:a16="http://schemas.microsoft.com/office/drawing/2014/main" id="{AF3AA202-F1B0-CD5D-AAC3-E3FE667AFEE7}"/>
              </a:ext>
            </a:extLst>
          </p:cNvPr>
          <p:cNvPicPr>
            <a:picLocks noChangeAspect="1"/>
          </p:cNvPicPr>
          <p:nvPr/>
        </p:nvPicPr>
        <p:blipFill rotWithShape="1">
          <a:blip r:embed="rId2">
            <a:extLst>
              <a:ext uri="{28A0092B-C50C-407E-A947-70E740481C1C}">
                <a14:useLocalDpi xmlns:a14="http://schemas.microsoft.com/office/drawing/2010/main" val="0"/>
              </a:ext>
            </a:extLst>
          </a:blip>
          <a:srcRect t="242" b="242"/>
          <a:stretch/>
        </p:blipFill>
        <p:spPr>
          <a:xfrm>
            <a:off x="629412" y="1242585"/>
            <a:ext cx="5599175" cy="8072336"/>
          </a:xfrm>
          <a:prstGeom prst="rect">
            <a:avLst/>
          </a:prstGeom>
        </p:spPr>
      </p:pic>
    </p:spTree>
    <p:extLst>
      <p:ext uri="{BB962C8B-B14F-4D97-AF65-F5344CB8AC3E}">
        <p14:creationId xmlns:p14="http://schemas.microsoft.com/office/powerpoint/2010/main" val="193319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Example Lesson</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190475"/>
          </a:xfrm>
        </p:spPr>
        <p:txBody>
          <a:bodyPr/>
          <a:lstStyle/>
          <a:p>
            <a:pPr marL="0" indent="0" algn="ctr">
              <a:buNone/>
            </a:pPr>
            <a:r>
              <a:rPr lang="en-US" sz="1600" dirty="0"/>
              <a:t>16</a:t>
            </a:r>
          </a:p>
        </p:txBody>
      </p:sp>
      <p:cxnSp>
        <p:nvCxnSpPr>
          <p:cNvPr id="1026" name="AutoShape 2">
            <a:extLst>
              <a:ext uri="{FF2B5EF4-FFF2-40B4-BE49-F238E27FC236}">
                <a16:creationId xmlns:a16="http://schemas.microsoft.com/office/drawing/2014/main" id="{BA5AB3BA-A106-D016-7E8D-ED7F6C2E4E38}"/>
              </a:ext>
            </a:extLst>
          </p:cNvPr>
          <p:cNvCxnSpPr>
            <a:cxnSpLocks noChangeShapeType="1"/>
          </p:cNvCxnSpPr>
          <p:nvPr/>
        </p:nvCxnSpPr>
        <p:spPr bwMode="auto">
          <a:xfrm>
            <a:off x="4398398" y="1870329"/>
            <a:ext cx="7937" cy="1254125"/>
          </a:xfrm>
          <a:prstGeom prst="straightConnector1">
            <a:avLst/>
          </a:prstGeom>
          <a:noFill/>
          <a:ln w="9525">
            <a:solidFill>
              <a:srgbClr val="FFFFFF"/>
            </a:solidFill>
            <a:round/>
            <a:headEnd/>
            <a:tailEnd/>
          </a:ln>
          <a:extLst>
            <a:ext uri="{909E8E84-426E-40DD-AFC4-6F175D3DCCD1}">
              <a14:hiddenFill xmlns:a14="http://schemas.microsoft.com/office/drawing/2010/main">
                <a:noFill/>
              </a14:hiddenFill>
            </a:ext>
          </a:extLst>
        </p:spPr>
      </p:cxnSp>
      <p:pic>
        <p:nvPicPr>
          <p:cNvPr id="6" name="Picture 5">
            <a:extLst>
              <a:ext uri="{FF2B5EF4-FFF2-40B4-BE49-F238E27FC236}">
                <a16:creationId xmlns:a16="http://schemas.microsoft.com/office/drawing/2014/main" id="{FF056918-5A20-8CEF-4888-1382B7282A6D}"/>
              </a:ext>
            </a:extLst>
          </p:cNvPr>
          <p:cNvPicPr>
            <a:picLocks noChangeAspect="1"/>
          </p:cNvPicPr>
          <p:nvPr/>
        </p:nvPicPr>
        <p:blipFill rotWithShape="1">
          <a:blip r:embed="rId2">
            <a:extLst>
              <a:ext uri="{28A0092B-C50C-407E-A947-70E740481C1C}">
                <a14:useLocalDpi xmlns:a14="http://schemas.microsoft.com/office/drawing/2010/main" val="0"/>
              </a:ext>
            </a:extLst>
          </a:blip>
          <a:srcRect t="191" b="191"/>
          <a:stretch/>
        </p:blipFill>
        <p:spPr>
          <a:xfrm>
            <a:off x="594947" y="1181242"/>
            <a:ext cx="5668107" cy="8171715"/>
          </a:xfrm>
          <a:prstGeom prst="rect">
            <a:avLst/>
          </a:prstGeom>
        </p:spPr>
      </p:pic>
    </p:spTree>
    <p:extLst>
      <p:ext uri="{BB962C8B-B14F-4D97-AF65-F5344CB8AC3E}">
        <p14:creationId xmlns:p14="http://schemas.microsoft.com/office/powerpoint/2010/main" val="21411558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Example Lesson</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190475"/>
          </a:xfrm>
        </p:spPr>
        <p:txBody>
          <a:bodyPr/>
          <a:lstStyle/>
          <a:p>
            <a:pPr marL="0" indent="0" algn="ctr">
              <a:buNone/>
            </a:pPr>
            <a:r>
              <a:rPr lang="en-US" sz="1600" dirty="0"/>
              <a:t>17</a:t>
            </a:r>
          </a:p>
        </p:txBody>
      </p:sp>
      <p:cxnSp>
        <p:nvCxnSpPr>
          <p:cNvPr id="1026" name="AutoShape 2">
            <a:extLst>
              <a:ext uri="{FF2B5EF4-FFF2-40B4-BE49-F238E27FC236}">
                <a16:creationId xmlns:a16="http://schemas.microsoft.com/office/drawing/2014/main" id="{BA5AB3BA-A106-D016-7E8D-ED7F6C2E4E38}"/>
              </a:ext>
            </a:extLst>
          </p:cNvPr>
          <p:cNvCxnSpPr>
            <a:cxnSpLocks noChangeShapeType="1"/>
          </p:cNvCxnSpPr>
          <p:nvPr/>
        </p:nvCxnSpPr>
        <p:spPr bwMode="auto">
          <a:xfrm>
            <a:off x="4398398" y="1870329"/>
            <a:ext cx="7937" cy="1254125"/>
          </a:xfrm>
          <a:prstGeom prst="straightConnector1">
            <a:avLst/>
          </a:prstGeom>
          <a:noFill/>
          <a:ln w="9525">
            <a:solidFill>
              <a:srgbClr val="FFFFFF"/>
            </a:solidFill>
            <a:round/>
            <a:headEnd/>
            <a:tailEnd/>
          </a:ln>
          <a:extLst>
            <a:ext uri="{909E8E84-426E-40DD-AFC4-6F175D3DCCD1}">
              <a14:hiddenFill xmlns:a14="http://schemas.microsoft.com/office/drawing/2010/main">
                <a:noFill/>
              </a14:hiddenFill>
            </a:ext>
          </a:extLst>
        </p:spPr>
      </p:cxnSp>
      <p:pic>
        <p:nvPicPr>
          <p:cNvPr id="6" name="Picture 5">
            <a:extLst>
              <a:ext uri="{FF2B5EF4-FFF2-40B4-BE49-F238E27FC236}">
                <a16:creationId xmlns:a16="http://schemas.microsoft.com/office/drawing/2014/main" id="{FF056918-5A20-8CEF-4888-1382B7282A6D}"/>
              </a:ext>
            </a:extLst>
          </p:cNvPr>
          <p:cNvPicPr>
            <a:picLocks noChangeAspect="1"/>
          </p:cNvPicPr>
          <p:nvPr/>
        </p:nvPicPr>
        <p:blipFill rotWithShape="1">
          <a:blip r:embed="rId2">
            <a:extLst>
              <a:ext uri="{28A0092B-C50C-407E-A947-70E740481C1C}">
                <a14:useLocalDpi xmlns:a14="http://schemas.microsoft.com/office/drawing/2010/main" val="0"/>
              </a:ext>
            </a:extLst>
          </a:blip>
          <a:srcRect t="281" b="281"/>
          <a:stretch/>
        </p:blipFill>
        <p:spPr>
          <a:xfrm>
            <a:off x="594947" y="1181242"/>
            <a:ext cx="5668107" cy="8171715"/>
          </a:xfrm>
          <a:prstGeom prst="rect">
            <a:avLst/>
          </a:prstGeom>
        </p:spPr>
      </p:pic>
    </p:spTree>
    <p:extLst>
      <p:ext uri="{BB962C8B-B14F-4D97-AF65-F5344CB8AC3E}">
        <p14:creationId xmlns:p14="http://schemas.microsoft.com/office/powerpoint/2010/main" val="21406389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Example Lesson</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190475"/>
          </a:xfrm>
        </p:spPr>
        <p:txBody>
          <a:bodyPr/>
          <a:lstStyle/>
          <a:p>
            <a:pPr marL="0" indent="0" algn="ctr">
              <a:buNone/>
            </a:pPr>
            <a:r>
              <a:rPr lang="en-US" sz="1600" dirty="0"/>
              <a:t>18</a:t>
            </a:r>
          </a:p>
        </p:txBody>
      </p:sp>
      <p:cxnSp>
        <p:nvCxnSpPr>
          <p:cNvPr id="1026" name="AutoShape 2">
            <a:extLst>
              <a:ext uri="{FF2B5EF4-FFF2-40B4-BE49-F238E27FC236}">
                <a16:creationId xmlns:a16="http://schemas.microsoft.com/office/drawing/2014/main" id="{BA5AB3BA-A106-D016-7E8D-ED7F6C2E4E38}"/>
              </a:ext>
            </a:extLst>
          </p:cNvPr>
          <p:cNvCxnSpPr>
            <a:cxnSpLocks noChangeShapeType="1"/>
          </p:cNvCxnSpPr>
          <p:nvPr/>
        </p:nvCxnSpPr>
        <p:spPr bwMode="auto">
          <a:xfrm>
            <a:off x="4398398" y="1870329"/>
            <a:ext cx="7937" cy="1254125"/>
          </a:xfrm>
          <a:prstGeom prst="straightConnector1">
            <a:avLst/>
          </a:prstGeom>
          <a:noFill/>
          <a:ln w="9525">
            <a:solidFill>
              <a:srgbClr val="FFFFFF"/>
            </a:solidFill>
            <a:round/>
            <a:headEnd/>
            <a:tailEnd/>
          </a:ln>
          <a:extLst>
            <a:ext uri="{909E8E84-426E-40DD-AFC4-6F175D3DCCD1}">
              <a14:hiddenFill xmlns:a14="http://schemas.microsoft.com/office/drawing/2010/main">
                <a:noFill/>
              </a14:hiddenFill>
            </a:ext>
          </a:extLst>
        </p:spPr>
      </p:cxnSp>
      <p:pic>
        <p:nvPicPr>
          <p:cNvPr id="4" name="Picture 3">
            <a:extLst>
              <a:ext uri="{FF2B5EF4-FFF2-40B4-BE49-F238E27FC236}">
                <a16:creationId xmlns:a16="http://schemas.microsoft.com/office/drawing/2014/main" id="{FFD655C9-2632-FC29-02A6-DDD8ACCB10D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38444" y="5410361"/>
            <a:ext cx="2875739" cy="1619999"/>
          </a:xfrm>
          <a:prstGeom prst="rect">
            <a:avLst/>
          </a:prstGeom>
          <a:ln w="19050">
            <a:solidFill>
              <a:schemeClr val="tx1"/>
            </a:solidFill>
          </a:ln>
        </p:spPr>
      </p:pic>
      <p:pic>
        <p:nvPicPr>
          <p:cNvPr id="6" name="Picture 5">
            <a:extLst>
              <a:ext uri="{FF2B5EF4-FFF2-40B4-BE49-F238E27FC236}">
                <a16:creationId xmlns:a16="http://schemas.microsoft.com/office/drawing/2014/main" id="{9A533FEE-3EA2-284B-6E58-7E2789F17CC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543815" y="5410466"/>
            <a:ext cx="2875739" cy="1619999"/>
          </a:xfrm>
          <a:prstGeom prst="rect">
            <a:avLst/>
          </a:prstGeom>
          <a:ln w="19050">
            <a:solidFill>
              <a:schemeClr val="tx1"/>
            </a:solidFill>
          </a:ln>
        </p:spPr>
      </p:pic>
      <p:pic>
        <p:nvPicPr>
          <p:cNvPr id="15" name="Picture 14">
            <a:extLst>
              <a:ext uri="{FF2B5EF4-FFF2-40B4-BE49-F238E27FC236}">
                <a16:creationId xmlns:a16="http://schemas.microsoft.com/office/drawing/2014/main" id="{45AC6383-043A-4B17-840E-87C8404406C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38442" y="7334397"/>
            <a:ext cx="2875741" cy="1620000"/>
          </a:xfrm>
          <a:prstGeom prst="rect">
            <a:avLst/>
          </a:prstGeom>
          <a:ln w="19050">
            <a:solidFill>
              <a:schemeClr val="tx1"/>
            </a:solidFill>
          </a:ln>
        </p:spPr>
      </p:pic>
      <p:pic>
        <p:nvPicPr>
          <p:cNvPr id="10" name="Picture 9">
            <a:extLst>
              <a:ext uri="{FF2B5EF4-FFF2-40B4-BE49-F238E27FC236}">
                <a16:creationId xmlns:a16="http://schemas.microsoft.com/office/drawing/2014/main" id="{228E7FBD-A99A-9C31-4DDB-16F70EC190F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3543813" y="1385626"/>
            <a:ext cx="2875739" cy="1620000"/>
          </a:xfrm>
          <a:prstGeom prst="rect">
            <a:avLst/>
          </a:prstGeom>
          <a:ln w="19050">
            <a:solidFill>
              <a:schemeClr val="tx1"/>
            </a:solidFill>
          </a:ln>
        </p:spPr>
      </p:pic>
      <p:pic>
        <p:nvPicPr>
          <p:cNvPr id="11" name="Picture 10">
            <a:extLst>
              <a:ext uri="{FF2B5EF4-FFF2-40B4-BE49-F238E27FC236}">
                <a16:creationId xmlns:a16="http://schemas.microsoft.com/office/drawing/2014/main" id="{C5C4E186-A8F7-A0C1-6D67-1F383478EBE0}"/>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438443" y="3397835"/>
            <a:ext cx="2875741" cy="1620001"/>
          </a:xfrm>
          <a:prstGeom prst="rect">
            <a:avLst/>
          </a:prstGeom>
          <a:ln w="19050">
            <a:solidFill>
              <a:schemeClr val="tx1"/>
            </a:solidFill>
          </a:ln>
        </p:spPr>
      </p:pic>
      <p:pic>
        <p:nvPicPr>
          <p:cNvPr id="12" name="Picture 11">
            <a:extLst>
              <a:ext uri="{FF2B5EF4-FFF2-40B4-BE49-F238E27FC236}">
                <a16:creationId xmlns:a16="http://schemas.microsoft.com/office/drawing/2014/main" id="{414D0792-2955-F9A0-24A0-D918702A7218}"/>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3543813" y="3398046"/>
            <a:ext cx="2875739" cy="1620000"/>
          </a:xfrm>
          <a:prstGeom prst="rect">
            <a:avLst/>
          </a:prstGeom>
          <a:ln w="19050">
            <a:solidFill>
              <a:schemeClr val="tx1"/>
            </a:solidFill>
          </a:ln>
        </p:spPr>
      </p:pic>
      <p:pic>
        <p:nvPicPr>
          <p:cNvPr id="17" name="Picture 16">
            <a:extLst>
              <a:ext uri="{FF2B5EF4-FFF2-40B4-BE49-F238E27FC236}">
                <a16:creationId xmlns:a16="http://schemas.microsoft.com/office/drawing/2014/main" id="{2DD25283-6A55-9F55-E4DD-E8E7A4765FAF}"/>
              </a:ext>
            </a:extLst>
          </p:cNvPr>
          <p:cNvPicPr>
            <a:picLocks noChangeAspect="1"/>
          </p:cNvPicPr>
          <p:nvPr/>
        </p:nvPicPr>
        <p:blipFill>
          <a:blip r:embed="rId8"/>
          <a:stretch>
            <a:fillRect/>
          </a:stretch>
        </p:blipFill>
        <p:spPr>
          <a:xfrm>
            <a:off x="438443" y="1385310"/>
            <a:ext cx="2875740" cy="1620000"/>
          </a:xfrm>
          <a:prstGeom prst="rect">
            <a:avLst/>
          </a:prstGeom>
          <a:ln w="19050">
            <a:solidFill>
              <a:schemeClr val="tx1"/>
            </a:solidFill>
          </a:ln>
        </p:spPr>
      </p:pic>
      <p:sp>
        <p:nvSpPr>
          <p:cNvPr id="18" name="Rectangle 17">
            <a:extLst>
              <a:ext uri="{FF2B5EF4-FFF2-40B4-BE49-F238E27FC236}">
                <a16:creationId xmlns:a16="http://schemas.microsoft.com/office/drawing/2014/main" id="{C3D8B8D4-71E8-DC00-BF32-98ED62C09952}"/>
              </a:ext>
            </a:extLst>
          </p:cNvPr>
          <p:cNvSpPr/>
          <p:nvPr/>
        </p:nvSpPr>
        <p:spPr>
          <a:xfrm>
            <a:off x="1446415" y="5054382"/>
            <a:ext cx="3965169" cy="30494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All answers are animated to reveal when clicked.</a:t>
            </a:r>
          </a:p>
        </p:txBody>
      </p:sp>
      <p:pic>
        <p:nvPicPr>
          <p:cNvPr id="5" name="Picture 4">
            <a:extLst>
              <a:ext uri="{FF2B5EF4-FFF2-40B4-BE49-F238E27FC236}">
                <a16:creationId xmlns:a16="http://schemas.microsoft.com/office/drawing/2014/main" id="{A82CC8DE-D7FA-BD65-E87D-113F745ABA4E}"/>
              </a:ext>
            </a:extLst>
          </p:cNvPr>
          <p:cNvPicPr>
            <a:picLocks noChangeAspect="1"/>
          </p:cNvPicPr>
          <p:nvPr/>
        </p:nvPicPr>
        <p:blipFill>
          <a:blip r:embed="rId9"/>
          <a:stretch>
            <a:fillRect/>
          </a:stretch>
        </p:blipFill>
        <p:spPr>
          <a:xfrm>
            <a:off x="3545952" y="7334397"/>
            <a:ext cx="2873600" cy="1616400"/>
          </a:xfrm>
          <a:prstGeom prst="rect">
            <a:avLst/>
          </a:prstGeom>
        </p:spPr>
      </p:pic>
      <p:sp>
        <p:nvSpPr>
          <p:cNvPr id="7" name="Rectangle 6">
            <a:extLst>
              <a:ext uri="{FF2B5EF4-FFF2-40B4-BE49-F238E27FC236}">
                <a16:creationId xmlns:a16="http://schemas.microsoft.com/office/drawing/2014/main" id="{C6E7ACD2-4E6D-E643-F665-75C45373609A}"/>
              </a:ext>
            </a:extLst>
          </p:cNvPr>
          <p:cNvSpPr/>
          <p:nvPr/>
        </p:nvSpPr>
        <p:spPr>
          <a:xfrm>
            <a:off x="1446415" y="9058399"/>
            <a:ext cx="3965169" cy="19047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Used to teach the target language using the whiteboard</a:t>
            </a:r>
          </a:p>
        </p:txBody>
      </p:sp>
      <p:cxnSp>
        <p:nvCxnSpPr>
          <p:cNvPr id="8" name="Connector: Elbow 7">
            <a:extLst>
              <a:ext uri="{FF2B5EF4-FFF2-40B4-BE49-F238E27FC236}">
                <a16:creationId xmlns:a16="http://schemas.microsoft.com/office/drawing/2014/main" id="{47134450-8B78-60D2-2C82-666D0063D4ED}"/>
              </a:ext>
            </a:extLst>
          </p:cNvPr>
          <p:cNvCxnSpPr>
            <a:cxnSpLocks/>
            <a:stCxn id="7" idx="0"/>
          </p:cNvCxnSpPr>
          <p:nvPr/>
        </p:nvCxnSpPr>
        <p:spPr>
          <a:xfrm rot="5400000" flipH="1" flipV="1">
            <a:off x="3520611" y="8082166"/>
            <a:ext cx="884622" cy="1067845"/>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48630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Example Lesson</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190475"/>
          </a:xfrm>
        </p:spPr>
        <p:txBody>
          <a:bodyPr/>
          <a:lstStyle/>
          <a:p>
            <a:pPr marL="0" indent="0" algn="ctr">
              <a:buNone/>
            </a:pPr>
            <a:r>
              <a:rPr lang="en-US" sz="1600" dirty="0"/>
              <a:t>19</a:t>
            </a:r>
          </a:p>
        </p:txBody>
      </p:sp>
      <p:cxnSp>
        <p:nvCxnSpPr>
          <p:cNvPr id="1026" name="AutoShape 2">
            <a:extLst>
              <a:ext uri="{FF2B5EF4-FFF2-40B4-BE49-F238E27FC236}">
                <a16:creationId xmlns:a16="http://schemas.microsoft.com/office/drawing/2014/main" id="{BA5AB3BA-A106-D016-7E8D-ED7F6C2E4E38}"/>
              </a:ext>
            </a:extLst>
          </p:cNvPr>
          <p:cNvCxnSpPr>
            <a:cxnSpLocks noChangeShapeType="1"/>
          </p:cNvCxnSpPr>
          <p:nvPr/>
        </p:nvCxnSpPr>
        <p:spPr bwMode="auto">
          <a:xfrm>
            <a:off x="4398398" y="1870329"/>
            <a:ext cx="7937" cy="1254125"/>
          </a:xfrm>
          <a:prstGeom prst="straightConnector1">
            <a:avLst/>
          </a:prstGeom>
          <a:noFill/>
          <a:ln w="9525">
            <a:solidFill>
              <a:srgbClr val="FFFFFF"/>
            </a:solidFill>
            <a:round/>
            <a:headEnd/>
            <a:tailEnd/>
          </a:ln>
          <a:extLst>
            <a:ext uri="{909E8E84-426E-40DD-AFC4-6F175D3DCCD1}">
              <a14:hiddenFill xmlns:a14="http://schemas.microsoft.com/office/drawing/2010/main">
                <a:noFill/>
              </a14:hiddenFill>
            </a:ext>
          </a:extLst>
        </p:spPr>
      </p:cxnSp>
      <p:pic>
        <p:nvPicPr>
          <p:cNvPr id="4" name="Picture 3">
            <a:extLst>
              <a:ext uri="{FF2B5EF4-FFF2-40B4-BE49-F238E27FC236}">
                <a16:creationId xmlns:a16="http://schemas.microsoft.com/office/drawing/2014/main" id="{FFD655C9-2632-FC29-02A6-DDD8ACCB10D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43815" y="1460252"/>
            <a:ext cx="2875737" cy="1619999"/>
          </a:xfrm>
          <a:prstGeom prst="rect">
            <a:avLst/>
          </a:prstGeom>
          <a:ln w="19050">
            <a:solidFill>
              <a:schemeClr val="tx1"/>
            </a:solidFill>
          </a:ln>
        </p:spPr>
      </p:pic>
      <p:pic>
        <p:nvPicPr>
          <p:cNvPr id="6" name="Picture 5">
            <a:extLst>
              <a:ext uri="{FF2B5EF4-FFF2-40B4-BE49-F238E27FC236}">
                <a16:creationId xmlns:a16="http://schemas.microsoft.com/office/drawing/2014/main" id="{9A533FEE-3EA2-284B-6E58-7E2789F17CC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2733" y="3410724"/>
            <a:ext cx="2875737" cy="1619999"/>
          </a:xfrm>
          <a:prstGeom prst="rect">
            <a:avLst/>
          </a:prstGeom>
          <a:ln w="19050">
            <a:solidFill>
              <a:schemeClr val="tx1"/>
            </a:solidFill>
          </a:ln>
        </p:spPr>
      </p:pic>
      <p:pic>
        <p:nvPicPr>
          <p:cNvPr id="8" name="Picture 7">
            <a:extLst>
              <a:ext uri="{FF2B5EF4-FFF2-40B4-BE49-F238E27FC236}">
                <a16:creationId xmlns:a16="http://schemas.microsoft.com/office/drawing/2014/main" id="{3A3B94B8-5BCD-EDF0-6863-DCE51812F10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543816" y="3425362"/>
            <a:ext cx="2875737" cy="1619999"/>
          </a:xfrm>
          <a:prstGeom prst="rect">
            <a:avLst/>
          </a:prstGeom>
          <a:ln w="19050">
            <a:solidFill>
              <a:schemeClr val="tx1"/>
            </a:solidFill>
          </a:ln>
        </p:spPr>
      </p:pic>
      <p:pic>
        <p:nvPicPr>
          <p:cNvPr id="9" name="Picture 8">
            <a:extLst>
              <a:ext uri="{FF2B5EF4-FFF2-40B4-BE49-F238E27FC236}">
                <a16:creationId xmlns:a16="http://schemas.microsoft.com/office/drawing/2014/main" id="{D7A32DBA-60E9-4AC1-4C24-4320959390E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38445" y="5416805"/>
            <a:ext cx="2875737" cy="1619999"/>
          </a:xfrm>
          <a:prstGeom prst="rect">
            <a:avLst/>
          </a:prstGeom>
          <a:ln w="19050">
            <a:solidFill>
              <a:schemeClr val="tx1"/>
            </a:solidFill>
          </a:ln>
        </p:spPr>
      </p:pic>
      <p:pic>
        <p:nvPicPr>
          <p:cNvPr id="13" name="Picture 12">
            <a:extLst>
              <a:ext uri="{FF2B5EF4-FFF2-40B4-BE49-F238E27FC236}">
                <a16:creationId xmlns:a16="http://schemas.microsoft.com/office/drawing/2014/main" id="{E7B3398C-47ED-54D5-5BD4-4964CE5DAA0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3543816" y="5424124"/>
            <a:ext cx="2875737" cy="1619999"/>
          </a:xfrm>
          <a:prstGeom prst="rect">
            <a:avLst/>
          </a:prstGeom>
          <a:ln w="19050">
            <a:solidFill>
              <a:schemeClr val="tx1"/>
            </a:solidFill>
          </a:ln>
        </p:spPr>
      </p:pic>
      <p:pic>
        <p:nvPicPr>
          <p:cNvPr id="14" name="Picture 13">
            <a:extLst>
              <a:ext uri="{FF2B5EF4-FFF2-40B4-BE49-F238E27FC236}">
                <a16:creationId xmlns:a16="http://schemas.microsoft.com/office/drawing/2014/main" id="{3DE66700-D000-2A29-D041-37D8E79456D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438445" y="7422886"/>
            <a:ext cx="2875737" cy="1619999"/>
          </a:xfrm>
          <a:prstGeom prst="rect">
            <a:avLst/>
          </a:prstGeom>
          <a:ln w="19050">
            <a:solidFill>
              <a:schemeClr val="tx1"/>
            </a:solidFill>
          </a:ln>
        </p:spPr>
      </p:pic>
      <p:pic>
        <p:nvPicPr>
          <p:cNvPr id="15" name="Picture 14">
            <a:extLst>
              <a:ext uri="{FF2B5EF4-FFF2-40B4-BE49-F238E27FC236}">
                <a16:creationId xmlns:a16="http://schemas.microsoft.com/office/drawing/2014/main" id="{45AC6383-043A-4B17-840E-87C8404406C8}"/>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543816" y="7422886"/>
            <a:ext cx="2875739" cy="1620000"/>
          </a:xfrm>
          <a:prstGeom prst="rect">
            <a:avLst/>
          </a:prstGeom>
          <a:ln w="19050">
            <a:solidFill>
              <a:schemeClr val="tx1"/>
            </a:solidFill>
          </a:ln>
        </p:spPr>
      </p:pic>
      <p:pic>
        <p:nvPicPr>
          <p:cNvPr id="7" name="Picture 6">
            <a:extLst>
              <a:ext uri="{FF2B5EF4-FFF2-40B4-BE49-F238E27FC236}">
                <a16:creationId xmlns:a16="http://schemas.microsoft.com/office/drawing/2014/main" id="{6BB5103E-B37E-B8DE-134A-37E6F6B78111}"/>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452733" y="1474616"/>
            <a:ext cx="2875739" cy="1617603"/>
          </a:xfrm>
          <a:prstGeom prst="rect">
            <a:avLst/>
          </a:prstGeom>
          <a:ln w="19050">
            <a:solidFill>
              <a:schemeClr val="tx1"/>
            </a:solidFill>
          </a:ln>
        </p:spPr>
      </p:pic>
      <p:sp>
        <p:nvSpPr>
          <p:cNvPr id="5" name="Rectangle 4">
            <a:extLst>
              <a:ext uri="{FF2B5EF4-FFF2-40B4-BE49-F238E27FC236}">
                <a16:creationId xmlns:a16="http://schemas.microsoft.com/office/drawing/2014/main" id="{F80D1E2D-785F-A779-983D-8C3A0604F9B6}"/>
              </a:ext>
            </a:extLst>
          </p:cNvPr>
          <p:cNvSpPr/>
          <p:nvPr/>
        </p:nvSpPr>
        <p:spPr>
          <a:xfrm>
            <a:off x="1446416" y="7118745"/>
            <a:ext cx="3965169" cy="19047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Clicking on a square reveals a gun, bomb or angel.</a:t>
            </a:r>
          </a:p>
        </p:txBody>
      </p:sp>
      <p:cxnSp>
        <p:nvCxnSpPr>
          <p:cNvPr id="10" name="Connector: Elbow 9">
            <a:extLst>
              <a:ext uri="{FF2B5EF4-FFF2-40B4-BE49-F238E27FC236}">
                <a16:creationId xmlns:a16="http://schemas.microsoft.com/office/drawing/2014/main" id="{DAE978BB-30C9-F117-641A-3814E88543D3}"/>
              </a:ext>
            </a:extLst>
          </p:cNvPr>
          <p:cNvCxnSpPr>
            <a:cxnSpLocks/>
            <a:stCxn id="5" idx="0"/>
          </p:cNvCxnSpPr>
          <p:nvPr/>
        </p:nvCxnSpPr>
        <p:spPr>
          <a:xfrm rot="5400000" flipH="1" flipV="1">
            <a:off x="3520612" y="6142512"/>
            <a:ext cx="884622" cy="1067845"/>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D11BCAFA-F03C-9BC3-2627-62C1006A7AF2}"/>
              </a:ext>
            </a:extLst>
          </p:cNvPr>
          <p:cNvSpPr/>
          <p:nvPr/>
        </p:nvSpPr>
        <p:spPr>
          <a:xfrm>
            <a:off x="1446416" y="3138420"/>
            <a:ext cx="3965169" cy="19047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Clicking on the wheel makes it start or stop spinning.</a:t>
            </a:r>
          </a:p>
        </p:txBody>
      </p:sp>
      <p:cxnSp>
        <p:nvCxnSpPr>
          <p:cNvPr id="20" name="Connector: Elbow 19">
            <a:extLst>
              <a:ext uri="{FF2B5EF4-FFF2-40B4-BE49-F238E27FC236}">
                <a16:creationId xmlns:a16="http://schemas.microsoft.com/office/drawing/2014/main" id="{9A04C1F5-5699-BB79-DC03-CDBD93AE78B9}"/>
              </a:ext>
            </a:extLst>
          </p:cNvPr>
          <p:cNvCxnSpPr>
            <a:cxnSpLocks/>
            <a:stCxn id="19" idx="2"/>
          </p:cNvCxnSpPr>
          <p:nvPr/>
        </p:nvCxnSpPr>
        <p:spPr>
          <a:xfrm rot="16200000" flipH="1">
            <a:off x="4192359" y="2565537"/>
            <a:ext cx="906466" cy="2433182"/>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10CA54B6-4FB9-C31D-8744-E32F0E482C55}"/>
              </a:ext>
            </a:extLst>
          </p:cNvPr>
          <p:cNvSpPr/>
          <p:nvPr/>
        </p:nvSpPr>
        <p:spPr>
          <a:xfrm>
            <a:off x="1095857" y="1183001"/>
            <a:ext cx="4941688" cy="202443"/>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Target language review slide with warning message. Hidden &amp; optional. </a:t>
            </a:r>
          </a:p>
        </p:txBody>
      </p:sp>
      <p:cxnSp>
        <p:nvCxnSpPr>
          <p:cNvPr id="16" name="Connector: Elbow 15">
            <a:extLst>
              <a:ext uri="{FF2B5EF4-FFF2-40B4-BE49-F238E27FC236}">
                <a16:creationId xmlns:a16="http://schemas.microsoft.com/office/drawing/2014/main" id="{4B1BE06E-5E9E-3CBE-F72E-778E2EF9B766}"/>
              </a:ext>
            </a:extLst>
          </p:cNvPr>
          <p:cNvCxnSpPr>
            <a:cxnSpLocks/>
          </p:cNvCxnSpPr>
          <p:nvPr/>
        </p:nvCxnSpPr>
        <p:spPr>
          <a:xfrm rot="5400000">
            <a:off x="2664886" y="1667394"/>
            <a:ext cx="1029430" cy="498808"/>
          </a:xfrm>
          <a:prstGeom prst="bentConnector3">
            <a:avLst>
              <a:gd name="adj1" fmla="val 9867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34710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Initial Steps</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190475"/>
          </a:xfrm>
        </p:spPr>
        <p:txBody>
          <a:bodyPr/>
          <a:lstStyle/>
          <a:p>
            <a:pPr marL="0" indent="0" algn="ctr">
              <a:buNone/>
            </a:pPr>
            <a:r>
              <a:rPr lang="en-US" sz="1600" dirty="0"/>
              <a:t>20</a:t>
            </a:r>
          </a:p>
        </p:txBody>
      </p:sp>
      <p:sp>
        <p:nvSpPr>
          <p:cNvPr id="5" name="TextBox 4">
            <a:extLst>
              <a:ext uri="{FF2B5EF4-FFF2-40B4-BE49-F238E27FC236}">
                <a16:creationId xmlns:a16="http://schemas.microsoft.com/office/drawing/2014/main" id="{18E764D6-4B5B-B0E2-0533-451C6B3C3A9D}"/>
              </a:ext>
            </a:extLst>
          </p:cNvPr>
          <p:cNvSpPr txBox="1"/>
          <p:nvPr/>
        </p:nvSpPr>
        <p:spPr>
          <a:xfrm>
            <a:off x="485775" y="1252864"/>
            <a:ext cx="5886450" cy="7740581"/>
          </a:xfrm>
          <a:prstGeom prst="rect">
            <a:avLst/>
          </a:prstGeom>
          <a:noFill/>
        </p:spPr>
        <p:txBody>
          <a:bodyPr wrap="square" rtlCol="0">
            <a:spAutoFit/>
          </a:bodyPr>
          <a:lstStyle/>
          <a:p>
            <a:pPr algn="ctr">
              <a:spcAft>
                <a:spcPts val="600"/>
              </a:spcAft>
            </a:pPr>
            <a:r>
              <a:rPr lang="en-GB" sz="1600" b="1" u="sng" dirty="0">
                <a:latin typeface="Calibri" panose="020F0502020204030204" pitchFamily="34" charset="0"/>
                <a:ea typeface="Arial Unicode MS"/>
                <a:cs typeface="Arial Unicode MS"/>
              </a:rPr>
              <a:t>Initial Steps</a:t>
            </a:r>
          </a:p>
          <a:p>
            <a:pPr algn="ctr">
              <a:spcAft>
                <a:spcPts val="600"/>
              </a:spcAft>
            </a:pPr>
            <a:endParaRPr lang="en-GB" sz="1200" b="1" u="sng" dirty="0">
              <a:latin typeface="Calibri" panose="020F0502020204030204" pitchFamily="34" charset="0"/>
              <a:ea typeface="Arial Unicode MS"/>
              <a:cs typeface="Arial Unicode MS"/>
            </a:endParaRPr>
          </a:p>
          <a:p>
            <a:pPr>
              <a:spcAft>
                <a:spcPts val="600"/>
              </a:spcAft>
            </a:pPr>
            <a:r>
              <a:rPr lang="en-GB" sz="1200" dirty="0">
                <a:effectLst/>
                <a:latin typeface="Calibri" panose="020F0502020204030204" pitchFamily="34" charset="0"/>
                <a:ea typeface="Arial Unicode MS"/>
                <a:cs typeface="Arial Unicode MS"/>
              </a:rPr>
              <a:t>Making your first lesson can be a daunting and time-consuming task. </a:t>
            </a:r>
            <a:r>
              <a:rPr lang="en-GB" sz="1200" dirty="0">
                <a:latin typeface="Calibri" panose="020F0502020204030204" pitchFamily="34" charset="0"/>
                <a:ea typeface="Arial Unicode MS"/>
                <a:cs typeface="Arial Unicode MS"/>
              </a:rPr>
              <a:t>Here are some steps to follow to help you. </a:t>
            </a:r>
            <a:r>
              <a:rPr lang="en-GB" sz="1200" b="1" dirty="0">
                <a:latin typeface="Calibri" panose="020F0502020204030204" pitchFamily="34" charset="0"/>
                <a:ea typeface="Arial Unicode MS"/>
                <a:cs typeface="Arial Unicode MS"/>
              </a:rPr>
              <a:t>Please remember that your team leader and team members are there to help you.</a:t>
            </a:r>
            <a:r>
              <a:rPr lang="en-GB" sz="1200" dirty="0">
                <a:latin typeface="Calibri" panose="020F0502020204030204" pitchFamily="34" charset="0"/>
                <a:ea typeface="Arial Unicode MS"/>
                <a:cs typeface="Arial Unicode MS"/>
              </a:rPr>
              <a:t> Do not hesitate or be afraid to ask for help and ideas.</a:t>
            </a:r>
            <a:endParaRPr lang="en-GB" sz="1200" dirty="0">
              <a:effectLst/>
              <a:latin typeface="Calibri" panose="020F0502020204030204" pitchFamily="34" charset="0"/>
              <a:ea typeface="Arial Unicode MS"/>
              <a:cs typeface="Arial Unicode MS"/>
            </a:endParaRPr>
          </a:p>
          <a:p>
            <a:pPr>
              <a:spcAft>
                <a:spcPts val="600"/>
              </a:spcAft>
            </a:pPr>
            <a:endParaRPr lang="en-GB" sz="1200" b="1" dirty="0">
              <a:effectLst/>
              <a:latin typeface="Calibri" panose="020F0502020204030204" pitchFamily="34" charset="0"/>
              <a:ea typeface="Arial Unicode MS"/>
              <a:cs typeface="Arial Unicode MS"/>
            </a:endParaRPr>
          </a:p>
          <a:p>
            <a:pPr marL="228600" indent="-228600">
              <a:spcAft>
                <a:spcPts val="600"/>
              </a:spcAft>
              <a:buFont typeface="+mj-lt"/>
              <a:buAutoNum type="arabicPeriod"/>
            </a:pPr>
            <a:r>
              <a:rPr lang="en-GB" sz="1200" dirty="0">
                <a:latin typeface="Calibri" panose="020F0502020204030204" pitchFamily="34" charset="0"/>
                <a:ea typeface="Arial Unicode MS"/>
                <a:cs typeface="Arial Unicode MS"/>
              </a:rPr>
              <a:t>Ask your team leader for your planning schedule. It can also be found on Dropbox in the “Term Schedule” folder.</a:t>
            </a:r>
          </a:p>
          <a:p>
            <a:pPr marL="228600" indent="-228600">
              <a:spcAft>
                <a:spcPts val="600"/>
              </a:spcAft>
              <a:buFont typeface="+mj-lt"/>
              <a:buAutoNum type="arabicPeriod"/>
            </a:pPr>
            <a:r>
              <a:rPr lang="en-GB" sz="1200" dirty="0">
                <a:effectLst/>
                <a:latin typeface="Calibri" panose="020F0502020204030204" pitchFamily="34" charset="0"/>
                <a:ea typeface="Arial Unicode MS"/>
                <a:cs typeface="Arial Unicode MS"/>
              </a:rPr>
              <a:t>Check whi</a:t>
            </a:r>
            <a:r>
              <a:rPr lang="en-GB" sz="1200" dirty="0">
                <a:latin typeface="Calibri" panose="020F0502020204030204" pitchFamily="34" charset="0"/>
                <a:ea typeface="Arial Unicode MS"/>
                <a:cs typeface="Arial Unicode MS"/>
              </a:rPr>
              <a:t>ch lesson you have been assigned for the next upload and check which book is needed. Be sure to check the book edition / publication year. </a:t>
            </a:r>
          </a:p>
          <a:p>
            <a:pPr marL="228600" indent="-228600">
              <a:spcAft>
                <a:spcPts val="600"/>
              </a:spcAft>
              <a:buFont typeface="+mj-lt"/>
              <a:buAutoNum type="arabicPeriod"/>
            </a:pPr>
            <a:r>
              <a:rPr lang="en-GB" sz="1200" dirty="0">
                <a:effectLst/>
                <a:latin typeface="Calibri" panose="020F0502020204030204" pitchFamily="34" charset="0"/>
                <a:ea typeface="Arial Unicode MS"/>
                <a:cs typeface="Arial Unicode MS"/>
              </a:rPr>
              <a:t>Check recent lesson uploads for that level on Dropbox to see what skills / grammar points have been covered recently or will be taught in upcoming weeks.</a:t>
            </a:r>
          </a:p>
          <a:p>
            <a:pPr marL="228600" indent="-228600">
              <a:spcAft>
                <a:spcPts val="600"/>
              </a:spcAft>
              <a:buFont typeface="+mj-lt"/>
              <a:buAutoNum type="arabicPeriod"/>
            </a:pPr>
            <a:r>
              <a:rPr lang="en-GB" sz="1200" dirty="0">
                <a:latin typeface="Calibri" panose="020F0502020204030204" pitchFamily="34" charset="0"/>
                <a:ea typeface="Arial Unicode MS"/>
                <a:cs typeface="Arial Unicode MS"/>
              </a:rPr>
              <a:t>Read the unit in the book and identify the main topic / ideas.</a:t>
            </a:r>
            <a:endParaRPr lang="en-GB" sz="1200" dirty="0">
              <a:effectLst/>
              <a:latin typeface="Calibri" panose="020F0502020204030204" pitchFamily="34" charset="0"/>
              <a:ea typeface="Arial Unicode MS"/>
              <a:cs typeface="Arial Unicode MS"/>
            </a:endParaRPr>
          </a:p>
          <a:p>
            <a:pPr marL="228600" indent="-228600">
              <a:spcAft>
                <a:spcPts val="600"/>
              </a:spcAft>
              <a:buFont typeface="+mj-lt"/>
              <a:buAutoNum type="arabicPeriod"/>
            </a:pPr>
            <a:r>
              <a:rPr lang="en-GB" sz="1200" dirty="0">
                <a:latin typeface="Calibri" panose="020F0502020204030204" pitchFamily="34" charset="0"/>
                <a:ea typeface="Arial Unicode MS"/>
                <a:cs typeface="Arial Unicode MS"/>
              </a:rPr>
              <a:t>Start brainstorming ideas for the lesson. (Check the brainstorming section for more information.) Brainstorming is normally completed during the weekly team meeting.</a:t>
            </a:r>
          </a:p>
          <a:p>
            <a:pPr marL="228600" indent="-228600">
              <a:spcAft>
                <a:spcPts val="600"/>
              </a:spcAft>
              <a:buFont typeface="+mj-lt"/>
              <a:buAutoNum type="arabicPeriod"/>
            </a:pPr>
            <a:r>
              <a:rPr lang="en-GB" sz="1200" dirty="0">
                <a:latin typeface="Calibri" panose="020F0502020204030204" pitchFamily="34" charset="0"/>
                <a:ea typeface="Arial Unicode MS"/>
                <a:cs typeface="Arial Unicode MS"/>
              </a:rPr>
              <a:t>Once you have decided on an idea, scaffold the lesson on paper.</a:t>
            </a:r>
            <a:r>
              <a:rPr lang="en-GB" sz="1200" b="1" dirty="0">
                <a:latin typeface="Calibri" panose="020F0502020204030204" pitchFamily="34" charset="0"/>
                <a:ea typeface="Arial Unicode MS"/>
                <a:cs typeface="Arial Unicode MS"/>
              </a:rPr>
              <a:t> It is important to identify potential problems early to save time and energy later.</a:t>
            </a:r>
            <a:endParaRPr lang="en-GB" sz="1200" dirty="0">
              <a:latin typeface="Calibri" panose="020F0502020204030204" pitchFamily="34" charset="0"/>
              <a:ea typeface="Arial Unicode MS"/>
              <a:cs typeface="Arial Unicode MS"/>
            </a:endParaRPr>
          </a:p>
          <a:p>
            <a:pPr marL="228600" indent="-228600">
              <a:spcAft>
                <a:spcPts val="600"/>
              </a:spcAft>
              <a:buFont typeface="+mj-lt"/>
              <a:buAutoNum type="arabicPeriod"/>
            </a:pPr>
            <a:r>
              <a:rPr lang="en-GB" sz="1200" dirty="0">
                <a:latin typeface="Calibri" panose="020F0502020204030204" pitchFamily="34" charset="0"/>
                <a:ea typeface="Arial Unicode MS"/>
                <a:cs typeface="Arial Unicode MS"/>
              </a:rPr>
              <a:t>Check that each section builds on the previous, flows well, and leads into the production. Remember that the practice sections should work to enable students to freely produce the target language in the production. </a:t>
            </a:r>
            <a:endParaRPr lang="en-GB" sz="1200" b="1" dirty="0">
              <a:latin typeface="Calibri" panose="020F0502020204030204" pitchFamily="34" charset="0"/>
              <a:ea typeface="Arial Unicode MS"/>
              <a:cs typeface="Arial Unicode MS"/>
            </a:endParaRPr>
          </a:p>
          <a:p>
            <a:pPr marL="228600" indent="-228600">
              <a:spcAft>
                <a:spcPts val="600"/>
              </a:spcAft>
              <a:buFont typeface="+mj-lt"/>
              <a:buAutoNum type="arabicPeriod"/>
            </a:pPr>
            <a:r>
              <a:rPr lang="en-GB" sz="1200" dirty="0">
                <a:latin typeface="Calibri" panose="020F0502020204030204" pitchFamily="34" charset="0"/>
                <a:ea typeface="Arial Unicode MS"/>
                <a:cs typeface="Arial Unicode MS"/>
              </a:rPr>
              <a:t>Consider what the balance will be between the worksheets and PPTs and how students will interact with the lesson.</a:t>
            </a:r>
          </a:p>
          <a:p>
            <a:pPr marL="228600" indent="-228600">
              <a:spcAft>
                <a:spcPts val="600"/>
              </a:spcAft>
              <a:buFont typeface="+mj-lt"/>
              <a:buAutoNum type="arabicPeriod"/>
            </a:pPr>
            <a:r>
              <a:rPr lang="en-GB" sz="1200" dirty="0">
                <a:latin typeface="Calibri" panose="020F0502020204030204" pitchFamily="34" charset="0"/>
                <a:ea typeface="Arial Unicode MS"/>
                <a:cs typeface="Arial Unicode MS"/>
              </a:rPr>
              <a:t>Once you have the lesson scaffolded on paper, start working on the teacher pages and worksheets. </a:t>
            </a:r>
          </a:p>
          <a:p>
            <a:pPr marL="685800" lvl="1" indent="-228600">
              <a:spcAft>
                <a:spcPts val="600"/>
              </a:spcAft>
              <a:buFont typeface="Arial" panose="020B0604020202020204" pitchFamily="34" charset="0"/>
              <a:buChar char="•"/>
            </a:pPr>
            <a:r>
              <a:rPr lang="en-GB" sz="1200" dirty="0">
                <a:latin typeface="Calibri" panose="020F0502020204030204" pitchFamily="34" charset="0"/>
                <a:ea typeface="Arial Unicode MS"/>
                <a:cs typeface="Arial Unicode MS"/>
              </a:rPr>
              <a:t>The worksheets are your limiting factor for space/content. The PPT can be used in tandem with the worksheets to provide additional information and content.</a:t>
            </a:r>
          </a:p>
          <a:p>
            <a:pPr marL="228600" indent="-228600">
              <a:spcAft>
                <a:spcPts val="600"/>
              </a:spcAft>
              <a:buFont typeface="+mj-lt"/>
              <a:buAutoNum type="arabicPeriod"/>
            </a:pPr>
            <a:r>
              <a:rPr lang="en-GB" sz="1200" dirty="0">
                <a:latin typeface="Calibri" panose="020F0502020204030204" pitchFamily="34" charset="0"/>
                <a:ea typeface="Arial Unicode MS"/>
                <a:cs typeface="Arial Unicode MS"/>
              </a:rPr>
              <a:t>Find an appropriate PPT template and make the PPT. (This could be done at the same time as the worksheets.)</a:t>
            </a:r>
          </a:p>
          <a:p>
            <a:pPr marL="228600" indent="-228600">
              <a:spcAft>
                <a:spcPts val="600"/>
              </a:spcAft>
              <a:buFont typeface="+mj-lt"/>
              <a:buAutoNum type="arabicPeriod"/>
            </a:pPr>
            <a:r>
              <a:rPr lang="en-GB" sz="1200" dirty="0">
                <a:latin typeface="Calibri" panose="020F0502020204030204" pitchFamily="34" charset="0"/>
                <a:ea typeface="Arial Unicode MS"/>
                <a:cs typeface="Arial Unicode MS"/>
              </a:rPr>
              <a:t>Ensure that the worksheets and PPT match up and work well together. Students should be able to recognize the content easily. (See the formatting section for help.)</a:t>
            </a:r>
          </a:p>
          <a:p>
            <a:pPr marL="228600" indent="-228600">
              <a:spcAft>
                <a:spcPts val="600"/>
              </a:spcAft>
              <a:buFont typeface="+mj-lt"/>
              <a:buAutoNum type="arabicPeriod"/>
            </a:pPr>
            <a:r>
              <a:rPr lang="en-GB" sz="1200" dirty="0">
                <a:latin typeface="Calibri" panose="020F0502020204030204" pitchFamily="34" charset="0"/>
                <a:ea typeface="Arial Unicode MS"/>
                <a:cs typeface="Arial Unicode MS"/>
              </a:rPr>
              <a:t>Prepare your lesson for peer review, team leader review, and coordinator feedback. (See the review process section.)</a:t>
            </a:r>
          </a:p>
          <a:p>
            <a:pPr marL="228600" indent="-228600">
              <a:spcAft>
                <a:spcPts val="600"/>
              </a:spcAft>
              <a:buFont typeface="+mj-lt"/>
              <a:buAutoNum type="arabicPeriod"/>
            </a:pPr>
            <a:endParaRPr lang="en-GB" sz="1200" dirty="0">
              <a:effectLst/>
              <a:latin typeface="Calibri" panose="020F0502020204030204" pitchFamily="34" charset="0"/>
              <a:ea typeface="Arial Unicode MS"/>
              <a:cs typeface="Arial Unicode MS"/>
            </a:endParaRPr>
          </a:p>
        </p:txBody>
      </p:sp>
    </p:spTree>
    <p:extLst>
      <p:ext uri="{BB962C8B-B14F-4D97-AF65-F5344CB8AC3E}">
        <p14:creationId xmlns:p14="http://schemas.microsoft.com/office/powerpoint/2010/main" val="12237915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231552" y="534096"/>
            <a:ext cx="4394896" cy="431800"/>
          </a:xfrm>
        </p:spPr>
        <p:txBody>
          <a:bodyPr/>
          <a:lstStyle/>
          <a:p>
            <a:pPr marL="0" indent="0" algn="ctr">
              <a:buNone/>
            </a:pPr>
            <a:r>
              <a:rPr lang="en-US" sz="2400" b="1" dirty="0">
                <a:solidFill>
                  <a:srgbClr val="C00000"/>
                </a:solidFill>
              </a:rPr>
              <a:t>Planning Assignment Schedule</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190475"/>
          </a:xfrm>
        </p:spPr>
        <p:txBody>
          <a:bodyPr/>
          <a:lstStyle/>
          <a:p>
            <a:pPr marL="0" indent="0" algn="ctr">
              <a:buNone/>
            </a:pPr>
            <a:r>
              <a:rPr lang="en-US" sz="1600" dirty="0"/>
              <a:t>21</a:t>
            </a:r>
          </a:p>
        </p:txBody>
      </p:sp>
      <p:sp>
        <p:nvSpPr>
          <p:cNvPr id="5" name="TextBox 4">
            <a:extLst>
              <a:ext uri="{FF2B5EF4-FFF2-40B4-BE49-F238E27FC236}">
                <a16:creationId xmlns:a16="http://schemas.microsoft.com/office/drawing/2014/main" id="{18E764D6-4B5B-B0E2-0533-451C6B3C3A9D}"/>
              </a:ext>
            </a:extLst>
          </p:cNvPr>
          <p:cNvSpPr txBox="1"/>
          <p:nvPr/>
        </p:nvSpPr>
        <p:spPr>
          <a:xfrm>
            <a:off x="485775" y="1252864"/>
            <a:ext cx="5886450" cy="1292662"/>
          </a:xfrm>
          <a:prstGeom prst="rect">
            <a:avLst/>
          </a:prstGeom>
          <a:noFill/>
        </p:spPr>
        <p:txBody>
          <a:bodyPr wrap="square" rtlCol="0">
            <a:spAutoFit/>
          </a:bodyPr>
          <a:lstStyle/>
          <a:p>
            <a:pPr algn="ctr">
              <a:spcAft>
                <a:spcPts val="600"/>
              </a:spcAft>
            </a:pPr>
            <a:r>
              <a:rPr lang="en-GB" sz="1600" b="1" u="sng" dirty="0">
                <a:latin typeface="Calibri" panose="020F0502020204030204" pitchFamily="34" charset="0"/>
                <a:ea typeface="Arial Unicode MS"/>
                <a:cs typeface="Arial Unicode MS"/>
              </a:rPr>
              <a:t>Planning Assignment Schedule</a:t>
            </a:r>
          </a:p>
          <a:p>
            <a:pPr algn="ctr">
              <a:spcAft>
                <a:spcPts val="600"/>
              </a:spcAft>
            </a:pPr>
            <a:endParaRPr lang="en-GB" sz="200" b="1" u="sng" dirty="0">
              <a:latin typeface="Calibri" panose="020F0502020204030204" pitchFamily="34" charset="0"/>
              <a:ea typeface="Arial Unicode MS"/>
              <a:cs typeface="Arial Unicode MS"/>
            </a:endParaRPr>
          </a:p>
          <a:p>
            <a:pPr>
              <a:spcAft>
                <a:spcPts val="600"/>
              </a:spcAft>
            </a:pPr>
            <a:r>
              <a:rPr lang="en-GB" sz="1200" dirty="0">
                <a:latin typeface="Calibri" panose="020F0502020204030204" pitchFamily="34" charset="0"/>
                <a:ea typeface="Arial Unicode MS"/>
                <a:cs typeface="Arial Unicode MS"/>
              </a:rPr>
              <a:t>As mentioned in the </a:t>
            </a:r>
            <a:r>
              <a:rPr lang="en-GB" sz="1200" b="1" i="1" dirty="0">
                <a:latin typeface="Calibri" panose="020F0502020204030204" pitchFamily="34" charset="0"/>
                <a:ea typeface="Arial Unicode MS"/>
                <a:cs typeface="Arial Unicode MS"/>
              </a:rPr>
              <a:t>Initial Steps </a:t>
            </a:r>
            <a:r>
              <a:rPr lang="en-GB" sz="1200" dirty="0">
                <a:latin typeface="Calibri" panose="020F0502020204030204" pitchFamily="34" charset="0"/>
                <a:ea typeface="Arial Unicode MS"/>
                <a:cs typeface="Arial Unicode MS"/>
              </a:rPr>
              <a:t>section, you will find your assigned lesson to make in the planning assignment schedule. This document is made each semester by the Elementary and Middle School Coordinators. It is available in the Term Schedule folder on Dropbox, and your team leader will give it to you when it is ready.</a:t>
            </a:r>
            <a:endParaRPr lang="en-GB" sz="1200" dirty="0">
              <a:effectLst/>
              <a:latin typeface="Calibri" panose="020F0502020204030204" pitchFamily="34" charset="0"/>
              <a:ea typeface="Arial Unicode MS"/>
              <a:cs typeface="Arial Unicode MS"/>
            </a:endParaRPr>
          </a:p>
        </p:txBody>
      </p:sp>
      <p:grpSp>
        <p:nvGrpSpPr>
          <p:cNvPr id="35" name="Group 34">
            <a:extLst>
              <a:ext uri="{FF2B5EF4-FFF2-40B4-BE49-F238E27FC236}">
                <a16:creationId xmlns:a16="http://schemas.microsoft.com/office/drawing/2014/main" id="{F1C7376B-EB58-FA6E-A89B-7EE98F7B8B90}"/>
              </a:ext>
            </a:extLst>
          </p:cNvPr>
          <p:cNvGrpSpPr/>
          <p:nvPr/>
        </p:nvGrpSpPr>
        <p:grpSpPr>
          <a:xfrm>
            <a:off x="812989" y="2604536"/>
            <a:ext cx="5232021" cy="5718567"/>
            <a:chOff x="592583" y="2253029"/>
            <a:chExt cx="5232021" cy="5718567"/>
          </a:xfrm>
        </p:grpSpPr>
        <p:pic>
          <p:nvPicPr>
            <p:cNvPr id="6" name="Picture 5">
              <a:extLst>
                <a:ext uri="{FF2B5EF4-FFF2-40B4-BE49-F238E27FC236}">
                  <a16:creationId xmlns:a16="http://schemas.microsoft.com/office/drawing/2014/main" id="{A8568C68-ADC9-5501-E2F2-CC57B049821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92583" y="3194364"/>
              <a:ext cx="2975187" cy="4777232"/>
            </a:xfrm>
            <a:prstGeom prst="rect">
              <a:avLst/>
            </a:prstGeom>
          </p:spPr>
        </p:pic>
        <p:sp>
          <p:nvSpPr>
            <p:cNvPr id="7" name="Rectangle 6">
              <a:extLst>
                <a:ext uri="{FF2B5EF4-FFF2-40B4-BE49-F238E27FC236}">
                  <a16:creationId xmlns:a16="http://schemas.microsoft.com/office/drawing/2014/main" id="{DBEB2AED-6ABD-8627-FA97-D17E496F61DA}"/>
                </a:ext>
              </a:extLst>
            </p:cNvPr>
            <p:cNvSpPr/>
            <p:nvPr/>
          </p:nvSpPr>
          <p:spPr>
            <a:xfrm>
              <a:off x="653041" y="2253029"/>
              <a:ext cx="3477343" cy="401472"/>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Each level has A and B planners. The names of the planners and their campus are shown below.</a:t>
              </a:r>
            </a:p>
          </p:txBody>
        </p:sp>
        <p:cxnSp>
          <p:nvCxnSpPr>
            <p:cNvPr id="8" name="Straight Arrow Connector 7">
              <a:extLst>
                <a:ext uri="{FF2B5EF4-FFF2-40B4-BE49-F238E27FC236}">
                  <a16:creationId xmlns:a16="http://schemas.microsoft.com/office/drawing/2014/main" id="{49F1872A-9E3E-8E4C-A432-16B162C5BD0E}"/>
                </a:ext>
              </a:extLst>
            </p:cNvPr>
            <p:cNvCxnSpPr>
              <a:cxnSpLocks/>
              <a:stCxn id="7" idx="2"/>
            </p:cNvCxnSpPr>
            <p:nvPr/>
          </p:nvCxnSpPr>
          <p:spPr>
            <a:xfrm flipH="1">
              <a:off x="1941534" y="2654501"/>
              <a:ext cx="450179" cy="523331"/>
            </a:xfrm>
            <a:prstGeom prst="straightConnector1">
              <a:avLst/>
            </a:prstGeom>
            <a:ln w="127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FE20C684-00C3-84BC-1E9C-9570EEF5F68B}"/>
                </a:ext>
              </a:extLst>
            </p:cNvPr>
            <p:cNvCxnSpPr>
              <a:cxnSpLocks/>
            </p:cNvCxnSpPr>
            <p:nvPr/>
          </p:nvCxnSpPr>
          <p:spPr>
            <a:xfrm>
              <a:off x="2391713" y="2671033"/>
              <a:ext cx="451695" cy="506799"/>
            </a:xfrm>
            <a:prstGeom prst="straightConnector1">
              <a:avLst/>
            </a:prstGeom>
            <a:ln w="127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4" name="Rectangle 13">
              <a:extLst>
                <a:ext uri="{FF2B5EF4-FFF2-40B4-BE49-F238E27FC236}">
                  <a16:creationId xmlns:a16="http://schemas.microsoft.com/office/drawing/2014/main" id="{B45E4865-17E2-C23C-2430-170C8028AFC1}"/>
                </a:ext>
              </a:extLst>
            </p:cNvPr>
            <p:cNvSpPr/>
            <p:nvPr/>
          </p:nvSpPr>
          <p:spPr>
            <a:xfrm>
              <a:off x="3912436" y="2755998"/>
              <a:ext cx="1887654" cy="505719"/>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The book for the semester.</a:t>
              </a:r>
            </a:p>
          </p:txBody>
        </p:sp>
        <p:sp>
          <p:nvSpPr>
            <p:cNvPr id="15" name="Rectangle 14">
              <a:extLst>
                <a:ext uri="{FF2B5EF4-FFF2-40B4-BE49-F238E27FC236}">
                  <a16:creationId xmlns:a16="http://schemas.microsoft.com/office/drawing/2014/main" id="{0340A3E3-B739-B123-4382-4039C352C098}"/>
                </a:ext>
              </a:extLst>
            </p:cNvPr>
            <p:cNvSpPr/>
            <p:nvPr/>
          </p:nvSpPr>
          <p:spPr>
            <a:xfrm>
              <a:off x="3912436" y="3457674"/>
              <a:ext cx="1887654" cy="505719"/>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The lesson’s due date.</a:t>
              </a:r>
            </a:p>
          </p:txBody>
        </p:sp>
        <p:sp>
          <p:nvSpPr>
            <p:cNvPr id="16" name="Rectangle 15">
              <a:extLst>
                <a:ext uri="{FF2B5EF4-FFF2-40B4-BE49-F238E27FC236}">
                  <a16:creationId xmlns:a16="http://schemas.microsoft.com/office/drawing/2014/main" id="{57E5FF71-587B-E658-2D37-A9A70B003FD4}"/>
                </a:ext>
              </a:extLst>
            </p:cNvPr>
            <p:cNvSpPr/>
            <p:nvPr/>
          </p:nvSpPr>
          <p:spPr>
            <a:xfrm>
              <a:off x="3912436" y="4220903"/>
              <a:ext cx="1887654" cy="651811"/>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The week of the semester in which the lesson will be taught.</a:t>
              </a:r>
            </a:p>
          </p:txBody>
        </p:sp>
        <p:cxnSp>
          <p:nvCxnSpPr>
            <p:cNvPr id="17" name="Straight Arrow Connector 16">
              <a:extLst>
                <a:ext uri="{FF2B5EF4-FFF2-40B4-BE49-F238E27FC236}">
                  <a16:creationId xmlns:a16="http://schemas.microsoft.com/office/drawing/2014/main" id="{77C56A6D-97A1-6747-C264-6FB4CE226AA9}"/>
                </a:ext>
              </a:extLst>
            </p:cNvPr>
            <p:cNvCxnSpPr>
              <a:cxnSpLocks/>
              <a:stCxn id="14" idx="1"/>
            </p:cNvCxnSpPr>
            <p:nvPr/>
          </p:nvCxnSpPr>
          <p:spPr>
            <a:xfrm flipH="1">
              <a:off x="3208594" y="3008858"/>
              <a:ext cx="703842" cy="1111427"/>
            </a:xfrm>
            <a:prstGeom prst="straightConnector1">
              <a:avLst/>
            </a:prstGeom>
            <a:ln w="127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9" name="Straight Arrow Connector 18">
              <a:extLst>
                <a:ext uri="{FF2B5EF4-FFF2-40B4-BE49-F238E27FC236}">
                  <a16:creationId xmlns:a16="http://schemas.microsoft.com/office/drawing/2014/main" id="{B5225222-AB63-C534-B333-F412F68845FF}"/>
                </a:ext>
              </a:extLst>
            </p:cNvPr>
            <p:cNvCxnSpPr>
              <a:cxnSpLocks/>
              <a:stCxn id="15" idx="1"/>
            </p:cNvCxnSpPr>
            <p:nvPr/>
          </p:nvCxnSpPr>
          <p:spPr>
            <a:xfrm flipH="1">
              <a:off x="1189973" y="3710534"/>
              <a:ext cx="2722463" cy="1069274"/>
            </a:xfrm>
            <a:prstGeom prst="straightConnector1">
              <a:avLst/>
            </a:prstGeom>
            <a:ln w="127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1" name="Straight Arrow Connector 20">
              <a:extLst>
                <a:ext uri="{FF2B5EF4-FFF2-40B4-BE49-F238E27FC236}">
                  <a16:creationId xmlns:a16="http://schemas.microsoft.com/office/drawing/2014/main" id="{52C3D3A2-21B4-A7E3-AE3A-DC74407EA547}"/>
                </a:ext>
              </a:extLst>
            </p:cNvPr>
            <p:cNvCxnSpPr>
              <a:cxnSpLocks/>
              <a:stCxn id="16" idx="1"/>
            </p:cNvCxnSpPr>
            <p:nvPr/>
          </p:nvCxnSpPr>
          <p:spPr>
            <a:xfrm flipH="1">
              <a:off x="3294345" y="4546809"/>
              <a:ext cx="618091" cy="485858"/>
            </a:xfrm>
            <a:prstGeom prst="straightConnector1">
              <a:avLst/>
            </a:prstGeom>
            <a:ln w="127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5" name="Rectangle 24">
              <a:extLst>
                <a:ext uri="{FF2B5EF4-FFF2-40B4-BE49-F238E27FC236}">
                  <a16:creationId xmlns:a16="http://schemas.microsoft.com/office/drawing/2014/main" id="{10664B27-4C30-F3BD-D1F4-5DB544A0F0CC}"/>
                </a:ext>
              </a:extLst>
            </p:cNvPr>
            <p:cNvSpPr/>
            <p:nvPr/>
          </p:nvSpPr>
          <p:spPr>
            <a:xfrm>
              <a:off x="3912436" y="5133150"/>
              <a:ext cx="1887654" cy="1335633"/>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The unit of the book the lesson should be based on.</a:t>
              </a:r>
            </a:p>
            <a:p>
              <a:pPr algn="ctr"/>
              <a:r>
                <a:rPr lang="en-US" sz="1200" b="1" dirty="0">
                  <a:solidFill>
                    <a:sysClr val="windowText" lastClr="000000"/>
                  </a:solidFill>
                </a:rPr>
                <a:t>Note: As we have A &amp; B planners, you will not make lessons for every unit.</a:t>
              </a:r>
            </a:p>
          </p:txBody>
        </p:sp>
        <p:cxnSp>
          <p:nvCxnSpPr>
            <p:cNvPr id="27" name="Straight Arrow Connector 26">
              <a:extLst>
                <a:ext uri="{FF2B5EF4-FFF2-40B4-BE49-F238E27FC236}">
                  <a16:creationId xmlns:a16="http://schemas.microsoft.com/office/drawing/2014/main" id="{2B8F5BC0-3D84-AA1F-4AD2-5515AE211C56}"/>
                </a:ext>
              </a:extLst>
            </p:cNvPr>
            <p:cNvCxnSpPr>
              <a:cxnSpLocks/>
              <a:stCxn id="25" idx="1"/>
            </p:cNvCxnSpPr>
            <p:nvPr/>
          </p:nvCxnSpPr>
          <p:spPr>
            <a:xfrm flipH="1" flipV="1">
              <a:off x="3031299" y="5519415"/>
              <a:ext cx="881137" cy="281552"/>
            </a:xfrm>
            <a:prstGeom prst="straightConnector1">
              <a:avLst/>
            </a:prstGeom>
            <a:ln w="127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9" name="Rectangle 28">
              <a:extLst>
                <a:ext uri="{FF2B5EF4-FFF2-40B4-BE49-F238E27FC236}">
                  <a16:creationId xmlns:a16="http://schemas.microsoft.com/office/drawing/2014/main" id="{81DAC2E2-821E-6CD5-B305-975D11DF7250}"/>
                </a:ext>
              </a:extLst>
            </p:cNvPr>
            <p:cNvSpPr/>
            <p:nvPr/>
          </p:nvSpPr>
          <p:spPr>
            <a:xfrm>
              <a:off x="3936950" y="6652253"/>
              <a:ext cx="1887654" cy="63789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Whether the lesson should be speaking or writing focused.</a:t>
              </a:r>
            </a:p>
          </p:txBody>
        </p:sp>
        <p:cxnSp>
          <p:nvCxnSpPr>
            <p:cNvPr id="30" name="Straight Arrow Connector 29">
              <a:extLst>
                <a:ext uri="{FF2B5EF4-FFF2-40B4-BE49-F238E27FC236}">
                  <a16:creationId xmlns:a16="http://schemas.microsoft.com/office/drawing/2014/main" id="{81E134B5-860F-3659-0A1A-205E1FF46F89}"/>
                </a:ext>
              </a:extLst>
            </p:cNvPr>
            <p:cNvCxnSpPr>
              <a:cxnSpLocks/>
            </p:cNvCxnSpPr>
            <p:nvPr/>
          </p:nvCxnSpPr>
          <p:spPr>
            <a:xfrm flipH="1" flipV="1">
              <a:off x="3429000" y="6212264"/>
              <a:ext cx="507950" cy="759488"/>
            </a:xfrm>
            <a:prstGeom prst="straightConnector1">
              <a:avLst/>
            </a:prstGeom>
            <a:ln w="127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32" name="Rectangle 31">
              <a:extLst>
                <a:ext uri="{FF2B5EF4-FFF2-40B4-BE49-F238E27FC236}">
                  <a16:creationId xmlns:a16="http://schemas.microsoft.com/office/drawing/2014/main" id="{4069EA26-E950-987B-527C-5FE6BC974343}"/>
                </a:ext>
              </a:extLst>
            </p:cNvPr>
            <p:cNvSpPr/>
            <p:nvPr/>
          </p:nvSpPr>
          <p:spPr>
            <a:xfrm>
              <a:off x="3936950" y="7469179"/>
              <a:ext cx="1887654" cy="46166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Plan Ahead  </a:t>
              </a:r>
            </a:p>
            <a:p>
              <a:pPr algn="ctr"/>
              <a:r>
                <a:rPr lang="en-US" sz="1200" b="1" dirty="0">
                  <a:solidFill>
                    <a:sysClr val="windowText" lastClr="000000"/>
                  </a:solidFill>
                </a:rPr>
                <a:t>No lesson due.</a:t>
              </a:r>
            </a:p>
          </p:txBody>
        </p:sp>
        <p:cxnSp>
          <p:nvCxnSpPr>
            <p:cNvPr id="33" name="Straight Arrow Connector 32">
              <a:extLst>
                <a:ext uri="{FF2B5EF4-FFF2-40B4-BE49-F238E27FC236}">
                  <a16:creationId xmlns:a16="http://schemas.microsoft.com/office/drawing/2014/main" id="{3749F3E2-CE87-4C37-9C25-50DC65F3E91D}"/>
                </a:ext>
              </a:extLst>
            </p:cNvPr>
            <p:cNvCxnSpPr>
              <a:cxnSpLocks/>
              <a:stCxn id="32" idx="1"/>
            </p:cNvCxnSpPr>
            <p:nvPr/>
          </p:nvCxnSpPr>
          <p:spPr>
            <a:xfrm flipH="1" flipV="1">
              <a:off x="3031299" y="7600843"/>
              <a:ext cx="905651" cy="99169"/>
            </a:xfrm>
            <a:prstGeom prst="straightConnector1">
              <a:avLst/>
            </a:prstGeom>
            <a:ln w="12700">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sp>
        <p:nvSpPr>
          <p:cNvPr id="37" name="TextBox 36">
            <a:extLst>
              <a:ext uri="{FF2B5EF4-FFF2-40B4-BE49-F238E27FC236}">
                <a16:creationId xmlns:a16="http://schemas.microsoft.com/office/drawing/2014/main" id="{00E5322C-330A-029A-36B5-6142828FF678}"/>
              </a:ext>
            </a:extLst>
          </p:cNvPr>
          <p:cNvSpPr txBox="1"/>
          <p:nvPr/>
        </p:nvSpPr>
        <p:spPr>
          <a:xfrm>
            <a:off x="552304" y="8600841"/>
            <a:ext cx="5886450" cy="646331"/>
          </a:xfrm>
          <a:prstGeom prst="rect">
            <a:avLst/>
          </a:prstGeom>
          <a:noFill/>
        </p:spPr>
        <p:txBody>
          <a:bodyPr wrap="square" rtlCol="0">
            <a:spAutoFit/>
          </a:bodyPr>
          <a:lstStyle/>
          <a:p>
            <a:pPr>
              <a:spcAft>
                <a:spcPts val="600"/>
              </a:spcAft>
            </a:pPr>
            <a:r>
              <a:rPr lang="en-GB" sz="1200" b="1" dirty="0">
                <a:latin typeface="Calibri" panose="020F0502020204030204" pitchFamily="34" charset="0"/>
                <a:ea typeface="Arial Unicode MS"/>
                <a:cs typeface="Arial Unicode MS"/>
              </a:rPr>
              <a:t>Note</a:t>
            </a:r>
            <a:r>
              <a:rPr lang="en-GB" sz="1200" dirty="0">
                <a:latin typeface="Calibri" panose="020F0502020204030204" pitchFamily="34" charset="0"/>
                <a:ea typeface="Arial Unicode MS"/>
                <a:cs typeface="Arial Unicode MS"/>
              </a:rPr>
              <a:t>: Plan ahead weeks are normally given around national holidays, DYB events, or busy periods. </a:t>
            </a:r>
            <a:r>
              <a:rPr lang="en-GB" sz="1200" b="1" dirty="0">
                <a:latin typeface="Calibri" panose="020F0502020204030204" pitchFamily="34" charset="0"/>
                <a:ea typeface="Arial Unicode MS"/>
                <a:cs typeface="Arial Unicode MS"/>
              </a:rPr>
              <a:t>They are given for you to work ahead on your lessons, make use of the time wisely.</a:t>
            </a:r>
            <a:endParaRPr lang="en-GB" sz="1200" dirty="0">
              <a:effectLst/>
              <a:latin typeface="Calibri" panose="020F0502020204030204" pitchFamily="34" charset="0"/>
              <a:ea typeface="Arial Unicode MS"/>
              <a:cs typeface="Arial Unicode MS"/>
            </a:endParaRPr>
          </a:p>
        </p:txBody>
      </p:sp>
      <p:pic>
        <p:nvPicPr>
          <p:cNvPr id="9" name="Picture 8">
            <a:extLst>
              <a:ext uri="{FF2B5EF4-FFF2-40B4-BE49-F238E27FC236}">
                <a16:creationId xmlns:a16="http://schemas.microsoft.com/office/drawing/2014/main" id="{D2F1B4F4-28A0-C445-8A6A-D93CF59F3B56}"/>
              </a:ext>
            </a:extLst>
          </p:cNvPr>
          <p:cNvPicPr>
            <a:picLocks noChangeAspect="1"/>
          </p:cNvPicPr>
          <p:nvPr/>
        </p:nvPicPr>
        <p:blipFill>
          <a:blip r:embed="rId3"/>
          <a:stretch>
            <a:fillRect/>
          </a:stretch>
        </p:blipFill>
        <p:spPr>
          <a:xfrm>
            <a:off x="2011959" y="7728513"/>
            <a:ext cx="1175741" cy="457232"/>
          </a:xfrm>
          <a:prstGeom prst="rect">
            <a:avLst/>
          </a:prstGeom>
        </p:spPr>
      </p:pic>
      <p:cxnSp>
        <p:nvCxnSpPr>
          <p:cNvPr id="11" name="Straight Arrow Connector 10">
            <a:extLst>
              <a:ext uri="{FF2B5EF4-FFF2-40B4-BE49-F238E27FC236}">
                <a16:creationId xmlns:a16="http://schemas.microsoft.com/office/drawing/2014/main" id="{99243C93-0A6A-C0EE-EA6D-C812F48AA9F0}"/>
              </a:ext>
            </a:extLst>
          </p:cNvPr>
          <p:cNvCxnSpPr>
            <a:cxnSpLocks/>
            <a:stCxn id="32" idx="2"/>
          </p:cNvCxnSpPr>
          <p:nvPr/>
        </p:nvCxnSpPr>
        <p:spPr>
          <a:xfrm flipH="1">
            <a:off x="3649406" y="8282351"/>
            <a:ext cx="1451777" cy="370785"/>
          </a:xfrm>
          <a:prstGeom prst="straightConnector1">
            <a:avLst/>
          </a:prstGeom>
          <a:ln w="127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783314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Brainstorming</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190475"/>
          </a:xfrm>
        </p:spPr>
        <p:txBody>
          <a:bodyPr/>
          <a:lstStyle/>
          <a:p>
            <a:pPr marL="0" indent="0" algn="ctr">
              <a:buNone/>
            </a:pPr>
            <a:r>
              <a:rPr lang="en-US" sz="1600" dirty="0"/>
              <a:t>22</a:t>
            </a:r>
          </a:p>
        </p:txBody>
      </p:sp>
      <p:sp>
        <p:nvSpPr>
          <p:cNvPr id="5" name="TextBox 4">
            <a:extLst>
              <a:ext uri="{FF2B5EF4-FFF2-40B4-BE49-F238E27FC236}">
                <a16:creationId xmlns:a16="http://schemas.microsoft.com/office/drawing/2014/main" id="{18E764D6-4B5B-B0E2-0533-451C6B3C3A9D}"/>
              </a:ext>
            </a:extLst>
          </p:cNvPr>
          <p:cNvSpPr txBox="1"/>
          <p:nvPr/>
        </p:nvSpPr>
        <p:spPr>
          <a:xfrm>
            <a:off x="485775" y="1252864"/>
            <a:ext cx="5886450" cy="2816156"/>
          </a:xfrm>
          <a:prstGeom prst="rect">
            <a:avLst/>
          </a:prstGeom>
          <a:noFill/>
        </p:spPr>
        <p:txBody>
          <a:bodyPr wrap="square" rtlCol="0">
            <a:spAutoFit/>
          </a:bodyPr>
          <a:lstStyle/>
          <a:p>
            <a:pPr algn="ctr">
              <a:spcAft>
                <a:spcPts val="600"/>
              </a:spcAft>
            </a:pPr>
            <a:r>
              <a:rPr lang="en-GB" sz="1600" b="1" u="sng" dirty="0">
                <a:latin typeface="Calibri" panose="020F0502020204030204" pitchFamily="34" charset="0"/>
                <a:ea typeface="Arial Unicode MS"/>
                <a:cs typeface="Arial Unicode MS"/>
              </a:rPr>
              <a:t>Brainstorming</a:t>
            </a:r>
          </a:p>
          <a:p>
            <a:pPr>
              <a:spcAft>
                <a:spcPts val="600"/>
              </a:spcAft>
            </a:pPr>
            <a:r>
              <a:rPr lang="en-GB" sz="1200" dirty="0">
                <a:effectLst/>
                <a:latin typeface="Calibri" panose="020F0502020204030204" pitchFamily="34" charset="0"/>
                <a:ea typeface="Arial Unicode MS"/>
                <a:cs typeface="Arial Unicode MS"/>
              </a:rPr>
              <a:t>Brainstorming ideas for a lesson can often be the most difficult step. Below are some approaches for you to consider when doing so. Your team leader and other team members will always be willing to help with ideas, too! Try to think of your main lesson idea as soon as possible. Read the unit beforehand and keep it in the back of your mind. You never know when you might get a bolt of inspiration. </a:t>
            </a:r>
          </a:p>
          <a:p>
            <a:pPr>
              <a:spcAft>
                <a:spcPts val="600"/>
              </a:spcAft>
            </a:pPr>
            <a:r>
              <a:rPr lang="en-GB" sz="1200" b="1" dirty="0">
                <a:effectLst/>
                <a:latin typeface="Calibri" panose="020F0502020204030204" pitchFamily="34" charset="0"/>
                <a:ea typeface="Arial Unicode MS"/>
                <a:cs typeface="Arial Unicode MS"/>
              </a:rPr>
              <a:t>Note</a:t>
            </a:r>
            <a:r>
              <a:rPr lang="en-GB" sz="1200" dirty="0">
                <a:effectLst/>
                <a:latin typeface="Calibri" panose="020F0502020204030204" pitchFamily="34" charset="0"/>
                <a:ea typeface="Arial Unicode MS"/>
                <a:cs typeface="Arial Unicode MS"/>
              </a:rPr>
              <a:t>: We don’t need to focus on grammar in our lessons, but we can use grammar points as a tool to support our lesson aims. Grammar could be presented as simple sentence patterns for lower levels. </a:t>
            </a:r>
            <a:endParaRPr lang="en-GB" sz="1200" dirty="0">
              <a:latin typeface="Calibri" panose="020F0502020204030204" pitchFamily="34" charset="0"/>
              <a:ea typeface="Arial Unicode MS"/>
              <a:cs typeface="Arial Unicode MS"/>
            </a:endParaRPr>
          </a:p>
          <a:p>
            <a:pPr algn="ctr">
              <a:spcAft>
                <a:spcPts val="600"/>
              </a:spcAft>
            </a:pPr>
            <a:r>
              <a:rPr lang="en-GB" sz="1600" b="1" u="sng" dirty="0">
                <a:effectLst/>
                <a:latin typeface="Calibri" panose="020F0502020204030204" pitchFamily="34" charset="0"/>
                <a:ea typeface="Arial Unicode MS"/>
                <a:cs typeface="Arial Unicode MS"/>
              </a:rPr>
              <a:t>Three</a:t>
            </a:r>
            <a:r>
              <a:rPr lang="en-GB" sz="1200" b="1" u="sng" dirty="0">
                <a:effectLst/>
                <a:latin typeface="Calibri" panose="020F0502020204030204" pitchFamily="34" charset="0"/>
                <a:ea typeface="Arial Unicode MS"/>
                <a:cs typeface="Arial Unicode MS"/>
              </a:rPr>
              <a:t> </a:t>
            </a:r>
            <a:r>
              <a:rPr lang="en-GB" sz="1600" b="1" u="sng" dirty="0">
                <a:effectLst/>
                <a:latin typeface="Calibri" panose="020F0502020204030204" pitchFamily="34" charset="0"/>
                <a:ea typeface="Arial Unicode MS"/>
                <a:cs typeface="Arial Unicode MS"/>
              </a:rPr>
              <a:t>Approaches</a:t>
            </a:r>
            <a:endParaRPr lang="en-GB" sz="1200" b="1" u="sng" dirty="0">
              <a:effectLst/>
              <a:latin typeface="Calibri" panose="020F0502020204030204" pitchFamily="34" charset="0"/>
              <a:ea typeface="Arial Unicode MS"/>
              <a:cs typeface="Arial Unicode MS"/>
            </a:endParaRPr>
          </a:p>
          <a:p>
            <a:pPr algn="ctr">
              <a:spcAft>
                <a:spcPts val="600"/>
              </a:spcAft>
            </a:pPr>
            <a:endParaRPr lang="en-GB" sz="1200" b="1" dirty="0">
              <a:latin typeface="Calibri" panose="020F0502020204030204" pitchFamily="34" charset="0"/>
              <a:ea typeface="Arial Unicode MS"/>
              <a:cs typeface="Arial Unicode MS"/>
            </a:endParaRPr>
          </a:p>
          <a:p>
            <a:pPr algn="ctr">
              <a:spcAft>
                <a:spcPts val="600"/>
              </a:spcAft>
            </a:pPr>
            <a:endParaRPr lang="en-GB" sz="1200" b="1" dirty="0">
              <a:effectLst/>
              <a:latin typeface="Calibri" panose="020F0502020204030204" pitchFamily="34" charset="0"/>
              <a:ea typeface="Arial Unicode MS"/>
              <a:cs typeface="Arial Unicode MS"/>
            </a:endParaRPr>
          </a:p>
        </p:txBody>
      </p:sp>
      <p:graphicFrame>
        <p:nvGraphicFramePr>
          <p:cNvPr id="4" name="Table 3">
            <a:extLst>
              <a:ext uri="{FF2B5EF4-FFF2-40B4-BE49-F238E27FC236}">
                <a16:creationId xmlns:a16="http://schemas.microsoft.com/office/drawing/2014/main" id="{E4CE4BC9-7B6A-5893-70E7-DCF2CBEA7E41}"/>
              </a:ext>
            </a:extLst>
          </p:cNvPr>
          <p:cNvGraphicFramePr>
            <a:graphicFrameLocks noGrp="1"/>
          </p:cNvGraphicFramePr>
          <p:nvPr>
            <p:extLst>
              <p:ext uri="{D42A27DB-BD31-4B8C-83A1-F6EECF244321}">
                <p14:modId xmlns:p14="http://schemas.microsoft.com/office/powerpoint/2010/main" val="3850812961"/>
              </p:ext>
            </p:extLst>
          </p:nvPr>
        </p:nvGraphicFramePr>
        <p:xfrm>
          <a:off x="485775" y="3800450"/>
          <a:ext cx="5886450" cy="5143500"/>
        </p:xfrm>
        <a:graphic>
          <a:graphicData uri="http://schemas.openxmlformats.org/drawingml/2006/table">
            <a:tbl>
              <a:tblPr firstRow="1" bandRow="1">
                <a:tableStyleId>{5C22544A-7EE6-4342-B048-85BDC9FD1C3A}</a:tableStyleId>
              </a:tblPr>
              <a:tblGrid>
                <a:gridCol w="1962150">
                  <a:extLst>
                    <a:ext uri="{9D8B030D-6E8A-4147-A177-3AD203B41FA5}">
                      <a16:colId xmlns:a16="http://schemas.microsoft.com/office/drawing/2014/main" val="348956349"/>
                    </a:ext>
                  </a:extLst>
                </a:gridCol>
                <a:gridCol w="1962150">
                  <a:extLst>
                    <a:ext uri="{9D8B030D-6E8A-4147-A177-3AD203B41FA5}">
                      <a16:colId xmlns:a16="http://schemas.microsoft.com/office/drawing/2014/main" val="1387265675"/>
                    </a:ext>
                  </a:extLst>
                </a:gridCol>
                <a:gridCol w="1962150">
                  <a:extLst>
                    <a:ext uri="{9D8B030D-6E8A-4147-A177-3AD203B41FA5}">
                      <a16:colId xmlns:a16="http://schemas.microsoft.com/office/drawing/2014/main" val="2133144300"/>
                    </a:ext>
                  </a:extLst>
                </a:gridCol>
              </a:tblGrid>
              <a:tr h="344116">
                <a:tc>
                  <a:txBody>
                    <a:bodyPr/>
                    <a:lstStyle/>
                    <a:p>
                      <a:pPr algn="ctr"/>
                      <a:r>
                        <a:rPr lang="en-US" sz="1400" dirty="0">
                          <a:solidFill>
                            <a:schemeClr val="tx1"/>
                          </a:solidFill>
                        </a:rPr>
                        <a:t>Production First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400" dirty="0">
                          <a:solidFill>
                            <a:schemeClr val="tx1"/>
                          </a:solidFill>
                        </a:rPr>
                        <a:t>Skill First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400" dirty="0">
                          <a:solidFill>
                            <a:schemeClr val="tx1"/>
                          </a:solidFill>
                        </a:rPr>
                        <a:t>Needs First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748186375"/>
                  </a:ext>
                </a:extLst>
              </a:tr>
              <a:tr h="1781864">
                <a:tc>
                  <a:txBody>
                    <a:bodyPr/>
                    <a:lstStyle/>
                    <a:p>
                      <a:pPr marL="0" lvl="0" indent="0" algn="ctr" rtl="0">
                        <a:spcBef>
                          <a:spcPts val="0"/>
                        </a:spcBef>
                        <a:spcAft>
                          <a:spcPts val="0"/>
                        </a:spcAft>
                        <a:buNone/>
                      </a:pPr>
                      <a:r>
                        <a:rPr lang="en-GB" sz="1200" dirty="0"/>
                        <a:t>After reading the unit, think about what could be a good production activity.</a:t>
                      </a:r>
                    </a:p>
                    <a:p>
                      <a:pPr marL="0" lvl="0" indent="0" algn="ctr" rtl="0">
                        <a:spcBef>
                          <a:spcPts val="0"/>
                        </a:spcBef>
                        <a:spcAft>
                          <a:spcPts val="0"/>
                        </a:spcAft>
                        <a:buNone/>
                      </a:pPr>
                      <a:endParaRPr lang="en-GB" sz="1200" dirty="0"/>
                    </a:p>
                    <a:p>
                      <a:pPr marL="0" lvl="0" indent="0" algn="ctr" rtl="0">
                        <a:spcBef>
                          <a:spcPts val="0"/>
                        </a:spcBef>
                        <a:spcAft>
                          <a:spcPts val="0"/>
                        </a:spcAft>
                        <a:buNone/>
                      </a:pPr>
                      <a:r>
                        <a:rPr lang="en-GB" sz="1200" dirty="0"/>
                        <a:t>Then, consider what skill(s) students will need in order to complete the production successfully. These will be the focus of your practices.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ctr" rtl="0">
                        <a:spcBef>
                          <a:spcPts val="0"/>
                        </a:spcBef>
                        <a:spcAft>
                          <a:spcPts val="0"/>
                        </a:spcAft>
                        <a:buNone/>
                      </a:pPr>
                      <a:r>
                        <a:rPr lang="en" sz="1200" dirty="0"/>
                        <a:t>After reading the unit, is there a specific grammar point that would work well?</a:t>
                      </a:r>
                    </a:p>
                    <a:p>
                      <a:pPr marL="0" lvl="0" indent="0" algn="ctr" rtl="0">
                        <a:spcBef>
                          <a:spcPts val="0"/>
                        </a:spcBef>
                        <a:spcAft>
                          <a:spcPts val="0"/>
                        </a:spcAft>
                        <a:buNone/>
                      </a:pPr>
                      <a:endParaRPr lang="en" sz="1200" dirty="0"/>
                    </a:p>
                    <a:p>
                      <a:pPr marL="0" lvl="0" indent="0" algn="ctr" rtl="0">
                        <a:spcBef>
                          <a:spcPts val="0"/>
                        </a:spcBef>
                        <a:spcAft>
                          <a:spcPts val="0"/>
                        </a:spcAft>
                        <a:buNone/>
                      </a:pPr>
                      <a:r>
                        <a:rPr lang="en" sz="1200" dirty="0"/>
                        <a:t>If so, is there a production that would allow students to freely use the grammar point? </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ctr" rtl="0">
                        <a:spcBef>
                          <a:spcPts val="0"/>
                        </a:spcBef>
                        <a:spcAft>
                          <a:spcPts val="0"/>
                        </a:spcAft>
                        <a:buNone/>
                      </a:pPr>
                      <a:r>
                        <a:rPr lang="en-GB" sz="1200" dirty="0"/>
                        <a:t>Is there a common mistake that students in your class make?</a:t>
                      </a:r>
                    </a:p>
                    <a:p>
                      <a:pPr marL="0" lvl="0" indent="0" algn="ctr" rtl="0">
                        <a:spcBef>
                          <a:spcPts val="0"/>
                        </a:spcBef>
                        <a:spcAft>
                          <a:spcPts val="0"/>
                        </a:spcAft>
                        <a:buNone/>
                      </a:pPr>
                      <a:endParaRPr lang="en-GB" sz="1200" dirty="0"/>
                    </a:p>
                    <a:p>
                      <a:pPr marL="0" lvl="0" indent="0" algn="ctr" rtl="0">
                        <a:spcBef>
                          <a:spcPts val="0"/>
                        </a:spcBef>
                        <a:spcAft>
                          <a:spcPts val="0"/>
                        </a:spcAft>
                        <a:buNone/>
                      </a:pPr>
                      <a:r>
                        <a:rPr lang="en-GB" sz="1200" dirty="0"/>
                        <a:t>Check your lesson planning schedule and the unit topics. Is there a unit that would work well with the grammar point?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61871353"/>
                  </a:ext>
                </a:extLst>
              </a:tr>
              <a:tr h="1781864">
                <a:tc>
                  <a:txBody>
                    <a:bodyPr/>
                    <a:lstStyle/>
                    <a:p>
                      <a:pPr marL="0" lvl="0" indent="0" algn="ctr" rtl="0">
                        <a:spcBef>
                          <a:spcPts val="0"/>
                        </a:spcBef>
                        <a:spcAft>
                          <a:spcPts val="0"/>
                        </a:spcAft>
                        <a:buNone/>
                      </a:pPr>
                      <a:r>
                        <a:rPr lang="en-GB" sz="1200" b="1" dirty="0"/>
                        <a:t>Example:</a:t>
                      </a:r>
                    </a:p>
                    <a:p>
                      <a:pPr marL="0" lvl="0" indent="0" algn="ctr" rtl="0">
                        <a:spcBef>
                          <a:spcPts val="0"/>
                        </a:spcBef>
                        <a:spcAft>
                          <a:spcPts val="0"/>
                        </a:spcAft>
                        <a:buNone/>
                      </a:pPr>
                      <a:r>
                        <a:rPr lang="en-GB" sz="1200" dirty="0"/>
                        <a:t>The unit topic is about desserts. </a:t>
                      </a:r>
                    </a:p>
                    <a:p>
                      <a:pPr marL="0" lvl="0" indent="0" algn="ctr" rtl="0">
                        <a:spcBef>
                          <a:spcPts val="0"/>
                        </a:spcBef>
                        <a:spcAft>
                          <a:spcPts val="0"/>
                        </a:spcAft>
                        <a:buNone/>
                      </a:pPr>
                      <a:endParaRPr lang="en-GB" sz="1200" dirty="0"/>
                    </a:p>
                    <a:p>
                      <a:pPr marL="0" lvl="0" indent="0" algn="ctr" rtl="0">
                        <a:spcBef>
                          <a:spcPts val="0"/>
                        </a:spcBef>
                        <a:spcAft>
                          <a:spcPts val="0"/>
                        </a:spcAft>
                        <a:buNone/>
                      </a:pPr>
                      <a:r>
                        <a:rPr lang="en-GB" sz="1200" b="1" dirty="0"/>
                        <a:t>Production</a:t>
                      </a:r>
                      <a:r>
                        <a:rPr lang="en-GB" sz="1200" dirty="0"/>
                        <a:t>: Create a Recipe</a:t>
                      </a:r>
                    </a:p>
                    <a:p>
                      <a:pPr marL="0" lvl="0" indent="0" algn="ctr" rtl="0">
                        <a:spcBef>
                          <a:spcPts val="0"/>
                        </a:spcBef>
                        <a:spcAft>
                          <a:spcPts val="0"/>
                        </a:spcAft>
                        <a:buNone/>
                      </a:pPr>
                      <a:endParaRPr lang="en-GB" sz="1200" dirty="0"/>
                    </a:p>
                    <a:p>
                      <a:pPr marL="0" lvl="0" indent="0" algn="ctr" rtl="0">
                        <a:spcBef>
                          <a:spcPts val="0"/>
                        </a:spcBef>
                        <a:spcAft>
                          <a:spcPts val="0"/>
                        </a:spcAft>
                        <a:buNone/>
                      </a:pPr>
                      <a:r>
                        <a:rPr lang="en-GB" sz="1200" b="1" dirty="0"/>
                        <a:t>Skills Needed:</a:t>
                      </a:r>
                    </a:p>
                    <a:p>
                      <a:pPr marL="0" lvl="0" indent="0" algn="ctr" rtl="0">
                        <a:spcBef>
                          <a:spcPts val="0"/>
                        </a:spcBef>
                        <a:spcAft>
                          <a:spcPts val="0"/>
                        </a:spcAft>
                        <a:buNone/>
                      </a:pPr>
                      <a:r>
                        <a:rPr lang="en-GB" sz="1200" dirty="0"/>
                        <a:t>-Cooking Verbs</a:t>
                      </a:r>
                    </a:p>
                    <a:p>
                      <a:pPr marL="0" lvl="0" indent="0" algn="ctr" rtl="0">
                        <a:spcBef>
                          <a:spcPts val="0"/>
                        </a:spcBef>
                        <a:spcAft>
                          <a:spcPts val="0"/>
                        </a:spcAft>
                        <a:buNone/>
                      </a:pPr>
                      <a:r>
                        <a:rPr lang="en-GB" sz="1200" dirty="0"/>
                        <a:t>-Cooking Adjectives</a:t>
                      </a:r>
                    </a:p>
                    <a:p>
                      <a:pPr marL="0" lvl="0" indent="0" algn="ctr" rtl="0">
                        <a:spcBef>
                          <a:spcPts val="0"/>
                        </a:spcBef>
                        <a:spcAft>
                          <a:spcPts val="0"/>
                        </a:spcAft>
                        <a:buNone/>
                      </a:pPr>
                      <a:r>
                        <a:rPr lang="en-GB" sz="1200" dirty="0"/>
                        <a:t>-Imperatives</a:t>
                      </a:r>
                    </a:p>
                    <a:p>
                      <a:pPr marL="0" lvl="0" indent="0" algn="ctr" rtl="0">
                        <a:spcBef>
                          <a:spcPts val="0"/>
                        </a:spcBef>
                        <a:spcAft>
                          <a:spcPts val="0"/>
                        </a:spcAft>
                        <a:buNone/>
                      </a:pPr>
                      <a:r>
                        <a:rPr lang="en-GB" sz="1200" dirty="0"/>
                        <a:t>-Sequencing</a:t>
                      </a:r>
                    </a:p>
                    <a:p>
                      <a:pPr marL="0" lvl="0" indent="0" algn="ctr" rtl="0">
                        <a:spcBef>
                          <a:spcPts val="0"/>
                        </a:spcBef>
                        <a:spcAft>
                          <a:spcPts val="0"/>
                        </a:spcAft>
                        <a:buNone/>
                      </a:pPr>
                      <a:endParaRPr lang="en-GB" sz="1200" dirty="0"/>
                    </a:p>
                    <a:p>
                      <a:pPr marL="0" lvl="0" indent="0" algn="ctr" rtl="0">
                        <a:spcBef>
                          <a:spcPts val="0"/>
                        </a:spcBef>
                        <a:spcAft>
                          <a:spcPts val="0"/>
                        </a:spcAft>
                        <a:buNone/>
                      </a:pPr>
                      <a:r>
                        <a:rPr lang="en-GB" sz="1200" dirty="0"/>
                        <a:t>(Low levels might focus on one of these skills, whereas high levels could do more than 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ctr" rtl="0">
                        <a:spcBef>
                          <a:spcPts val="0"/>
                        </a:spcBef>
                        <a:spcAft>
                          <a:spcPts val="0"/>
                        </a:spcAft>
                        <a:buNone/>
                      </a:pPr>
                      <a:r>
                        <a:rPr lang="en-GB" sz="1200" b="1" dirty="0"/>
                        <a:t>Example:</a:t>
                      </a:r>
                    </a:p>
                    <a:p>
                      <a:pPr marL="0" lvl="0" indent="0" algn="ctr" rtl="0">
                        <a:spcBef>
                          <a:spcPts val="0"/>
                        </a:spcBef>
                        <a:spcAft>
                          <a:spcPts val="0"/>
                        </a:spcAft>
                        <a:buNone/>
                      </a:pPr>
                      <a:r>
                        <a:rPr lang="en-GB" sz="1200" dirty="0"/>
                        <a:t>The unit topic is about extreme sports.</a:t>
                      </a:r>
                    </a:p>
                    <a:p>
                      <a:pPr marL="0" lvl="0" indent="0" algn="ctr" rtl="0">
                        <a:spcBef>
                          <a:spcPts val="0"/>
                        </a:spcBef>
                        <a:spcAft>
                          <a:spcPts val="0"/>
                        </a:spcAft>
                        <a:buNone/>
                      </a:pPr>
                      <a:endParaRPr lang="en-GB" sz="1200" dirty="0"/>
                    </a:p>
                    <a:p>
                      <a:pPr marL="0" lvl="0" indent="0" algn="ctr" rtl="0">
                        <a:spcBef>
                          <a:spcPts val="0"/>
                        </a:spcBef>
                        <a:spcAft>
                          <a:spcPts val="0"/>
                        </a:spcAft>
                        <a:buNone/>
                      </a:pPr>
                      <a:r>
                        <a:rPr lang="en-GB" sz="1200" b="1" dirty="0"/>
                        <a:t>Skill</a:t>
                      </a:r>
                      <a:r>
                        <a:rPr lang="en-GB" sz="1200" dirty="0"/>
                        <a:t>: Sport Verbs </a:t>
                      </a:r>
                    </a:p>
                    <a:p>
                      <a:pPr marL="0" lvl="0" indent="0" algn="ctr" rtl="0">
                        <a:spcBef>
                          <a:spcPts val="0"/>
                        </a:spcBef>
                        <a:spcAft>
                          <a:spcPts val="0"/>
                        </a:spcAft>
                        <a:buNone/>
                      </a:pPr>
                      <a:endParaRPr lang="en-GB" sz="1200" dirty="0"/>
                    </a:p>
                    <a:p>
                      <a:pPr marL="0" lvl="0" indent="0" algn="ctr" rtl="0">
                        <a:spcBef>
                          <a:spcPts val="0"/>
                        </a:spcBef>
                        <a:spcAft>
                          <a:spcPts val="0"/>
                        </a:spcAft>
                        <a:buNone/>
                      </a:pPr>
                      <a:r>
                        <a:rPr lang="en-GB" sz="1200" b="1" dirty="0"/>
                        <a:t>Consider:</a:t>
                      </a:r>
                    </a:p>
                    <a:p>
                      <a:pPr marL="0" lvl="0" indent="0" algn="ctr" rtl="0">
                        <a:spcBef>
                          <a:spcPts val="0"/>
                        </a:spcBef>
                        <a:spcAft>
                          <a:spcPts val="0"/>
                        </a:spcAft>
                        <a:buNone/>
                      </a:pPr>
                      <a:r>
                        <a:rPr lang="en-GB" sz="1200" b="0" dirty="0"/>
                        <a:t> Can I make an appropriate production that allows students to freely produce the target skill?</a:t>
                      </a:r>
                    </a:p>
                    <a:p>
                      <a:pPr marL="0" lvl="0" indent="0" algn="ctr" rtl="0">
                        <a:spcBef>
                          <a:spcPts val="0"/>
                        </a:spcBef>
                        <a:spcAft>
                          <a:spcPts val="0"/>
                        </a:spcAft>
                        <a:buNone/>
                      </a:pPr>
                      <a:endParaRPr lang="en-GB" sz="1200" b="0" dirty="0"/>
                    </a:p>
                    <a:p>
                      <a:pPr marL="0" lvl="0" indent="0" algn="ctr" rtl="0">
                        <a:spcBef>
                          <a:spcPts val="0"/>
                        </a:spcBef>
                        <a:spcAft>
                          <a:spcPts val="0"/>
                        </a:spcAft>
                        <a:buNone/>
                      </a:pPr>
                      <a:r>
                        <a:rPr lang="en-GB" sz="1200" b="0" dirty="0"/>
                        <a:t>Some skills might not work depending on whether you're making a Speaking or a Writing lesson.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ctr" rtl="0">
                        <a:spcBef>
                          <a:spcPts val="0"/>
                        </a:spcBef>
                        <a:spcAft>
                          <a:spcPts val="0"/>
                        </a:spcAft>
                        <a:buNone/>
                      </a:pPr>
                      <a:r>
                        <a:rPr lang="en-GB" sz="1200" b="1" dirty="0"/>
                        <a:t>Example:</a:t>
                      </a:r>
                    </a:p>
                    <a:p>
                      <a:pPr marL="0" lvl="0" indent="0" algn="ctr" rtl="0">
                        <a:spcBef>
                          <a:spcPts val="0"/>
                        </a:spcBef>
                        <a:spcAft>
                          <a:spcPts val="0"/>
                        </a:spcAft>
                        <a:buNone/>
                      </a:pPr>
                      <a:r>
                        <a:rPr lang="en-GB" sz="1200" dirty="0"/>
                        <a:t>Students struggle with the past tense.</a:t>
                      </a:r>
                    </a:p>
                    <a:p>
                      <a:pPr marL="0" lvl="0" indent="0" algn="ctr" rtl="0">
                        <a:spcBef>
                          <a:spcPts val="0"/>
                        </a:spcBef>
                        <a:spcAft>
                          <a:spcPts val="0"/>
                        </a:spcAft>
                        <a:buNone/>
                      </a:pPr>
                      <a:endParaRPr lang="en-GB" sz="1200" dirty="0"/>
                    </a:p>
                    <a:p>
                      <a:pPr marL="0" lvl="0" indent="0" algn="ctr" rtl="0">
                        <a:spcBef>
                          <a:spcPts val="0"/>
                        </a:spcBef>
                        <a:spcAft>
                          <a:spcPts val="0"/>
                        </a:spcAft>
                        <a:buNone/>
                      </a:pPr>
                      <a:r>
                        <a:rPr lang="en-GB" sz="1200" dirty="0"/>
                        <a:t>Look ahead on your planning schedule for a unit that would be suitable for the skill.</a:t>
                      </a:r>
                    </a:p>
                    <a:p>
                      <a:pPr marL="0" lvl="0" indent="0" algn="ctr" rtl="0">
                        <a:spcBef>
                          <a:spcPts val="0"/>
                        </a:spcBef>
                        <a:spcAft>
                          <a:spcPts val="0"/>
                        </a:spcAft>
                        <a:buNone/>
                      </a:pPr>
                      <a:endParaRPr lang="en-GB" sz="1200" dirty="0"/>
                    </a:p>
                    <a:p>
                      <a:pPr marL="0" lvl="0" indent="0" algn="ctr" rtl="0">
                        <a:spcBef>
                          <a:spcPts val="0"/>
                        </a:spcBef>
                        <a:spcAft>
                          <a:spcPts val="0"/>
                        </a:spcAft>
                        <a:buNone/>
                      </a:pPr>
                      <a:r>
                        <a:rPr lang="en-GB" sz="1200" dirty="0"/>
                        <a:t>Unit 3 – Desserts</a:t>
                      </a:r>
                    </a:p>
                    <a:p>
                      <a:pPr marL="0" lvl="0" indent="0" algn="ctr" rtl="0">
                        <a:spcBef>
                          <a:spcPts val="0"/>
                        </a:spcBef>
                        <a:spcAft>
                          <a:spcPts val="0"/>
                        </a:spcAft>
                        <a:buNone/>
                      </a:pPr>
                      <a:r>
                        <a:rPr lang="en-GB" sz="1200" dirty="0"/>
                        <a:t>Unit 4 – Animal Defenses</a:t>
                      </a:r>
                    </a:p>
                    <a:p>
                      <a:pPr marL="0" lvl="0" indent="0" algn="ctr" rtl="0">
                        <a:spcBef>
                          <a:spcPts val="0"/>
                        </a:spcBef>
                        <a:spcAft>
                          <a:spcPts val="0"/>
                        </a:spcAft>
                        <a:buNone/>
                      </a:pPr>
                      <a:r>
                        <a:rPr lang="en-GB" sz="1200" dirty="0"/>
                        <a:t>Unit 5 – Gender Differences</a:t>
                      </a:r>
                    </a:p>
                    <a:p>
                      <a:pPr marL="0" lvl="0" indent="0" algn="ctr" rtl="0">
                        <a:spcBef>
                          <a:spcPts val="0"/>
                        </a:spcBef>
                        <a:spcAft>
                          <a:spcPts val="0"/>
                        </a:spcAft>
                        <a:buNone/>
                      </a:pPr>
                      <a:r>
                        <a:rPr lang="en-GB" sz="1200" b="1" dirty="0"/>
                        <a:t>Unit 6 – Galileo</a:t>
                      </a:r>
                    </a:p>
                    <a:p>
                      <a:pPr marL="0" lvl="0" indent="0" algn="ctr" rtl="0">
                        <a:spcBef>
                          <a:spcPts val="0"/>
                        </a:spcBef>
                        <a:spcAft>
                          <a:spcPts val="0"/>
                        </a:spcAft>
                        <a:buNone/>
                      </a:pPr>
                      <a:r>
                        <a:rPr lang="en-GB" sz="1200" dirty="0"/>
                        <a:t>Unit 7 – Disgust</a:t>
                      </a:r>
                    </a:p>
                    <a:p>
                      <a:pPr marL="0" lvl="0" indent="0" algn="ctr" rtl="0">
                        <a:spcBef>
                          <a:spcPts val="0"/>
                        </a:spcBef>
                        <a:spcAft>
                          <a:spcPts val="0"/>
                        </a:spcAft>
                        <a:buNone/>
                      </a:pPr>
                      <a:r>
                        <a:rPr lang="en-GB" sz="1200" dirty="0"/>
                        <a:t>Unit 8 - Ghosts</a:t>
                      </a:r>
                    </a:p>
                    <a:p>
                      <a:pPr marL="0" lvl="0" indent="0" algn="ctr" rtl="0">
                        <a:spcBef>
                          <a:spcPts val="0"/>
                        </a:spcBef>
                        <a:spcAft>
                          <a:spcPts val="0"/>
                        </a:spcAft>
                        <a:buNone/>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22465803"/>
                  </a:ext>
                </a:extLst>
              </a:tr>
            </a:tbl>
          </a:graphicData>
        </a:graphic>
      </p:graphicFrame>
    </p:spTree>
    <p:extLst>
      <p:ext uri="{BB962C8B-B14F-4D97-AF65-F5344CB8AC3E}">
        <p14:creationId xmlns:p14="http://schemas.microsoft.com/office/powerpoint/2010/main" val="31932609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Linking &amp; Scaffolding</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190475"/>
          </a:xfrm>
        </p:spPr>
        <p:txBody>
          <a:bodyPr/>
          <a:lstStyle/>
          <a:p>
            <a:pPr marL="0" indent="0" algn="ctr">
              <a:buNone/>
            </a:pPr>
            <a:r>
              <a:rPr lang="en-US" sz="1600" dirty="0"/>
              <a:t>23</a:t>
            </a:r>
          </a:p>
        </p:txBody>
      </p:sp>
      <p:sp>
        <p:nvSpPr>
          <p:cNvPr id="5" name="TextBox 4">
            <a:extLst>
              <a:ext uri="{FF2B5EF4-FFF2-40B4-BE49-F238E27FC236}">
                <a16:creationId xmlns:a16="http://schemas.microsoft.com/office/drawing/2014/main" id="{18E764D6-4B5B-B0E2-0533-451C6B3C3A9D}"/>
              </a:ext>
            </a:extLst>
          </p:cNvPr>
          <p:cNvSpPr txBox="1"/>
          <p:nvPr/>
        </p:nvSpPr>
        <p:spPr>
          <a:xfrm>
            <a:off x="485775" y="1252864"/>
            <a:ext cx="5886450" cy="5863144"/>
          </a:xfrm>
          <a:prstGeom prst="rect">
            <a:avLst/>
          </a:prstGeom>
          <a:noFill/>
        </p:spPr>
        <p:txBody>
          <a:bodyPr wrap="square" rtlCol="0">
            <a:spAutoFit/>
          </a:bodyPr>
          <a:lstStyle/>
          <a:p>
            <a:pPr algn="ctr">
              <a:spcAft>
                <a:spcPts val="600"/>
              </a:spcAft>
            </a:pPr>
            <a:r>
              <a:rPr lang="en-GB" sz="1600" b="1" u="sng" dirty="0">
                <a:latin typeface="Calibri" panose="020F0502020204030204" pitchFamily="34" charset="0"/>
                <a:ea typeface="Arial Unicode MS"/>
                <a:cs typeface="Arial Unicode MS"/>
              </a:rPr>
              <a:t>Linking</a:t>
            </a:r>
          </a:p>
          <a:p>
            <a:pPr>
              <a:spcAft>
                <a:spcPts val="600"/>
              </a:spcAft>
            </a:pPr>
            <a:r>
              <a:rPr lang="en-GB" sz="1200" dirty="0">
                <a:latin typeface="Calibri" panose="020F0502020204030204" pitchFamily="34" charset="0"/>
                <a:ea typeface="Arial Unicode MS"/>
                <a:cs typeface="Arial Unicode MS"/>
              </a:rPr>
              <a:t>Each activity should fit cohesively into the lesson and help the overall flow. A good way to do this is to consider how to link activities together.</a:t>
            </a:r>
          </a:p>
          <a:p>
            <a:r>
              <a:rPr lang="en-GB" sz="1200" b="1" dirty="0">
                <a:latin typeface="Calibri" panose="020F0502020204030204" pitchFamily="34" charset="0"/>
              </a:rPr>
              <a:t>Warm-Up Activity </a:t>
            </a:r>
          </a:p>
          <a:p>
            <a:pPr marL="174625" indent="-174625">
              <a:buFont typeface="Arial" panose="020B0604020202020204" pitchFamily="34" charset="0"/>
              <a:buChar char="•"/>
            </a:pPr>
            <a:r>
              <a:rPr lang="en-GB" sz="1200" dirty="0"/>
              <a:t>Refer back later</a:t>
            </a:r>
          </a:p>
          <a:p>
            <a:pPr marL="538163" lvl="1" indent="-174625">
              <a:buFont typeface="Arial" panose="020B0604020202020204" pitchFamily="34" charset="0"/>
              <a:buChar char="•"/>
            </a:pPr>
            <a:r>
              <a:rPr lang="en-GB" sz="1200" dirty="0"/>
              <a:t>A variation of the activity can be done again after learning the target language. They can learn the activity with simple expectations and then do it again with higher expectations of specific language use.</a:t>
            </a:r>
          </a:p>
          <a:p>
            <a:pPr marL="174625" indent="-174625">
              <a:buFont typeface="Arial" panose="020B0604020202020204" pitchFamily="34" charset="0"/>
              <a:buChar char="•"/>
            </a:pPr>
            <a:r>
              <a:rPr lang="en-GB" sz="1200" dirty="0"/>
              <a:t>Plant seeds</a:t>
            </a:r>
          </a:p>
          <a:p>
            <a:pPr marL="538163" lvl="1" indent="-169863">
              <a:buFont typeface="Arial" panose="020B0604020202020204" pitchFamily="34" charset="0"/>
              <a:buChar char="•"/>
            </a:pPr>
            <a:r>
              <a:rPr lang="en-GB" sz="1200" dirty="0"/>
              <a:t>It could introduce examples or information required later in the lessons. (Example: If students need to write about a famous person, the warm-up could be guessing famous people based on their achievements, etc.)</a:t>
            </a:r>
          </a:p>
          <a:p>
            <a:pPr>
              <a:lnSpc>
                <a:spcPct val="150000"/>
              </a:lnSpc>
            </a:pPr>
            <a:r>
              <a:rPr lang="en-GB" sz="1200" b="1" dirty="0">
                <a:latin typeface="Calibri" panose="020F0502020204030204" pitchFamily="34" charset="0"/>
              </a:rPr>
              <a:t>Vocabulary &amp; Book Information</a:t>
            </a:r>
          </a:p>
          <a:p>
            <a:pPr marL="174625" indent="-174625">
              <a:buFont typeface="Arial" panose="020B0604020202020204" pitchFamily="34" charset="0"/>
              <a:buChar char="•"/>
            </a:pPr>
            <a:r>
              <a:rPr lang="en-GB" sz="1200" dirty="0">
                <a:latin typeface="Calibri" panose="020F0502020204030204" pitchFamily="34" charset="0"/>
              </a:rPr>
              <a:t>Unit vocabulary throughout</a:t>
            </a:r>
          </a:p>
          <a:p>
            <a:pPr marL="538163" lvl="1" indent="-169863">
              <a:buFont typeface="Arial" panose="020B0604020202020204" pitchFamily="34" charset="0"/>
              <a:buChar char="•"/>
            </a:pPr>
            <a:r>
              <a:rPr lang="en-GB" sz="1200" dirty="0">
                <a:latin typeface="Calibri" panose="020F0502020204030204" pitchFamily="34" charset="0"/>
              </a:rPr>
              <a:t>If we are reviewing the vocabulary at the start of the lesson, we should also include it throughout the lesson! Use key vocab words in examples, in questions, or in work banks. Try to encourage students to use the word when possible.</a:t>
            </a:r>
          </a:p>
          <a:p>
            <a:pPr marL="174625" indent="-174625">
              <a:buFont typeface="Arial" panose="020B0604020202020204" pitchFamily="34" charset="0"/>
              <a:buChar char="•"/>
            </a:pPr>
            <a:r>
              <a:rPr lang="en-GB" sz="1200" dirty="0">
                <a:latin typeface="Calibri" panose="020F0502020204030204" pitchFamily="34" charset="0"/>
              </a:rPr>
              <a:t>Sentences and tasks inspiration</a:t>
            </a:r>
          </a:p>
          <a:p>
            <a:pPr marL="538163" lvl="1" indent="-169863">
              <a:buFont typeface="Arial" panose="020B0604020202020204" pitchFamily="34" charset="0"/>
              <a:buChar char="•"/>
            </a:pPr>
            <a:r>
              <a:rPr lang="en-GB" sz="1200" dirty="0">
                <a:latin typeface="Calibri" panose="020F0502020204030204" pitchFamily="34" charset="0"/>
              </a:rPr>
              <a:t>Examples and questions for activities can come from the book. Again, try to encourage the use of the Circular System and what they have learned with our co-teachers.</a:t>
            </a:r>
          </a:p>
          <a:p>
            <a:pPr marL="742950" lvl="1" indent="-285750">
              <a:buFont typeface="Arial" panose="020B0604020202020204" pitchFamily="34" charset="0"/>
              <a:buChar char="•"/>
            </a:pPr>
            <a:endParaRPr lang="en-GB" sz="1200" dirty="0">
              <a:latin typeface="Calibri" panose="020F0502020204030204" pitchFamily="34" charset="0"/>
            </a:endParaRPr>
          </a:p>
          <a:p>
            <a:pPr algn="ctr">
              <a:spcAft>
                <a:spcPts val="600"/>
              </a:spcAft>
            </a:pPr>
            <a:r>
              <a:rPr lang="en-GB" sz="1600" b="1" u="sng" dirty="0">
                <a:latin typeface="Calibri" panose="020F0502020204030204" pitchFamily="34" charset="0"/>
                <a:ea typeface="Arial Unicode MS"/>
                <a:cs typeface="Arial Unicode MS"/>
              </a:rPr>
              <a:t>Scaffolding</a:t>
            </a:r>
          </a:p>
          <a:p>
            <a:pPr>
              <a:spcAft>
                <a:spcPts val="600"/>
              </a:spcAft>
            </a:pPr>
            <a:r>
              <a:rPr lang="en-GB" sz="1200" dirty="0">
                <a:latin typeface="Calibri" panose="020F0502020204030204" pitchFamily="34" charset="0"/>
              </a:rPr>
              <a:t>For most lessons, the activities should not only flow well but also increase in difficultly leading into the production. Below is a suggested scaffolding structure. See the example lesson in this guide to see how this looks in practice. </a:t>
            </a:r>
          </a:p>
          <a:p>
            <a:pPr>
              <a:spcAft>
                <a:spcPts val="600"/>
              </a:spcAft>
            </a:pPr>
            <a:endParaRPr lang="en-GB" sz="1200" dirty="0">
              <a:latin typeface="Calibri" panose="020F0502020204030204" pitchFamily="34" charset="0"/>
            </a:endParaRPr>
          </a:p>
          <a:p>
            <a:pPr>
              <a:spcAft>
                <a:spcPts val="600"/>
              </a:spcAft>
            </a:pPr>
            <a:endParaRPr lang="en-GB" sz="1200" dirty="0">
              <a:latin typeface="Calibri" panose="020F0502020204030204" pitchFamily="34" charset="0"/>
            </a:endParaRPr>
          </a:p>
        </p:txBody>
      </p:sp>
      <p:pic>
        <p:nvPicPr>
          <p:cNvPr id="83" name="Picture 82">
            <a:extLst>
              <a:ext uri="{FF2B5EF4-FFF2-40B4-BE49-F238E27FC236}">
                <a16:creationId xmlns:a16="http://schemas.microsoft.com/office/drawing/2014/main" id="{A15E1620-9318-E7F3-A7AF-2443AC3E6324}"/>
              </a:ext>
            </a:extLst>
          </p:cNvPr>
          <p:cNvPicPr>
            <a:picLocks noChangeAspect="1"/>
          </p:cNvPicPr>
          <p:nvPr/>
        </p:nvPicPr>
        <p:blipFill>
          <a:blip r:embed="rId2"/>
          <a:stretch>
            <a:fillRect/>
          </a:stretch>
        </p:blipFill>
        <p:spPr>
          <a:xfrm>
            <a:off x="485775" y="6818611"/>
            <a:ext cx="5886450" cy="2266124"/>
          </a:xfrm>
          <a:prstGeom prst="rect">
            <a:avLst/>
          </a:prstGeom>
        </p:spPr>
      </p:pic>
    </p:spTree>
    <p:extLst>
      <p:ext uri="{BB962C8B-B14F-4D97-AF65-F5344CB8AC3E}">
        <p14:creationId xmlns:p14="http://schemas.microsoft.com/office/powerpoint/2010/main" val="21636191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Productions &amp; Interactions</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190475"/>
          </a:xfrm>
        </p:spPr>
        <p:txBody>
          <a:bodyPr/>
          <a:lstStyle/>
          <a:p>
            <a:pPr marL="0" indent="0" algn="ctr">
              <a:buNone/>
            </a:pPr>
            <a:r>
              <a:rPr lang="en-US" sz="1600" dirty="0"/>
              <a:t>24</a:t>
            </a:r>
          </a:p>
        </p:txBody>
      </p:sp>
      <p:sp>
        <p:nvSpPr>
          <p:cNvPr id="5" name="TextBox 4">
            <a:extLst>
              <a:ext uri="{FF2B5EF4-FFF2-40B4-BE49-F238E27FC236}">
                <a16:creationId xmlns:a16="http://schemas.microsoft.com/office/drawing/2014/main" id="{18E764D6-4B5B-B0E2-0533-451C6B3C3A9D}"/>
              </a:ext>
            </a:extLst>
          </p:cNvPr>
          <p:cNvSpPr txBox="1"/>
          <p:nvPr/>
        </p:nvSpPr>
        <p:spPr>
          <a:xfrm>
            <a:off x="485775" y="4892072"/>
            <a:ext cx="5886450" cy="969496"/>
          </a:xfrm>
          <a:prstGeom prst="rect">
            <a:avLst/>
          </a:prstGeom>
          <a:noFill/>
        </p:spPr>
        <p:txBody>
          <a:bodyPr wrap="square" rtlCol="0">
            <a:spAutoFit/>
          </a:bodyPr>
          <a:lstStyle/>
          <a:p>
            <a:pPr algn="ctr">
              <a:spcAft>
                <a:spcPts val="600"/>
              </a:spcAft>
            </a:pPr>
            <a:r>
              <a:rPr lang="en-GB" sz="1600" b="1" u="sng" dirty="0">
                <a:latin typeface="Calibri" panose="020F0502020204030204" pitchFamily="34" charset="0"/>
                <a:ea typeface="Arial Unicode MS"/>
                <a:cs typeface="Arial Unicode MS"/>
              </a:rPr>
              <a:t>Interactions</a:t>
            </a:r>
          </a:p>
          <a:p>
            <a:pPr>
              <a:spcAft>
                <a:spcPts val="600"/>
              </a:spcAft>
            </a:pPr>
            <a:r>
              <a:rPr lang="en-GB" sz="1200" b="1" dirty="0">
                <a:latin typeface="Calibri" panose="020F0502020204030204" pitchFamily="34" charset="0"/>
                <a:ea typeface="Arial Unicode MS"/>
                <a:cs typeface="Arial Unicode MS"/>
              </a:rPr>
              <a:t>For each part of your lesson, consider the interactions which will happen in the classroom</a:t>
            </a:r>
            <a:r>
              <a:rPr lang="en-GB" sz="1200" dirty="0">
                <a:latin typeface="Calibri" panose="020F0502020204030204" pitchFamily="34" charset="0"/>
                <a:ea typeface="Arial Unicode MS"/>
                <a:cs typeface="Arial Unicode MS"/>
              </a:rPr>
              <a:t>. Try to maximize the number of opportunities, and therefore, time that students are using English. </a:t>
            </a:r>
          </a:p>
        </p:txBody>
      </p:sp>
      <p:graphicFrame>
        <p:nvGraphicFramePr>
          <p:cNvPr id="4" name="Table 3">
            <a:extLst>
              <a:ext uri="{FF2B5EF4-FFF2-40B4-BE49-F238E27FC236}">
                <a16:creationId xmlns:a16="http://schemas.microsoft.com/office/drawing/2014/main" id="{40A2C8C3-B7BF-0EFE-0225-1BDF872CB2FE}"/>
              </a:ext>
            </a:extLst>
          </p:cNvPr>
          <p:cNvGraphicFramePr>
            <a:graphicFrameLocks noGrp="1"/>
          </p:cNvGraphicFramePr>
          <p:nvPr>
            <p:extLst>
              <p:ext uri="{D42A27DB-BD31-4B8C-83A1-F6EECF244321}">
                <p14:modId xmlns:p14="http://schemas.microsoft.com/office/powerpoint/2010/main" val="3280034469"/>
              </p:ext>
            </p:extLst>
          </p:nvPr>
        </p:nvGraphicFramePr>
        <p:xfrm>
          <a:off x="485775" y="5984122"/>
          <a:ext cx="5886450" cy="3117796"/>
        </p:xfrm>
        <a:graphic>
          <a:graphicData uri="http://schemas.openxmlformats.org/drawingml/2006/table">
            <a:tbl>
              <a:tblPr firstRow="1" bandRow="1">
                <a:tableStyleId>{5C22544A-7EE6-4342-B048-85BDC9FD1C3A}</a:tableStyleId>
              </a:tblPr>
              <a:tblGrid>
                <a:gridCol w="1962150">
                  <a:extLst>
                    <a:ext uri="{9D8B030D-6E8A-4147-A177-3AD203B41FA5}">
                      <a16:colId xmlns:a16="http://schemas.microsoft.com/office/drawing/2014/main" val="348956349"/>
                    </a:ext>
                  </a:extLst>
                </a:gridCol>
                <a:gridCol w="1962150">
                  <a:extLst>
                    <a:ext uri="{9D8B030D-6E8A-4147-A177-3AD203B41FA5}">
                      <a16:colId xmlns:a16="http://schemas.microsoft.com/office/drawing/2014/main" val="1387265675"/>
                    </a:ext>
                  </a:extLst>
                </a:gridCol>
                <a:gridCol w="1962150">
                  <a:extLst>
                    <a:ext uri="{9D8B030D-6E8A-4147-A177-3AD203B41FA5}">
                      <a16:colId xmlns:a16="http://schemas.microsoft.com/office/drawing/2014/main" val="2133144300"/>
                    </a:ext>
                  </a:extLst>
                </a:gridCol>
              </a:tblGrid>
              <a:tr h="344116">
                <a:tc>
                  <a:txBody>
                    <a:bodyPr/>
                    <a:lstStyle/>
                    <a:p>
                      <a:pPr algn="ctr"/>
                      <a:r>
                        <a:rPr lang="en-US" sz="1400" dirty="0">
                          <a:solidFill>
                            <a:schemeClr val="tx1"/>
                          </a:solidFill>
                        </a:rPr>
                        <a:t>Teacher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400" dirty="0">
                          <a:solidFill>
                            <a:schemeClr val="tx1"/>
                          </a:solidFill>
                        </a:rPr>
                        <a:t>Teacher - Student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400" dirty="0">
                          <a:solidFill>
                            <a:schemeClr val="tx1"/>
                          </a:solidFill>
                        </a:rPr>
                        <a:t>Student - Student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748186375"/>
                  </a:ext>
                </a:extLst>
              </a:tr>
              <a:tr h="1781864">
                <a:tc>
                  <a:txBody>
                    <a:bodyPr/>
                    <a:lstStyle/>
                    <a:p>
                      <a:pPr marL="0" lvl="0" indent="0" algn="ctr" rtl="0">
                        <a:spcBef>
                          <a:spcPts val="0"/>
                        </a:spcBef>
                        <a:spcAft>
                          <a:spcPts val="0"/>
                        </a:spcAft>
                        <a:buNone/>
                      </a:pPr>
                      <a:r>
                        <a:rPr lang="en" sz="1200" b="1" dirty="0">
                          <a:latin typeface="+mn-lt"/>
                        </a:rPr>
                        <a:t>The teacher is the focus of attention.</a:t>
                      </a:r>
                    </a:p>
                    <a:p>
                      <a:pPr marL="0" lvl="0" indent="0" algn="ctr" rtl="0">
                        <a:spcBef>
                          <a:spcPts val="0"/>
                        </a:spcBef>
                        <a:spcAft>
                          <a:spcPts val="0"/>
                        </a:spcAft>
                        <a:buNone/>
                      </a:pPr>
                      <a:endParaRPr lang="en" sz="1200" b="1" dirty="0">
                        <a:latin typeface="+mn-lt"/>
                      </a:endParaRPr>
                    </a:p>
                    <a:p>
                      <a:pPr marL="171450" marR="0" lvl="0" indent="-171450" algn="ctr"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 sz="1200" dirty="0">
                          <a:latin typeface="+mn-lt"/>
                        </a:rPr>
                        <a:t>Explanations</a:t>
                      </a:r>
                    </a:p>
                    <a:p>
                      <a:pPr marL="171450" marR="0" lvl="0" indent="-171450" algn="ctr"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 sz="1200" dirty="0">
                          <a:latin typeface="+mn-lt"/>
                        </a:rPr>
                        <a:t>Lecturing</a:t>
                      </a:r>
                    </a:p>
                    <a:p>
                      <a:pPr marL="171450" marR="0" lvl="0" indent="-171450" algn="ctr"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 sz="1200" dirty="0">
                          <a:latin typeface="+mn-lt"/>
                        </a:rPr>
                        <a:t>Reading</a:t>
                      </a:r>
                    </a:p>
                    <a:p>
                      <a:pPr marL="0" lvl="0" indent="0" algn="ctr" rtl="0">
                        <a:spcBef>
                          <a:spcPts val="0"/>
                        </a:spcBef>
                        <a:spcAft>
                          <a:spcPts val="0"/>
                        </a:spcAft>
                        <a:buNone/>
                      </a:pPr>
                      <a:endParaRPr lang="en" sz="1200" b="1" dirty="0">
                        <a:latin typeface="+mn-lt"/>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 sz="1200" dirty="0">
                          <a:latin typeface="+mn-lt"/>
                        </a:rPr>
                        <a:t>Design your lesson to avoid lots of lecturing or </a:t>
                      </a:r>
                      <a:r>
                        <a:rPr lang="en-US" sz="1200" dirty="0">
                          <a:latin typeface="+mn-lt"/>
                        </a:rPr>
                        <a:t>unnecessary</a:t>
                      </a:r>
                      <a:r>
                        <a:rPr lang="en" sz="1200" dirty="0">
                          <a:latin typeface="+mn-lt"/>
                        </a:rPr>
                        <a:t> explaining by the teacher.  </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 sz="1200" dirty="0">
                        <a:latin typeface="+mn-lt"/>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highlight>
                            <a:srgbClr val="FF0000"/>
                          </a:highlight>
                          <a:latin typeface="+mn-lt"/>
                        </a:rPr>
                        <a:t>Try to </a:t>
                      </a:r>
                      <a:r>
                        <a:rPr lang="en-US" sz="1600" b="1" u="sng" dirty="0">
                          <a:highlight>
                            <a:srgbClr val="FF0000"/>
                          </a:highlight>
                          <a:latin typeface="+mn-lt"/>
                        </a:rPr>
                        <a:t>limit</a:t>
                      </a:r>
                      <a:endParaRPr lang="en" sz="1600" b="1" u="sng" dirty="0">
                        <a:highlight>
                          <a:srgbClr val="FF0000"/>
                        </a:highligh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ctr" rtl="0">
                        <a:spcBef>
                          <a:spcPts val="0"/>
                        </a:spcBef>
                        <a:spcAft>
                          <a:spcPts val="0"/>
                        </a:spcAft>
                        <a:buNone/>
                      </a:pPr>
                      <a:r>
                        <a:rPr lang="en" sz="1200" b="1" dirty="0">
                          <a:latin typeface="+mn-lt"/>
                        </a:rPr>
                        <a:t>The teacher is interacting with students.</a:t>
                      </a:r>
                    </a:p>
                    <a:p>
                      <a:endParaRPr lang="en-US" sz="1200" dirty="0"/>
                    </a:p>
                    <a:p>
                      <a:pPr marL="171450" marR="0" lvl="0" indent="-171450" algn="ctr"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 sz="1200" dirty="0">
                          <a:latin typeface="+mn-lt"/>
                        </a:rPr>
                        <a:t>Checking / Sharing</a:t>
                      </a:r>
                    </a:p>
                    <a:p>
                      <a:pPr marL="171450" marR="0" lvl="0" indent="-171450" algn="ctr"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 sz="1200" dirty="0">
                          <a:latin typeface="+mn-lt"/>
                        </a:rPr>
                        <a:t>Small talk</a:t>
                      </a:r>
                    </a:p>
                    <a:p>
                      <a:pPr marL="171450" marR="0" lvl="0" indent="-171450" algn="ctr"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 sz="1200" dirty="0">
                          <a:latin typeface="+mn-lt"/>
                        </a:rPr>
                        <a:t>Some games</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 sz="1200" dirty="0">
                        <a:latin typeface="+mn-lt"/>
                      </a:endParaRPr>
                    </a:p>
                    <a:p>
                      <a:pPr marL="0" marR="0" lvl="0" indent="0" algn="ctr"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 sz="1200" dirty="0">
                          <a:latin typeface="+mn-lt"/>
                        </a:rPr>
                        <a:t>Try to avoid designing activities that include a lot of this. </a:t>
                      </a:r>
                      <a:r>
                        <a:rPr lang="en-US" sz="1200" dirty="0">
                          <a:latin typeface="+mn-lt"/>
                        </a:rPr>
                        <a:t>I</a:t>
                      </a:r>
                      <a:r>
                        <a:rPr lang="en" sz="1200" dirty="0">
                          <a:latin typeface="+mn-lt"/>
                        </a:rPr>
                        <a:t>t is limiting in larger classes.</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 sz="1200" dirty="0">
                        <a:latin typeface="+mn-lt"/>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highlight>
                            <a:srgbClr val="FF0000"/>
                          </a:highlight>
                          <a:latin typeface="+mn-lt"/>
                        </a:rPr>
                        <a:t>Try to </a:t>
                      </a:r>
                      <a:r>
                        <a:rPr lang="en-US" sz="1600" b="1" u="sng" dirty="0">
                          <a:highlight>
                            <a:srgbClr val="FF0000"/>
                          </a:highlight>
                          <a:latin typeface="+mn-lt"/>
                        </a:rPr>
                        <a:t>limit</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 sz="1600" b="1" u="sng"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ctr" rtl="0">
                        <a:spcBef>
                          <a:spcPts val="0"/>
                        </a:spcBef>
                        <a:spcAft>
                          <a:spcPts val="0"/>
                        </a:spcAft>
                        <a:buNone/>
                      </a:pPr>
                      <a:r>
                        <a:rPr lang="en" sz="1200" b="1" dirty="0">
                          <a:latin typeface="+mn-lt"/>
                        </a:rPr>
                        <a:t>Students are interacting with ot</a:t>
                      </a:r>
                      <a:r>
                        <a:rPr lang="en-US" sz="1200" b="1" dirty="0">
                          <a:latin typeface="+mn-lt"/>
                        </a:rPr>
                        <a:t>he</a:t>
                      </a:r>
                      <a:r>
                        <a:rPr lang="en" sz="1200" b="1" dirty="0">
                          <a:latin typeface="+mn-lt"/>
                        </a:rPr>
                        <a:t>r students.</a:t>
                      </a:r>
                    </a:p>
                    <a:p>
                      <a:pPr marL="0" lvl="0" indent="0" algn="ctr" rtl="0">
                        <a:spcBef>
                          <a:spcPts val="0"/>
                        </a:spcBef>
                        <a:spcAft>
                          <a:spcPts val="0"/>
                        </a:spcAft>
                        <a:buNone/>
                      </a:pPr>
                      <a:endParaRPr lang="en" sz="1200" b="1" dirty="0">
                        <a:latin typeface="+mn-lt"/>
                      </a:endParaRPr>
                    </a:p>
                    <a:p>
                      <a:pPr marL="285750" lvl="0" indent="-285750" algn="ctr" rtl="0">
                        <a:spcBef>
                          <a:spcPts val="0"/>
                        </a:spcBef>
                        <a:spcAft>
                          <a:spcPts val="0"/>
                        </a:spcAft>
                        <a:buFont typeface="Arial" panose="020B0604020202020204" pitchFamily="34" charset="0"/>
                        <a:buChar char="•"/>
                      </a:pPr>
                      <a:r>
                        <a:rPr lang="en" sz="1200">
                          <a:latin typeface="+mn-lt"/>
                        </a:rPr>
                        <a:t>Pairwork</a:t>
                      </a:r>
                      <a:endParaRPr lang="en" sz="1200" dirty="0">
                        <a:latin typeface="+mn-lt"/>
                      </a:endParaRPr>
                    </a:p>
                    <a:p>
                      <a:pPr marL="285750" lvl="0" indent="-285750" algn="ctr" rtl="0">
                        <a:spcBef>
                          <a:spcPts val="0"/>
                        </a:spcBef>
                        <a:spcAft>
                          <a:spcPts val="0"/>
                        </a:spcAft>
                        <a:buFont typeface="Arial" panose="020B0604020202020204" pitchFamily="34" charset="0"/>
                        <a:buChar char="•"/>
                      </a:pPr>
                      <a:r>
                        <a:rPr lang="en" sz="1200" dirty="0">
                          <a:latin typeface="+mn-lt"/>
                        </a:rPr>
                        <a:t>Group work</a:t>
                      </a:r>
                    </a:p>
                    <a:p>
                      <a:pPr marL="285750" lvl="0" indent="-285750" algn="ctr" rtl="0">
                        <a:spcBef>
                          <a:spcPts val="0"/>
                        </a:spcBef>
                        <a:spcAft>
                          <a:spcPts val="0"/>
                        </a:spcAft>
                        <a:buFont typeface="Arial" panose="020B0604020202020204" pitchFamily="34" charset="0"/>
                        <a:buChar char="•"/>
                      </a:pPr>
                      <a:r>
                        <a:rPr lang="en-US" sz="1200" dirty="0">
                          <a:latin typeface="+mn-lt"/>
                        </a:rPr>
                        <a:t>D</a:t>
                      </a:r>
                      <a:r>
                        <a:rPr lang="en" sz="1200" dirty="0">
                          <a:latin typeface="+mn-lt"/>
                        </a:rPr>
                        <a:t>iscussions</a:t>
                      </a:r>
                    </a:p>
                    <a:p>
                      <a:pPr marL="0" lvl="0" indent="0" algn="ctr" rtl="0">
                        <a:spcBef>
                          <a:spcPts val="0"/>
                        </a:spcBef>
                        <a:spcAft>
                          <a:spcPts val="0"/>
                        </a:spcAft>
                        <a:buFont typeface="Arial" panose="020B0604020202020204" pitchFamily="34" charset="0"/>
                        <a:buNone/>
                      </a:pPr>
                      <a:endParaRPr lang="en" sz="1200" dirty="0">
                        <a:latin typeface="+mn-lt"/>
                      </a:endParaRPr>
                    </a:p>
                    <a:p>
                      <a:pPr marL="0" marR="0" lvl="0" indent="0" algn="ctr"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200" dirty="0">
                          <a:latin typeface="+mn-lt"/>
                        </a:rPr>
                        <a:t>This maximizes English usage. </a:t>
                      </a:r>
                    </a:p>
                    <a:p>
                      <a:pPr marL="0" marR="0" lvl="0" indent="0" algn="ctr"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200" dirty="0">
                          <a:latin typeface="+mn-lt"/>
                        </a:rPr>
                        <a:t>Move away from the PPT and have group activities.</a:t>
                      </a:r>
                    </a:p>
                    <a:p>
                      <a:pPr marL="0" marR="0" lvl="0" indent="0" algn="ctr"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200" dirty="0">
                        <a:latin typeface="+mn-lt"/>
                      </a:endParaRPr>
                    </a:p>
                    <a:p>
                      <a:pPr marL="0" marR="0" lvl="0" indent="0" algn="ctr"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600" dirty="0">
                          <a:highlight>
                            <a:srgbClr val="00FF00"/>
                          </a:highlight>
                          <a:latin typeface="+mn-lt"/>
                        </a:rPr>
                        <a:t>Try to </a:t>
                      </a:r>
                      <a:r>
                        <a:rPr lang="en-GB" sz="1600" b="1" u="sng" dirty="0">
                          <a:highlight>
                            <a:srgbClr val="00FF00"/>
                          </a:highlight>
                          <a:latin typeface="+mn-lt"/>
                        </a:rPr>
                        <a:t>maximize</a:t>
                      </a:r>
                      <a:endParaRPr lang="en" sz="1200" b="1" u="sng" dirty="0">
                        <a:highlight>
                          <a:srgbClr val="00FF00"/>
                        </a:highligh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61871353"/>
                  </a:ext>
                </a:extLst>
              </a:tr>
            </a:tbl>
          </a:graphicData>
        </a:graphic>
      </p:graphicFrame>
      <p:sp>
        <p:nvSpPr>
          <p:cNvPr id="6" name="TextBox 5">
            <a:extLst>
              <a:ext uri="{FF2B5EF4-FFF2-40B4-BE49-F238E27FC236}">
                <a16:creationId xmlns:a16="http://schemas.microsoft.com/office/drawing/2014/main" id="{AAA6E212-2EC7-F7AA-66C2-C9FFDF530375}"/>
              </a:ext>
            </a:extLst>
          </p:cNvPr>
          <p:cNvSpPr txBox="1"/>
          <p:nvPr/>
        </p:nvSpPr>
        <p:spPr>
          <a:xfrm>
            <a:off x="485775" y="1211004"/>
            <a:ext cx="5886450" cy="1308050"/>
          </a:xfrm>
          <a:prstGeom prst="rect">
            <a:avLst/>
          </a:prstGeom>
          <a:noFill/>
        </p:spPr>
        <p:txBody>
          <a:bodyPr wrap="square" rtlCol="0">
            <a:spAutoFit/>
          </a:bodyPr>
          <a:lstStyle/>
          <a:p>
            <a:pPr algn="ctr">
              <a:spcAft>
                <a:spcPts val="600"/>
              </a:spcAft>
            </a:pPr>
            <a:r>
              <a:rPr lang="en-GB" sz="1600" b="1" u="sng" dirty="0">
                <a:latin typeface="Calibri" panose="020F0502020204030204" pitchFamily="34" charset="0"/>
                <a:ea typeface="Arial Unicode MS"/>
                <a:cs typeface="Arial Unicode MS"/>
              </a:rPr>
              <a:t>Production Activities</a:t>
            </a:r>
          </a:p>
          <a:p>
            <a:pPr>
              <a:spcAft>
                <a:spcPts val="600"/>
              </a:spcAft>
            </a:pPr>
            <a:r>
              <a:rPr lang="en-GB" sz="1200" dirty="0">
                <a:latin typeface="Calibri" panose="020F0502020204030204" pitchFamily="34" charset="0"/>
                <a:ea typeface="Arial Unicode MS"/>
                <a:cs typeface="Arial Unicode MS"/>
              </a:rPr>
              <a:t>The production activity should allow </a:t>
            </a:r>
            <a:r>
              <a:rPr lang="en-GB" sz="1200" b="1" dirty="0">
                <a:latin typeface="Calibri" panose="020F0502020204030204" pitchFamily="34" charset="0"/>
                <a:ea typeface="Arial Unicode MS"/>
                <a:cs typeface="Arial Unicode MS"/>
              </a:rPr>
              <a:t>students to </a:t>
            </a:r>
            <a:r>
              <a:rPr lang="en-GB" sz="1200" b="1" u="sng" dirty="0">
                <a:latin typeface="Calibri" panose="020F0502020204030204" pitchFamily="34" charset="0"/>
                <a:ea typeface="Arial Unicode MS"/>
                <a:cs typeface="Arial Unicode MS"/>
              </a:rPr>
              <a:t>freely</a:t>
            </a:r>
            <a:r>
              <a:rPr lang="en-GB" sz="1200" b="1" dirty="0">
                <a:latin typeface="Calibri" panose="020F0502020204030204" pitchFamily="34" charset="0"/>
                <a:ea typeface="Arial Unicode MS"/>
                <a:cs typeface="Arial Unicode MS"/>
              </a:rPr>
              <a:t> apply </a:t>
            </a:r>
            <a:r>
              <a:rPr lang="en-GB" sz="1200" dirty="0">
                <a:latin typeface="Calibri" panose="020F0502020204030204" pitchFamily="34" charset="0"/>
                <a:ea typeface="Arial Unicode MS"/>
                <a:cs typeface="Arial Unicode MS"/>
              </a:rPr>
              <a:t>what they have learned. Try to make the production activity </a:t>
            </a:r>
            <a:r>
              <a:rPr lang="en-GB" sz="1200" b="1" dirty="0">
                <a:latin typeface="Calibri" panose="020F0502020204030204" pitchFamily="34" charset="0"/>
                <a:ea typeface="Arial Unicode MS"/>
                <a:cs typeface="Arial Unicode MS"/>
              </a:rPr>
              <a:t>open-ended</a:t>
            </a:r>
            <a:r>
              <a:rPr lang="en-GB" sz="1200" dirty="0">
                <a:latin typeface="Calibri" panose="020F0502020204030204" pitchFamily="34" charset="0"/>
                <a:ea typeface="Arial Unicode MS"/>
                <a:cs typeface="Arial Unicode MS"/>
              </a:rPr>
              <a:t> and </a:t>
            </a:r>
            <a:r>
              <a:rPr lang="en-GB" sz="1200" b="1" dirty="0">
                <a:latin typeface="Calibri" panose="020F0502020204030204" pitchFamily="34" charset="0"/>
                <a:ea typeface="Arial Unicode MS"/>
                <a:cs typeface="Arial Unicode MS"/>
              </a:rPr>
              <a:t>creative</a:t>
            </a:r>
            <a:r>
              <a:rPr lang="en-GB" sz="1200" dirty="0">
                <a:latin typeface="Calibri" panose="020F0502020204030204" pitchFamily="34" charset="0"/>
                <a:ea typeface="Arial Unicode MS"/>
                <a:cs typeface="Arial Unicode MS"/>
              </a:rPr>
              <a:t>.</a:t>
            </a:r>
          </a:p>
          <a:p>
            <a:pPr>
              <a:spcAft>
                <a:spcPts val="600"/>
              </a:spcAft>
            </a:pPr>
            <a:endParaRPr lang="en-GB" sz="1200" dirty="0">
              <a:latin typeface="Calibri" panose="020F0502020204030204" pitchFamily="34" charset="0"/>
              <a:ea typeface="Arial Unicode MS"/>
              <a:cs typeface="Arial Unicode MS"/>
            </a:endParaRPr>
          </a:p>
          <a:p>
            <a:pPr>
              <a:spcAft>
                <a:spcPts val="600"/>
              </a:spcAft>
            </a:pPr>
            <a:endParaRPr lang="en-GB" sz="1200" dirty="0">
              <a:latin typeface="Calibri" panose="020F0502020204030204" pitchFamily="34" charset="0"/>
              <a:ea typeface="Arial Unicode MS"/>
              <a:cs typeface="Arial Unicode MS"/>
            </a:endParaRPr>
          </a:p>
        </p:txBody>
      </p:sp>
      <p:graphicFrame>
        <p:nvGraphicFramePr>
          <p:cNvPr id="7" name="Table 6">
            <a:extLst>
              <a:ext uri="{FF2B5EF4-FFF2-40B4-BE49-F238E27FC236}">
                <a16:creationId xmlns:a16="http://schemas.microsoft.com/office/drawing/2014/main" id="{E7642A8D-4C54-C080-3653-82A99D70FF89}"/>
              </a:ext>
            </a:extLst>
          </p:cNvPr>
          <p:cNvGraphicFramePr>
            <a:graphicFrameLocks noGrp="1"/>
          </p:cNvGraphicFramePr>
          <p:nvPr>
            <p:extLst>
              <p:ext uri="{D42A27DB-BD31-4B8C-83A1-F6EECF244321}">
                <p14:modId xmlns:p14="http://schemas.microsoft.com/office/powerpoint/2010/main" val="1127099317"/>
              </p:ext>
            </p:extLst>
          </p:nvPr>
        </p:nvGraphicFramePr>
        <p:xfrm>
          <a:off x="485774" y="2146665"/>
          <a:ext cx="5886450" cy="2773680"/>
        </p:xfrm>
        <a:graphic>
          <a:graphicData uri="http://schemas.openxmlformats.org/drawingml/2006/table">
            <a:tbl>
              <a:tblPr firstRow="1" bandRow="1">
                <a:tableStyleId>{5C22544A-7EE6-4342-B048-85BDC9FD1C3A}</a:tableStyleId>
              </a:tblPr>
              <a:tblGrid>
                <a:gridCol w="2943225">
                  <a:extLst>
                    <a:ext uri="{9D8B030D-6E8A-4147-A177-3AD203B41FA5}">
                      <a16:colId xmlns:a16="http://schemas.microsoft.com/office/drawing/2014/main" val="348956349"/>
                    </a:ext>
                  </a:extLst>
                </a:gridCol>
                <a:gridCol w="2943225">
                  <a:extLst>
                    <a:ext uri="{9D8B030D-6E8A-4147-A177-3AD203B41FA5}">
                      <a16:colId xmlns:a16="http://schemas.microsoft.com/office/drawing/2014/main" val="1387265675"/>
                    </a:ext>
                  </a:extLst>
                </a:gridCol>
              </a:tblGrid>
              <a:tr h="259362">
                <a:tc>
                  <a:txBody>
                    <a:bodyPr/>
                    <a:lstStyle/>
                    <a:p>
                      <a:pPr algn="ctr"/>
                      <a:r>
                        <a:rPr lang="en-US" sz="1400" dirty="0">
                          <a:solidFill>
                            <a:schemeClr val="tx1"/>
                          </a:solidFill>
                        </a:rPr>
                        <a:t> Speaking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400" dirty="0">
                          <a:solidFill>
                            <a:schemeClr val="tx1"/>
                          </a:solidFill>
                        </a:rPr>
                        <a:t>Writing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748186375"/>
                  </a:ext>
                </a:extLst>
              </a:tr>
              <a:tr h="2078291">
                <a:tc>
                  <a:txBody>
                    <a:bodyPr/>
                    <a:lstStyle/>
                    <a:p>
                      <a:pPr marL="0" lvl="0" indent="0" algn="ctr" rtl="0">
                        <a:spcBef>
                          <a:spcPts val="0"/>
                        </a:spcBef>
                        <a:spcAft>
                          <a:spcPts val="0"/>
                        </a:spcAft>
                        <a:buNone/>
                      </a:pPr>
                      <a:r>
                        <a:rPr lang="en" sz="1200" b="1" dirty="0">
                          <a:latin typeface="+mn-lt"/>
                        </a:rPr>
                        <a:t>Encourage as much speaking from as many students as possible.</a:t>
                      </a:r>
                    </a:p>
                    <a:p>
                      <a:pPr marL="0" lvl="0" indent="0" algn="ctr" rtl="0">
                        <a:spcBef>
                          <a:spcPts val="0"/>
                        </a:spcBef>
                        <a:spcAft>
                          <a:spcPts val="0"/>
                        </a:spcAft>
                        <a:buNone/>
                      </a:pPr>
                      <a:endParaRPr lang="en" sz="1200" b="1" dirty="0">
                        <a:latin typeface="+mn-lt"/>
                      </a:endParaRPr>
                    </a:p>
                    <a:p>
                      <a:pPr marL="171450" lvl="0" indent="-171450" algn="ctr" rtl="0">
                        <a:spcBef>
                          <a:spcPts val="0"/>
                        </a:spcBef>
                        <a:spcAft>
                          <a:spcPts val="0"/>
                        </a:spcAft>
                        <a:buFont typeface="Arial" panose="020B0604020202020204" pitchFamily="34" charset="0"/>
                        <a:buChar char="•"/>
                      </a:pPr>
                      <a:r>
                        <a:rPr lang="en" sz="1200" b="0" dirty="0">
                          <a:latin typeface="+mn-lt"/>
                        </a:rPr>
                        <a:t>Games (consider interactions)</a:t>
                      </a:r>
                    </a:p>
                    <a:p>
                      <a:pPr marL="171450" lvl="0" indent="-171450" algn="ctr" rtl="0">
                        <a:spcBef>
                          <a:spcPts val="0"/>
                        </a:spcBef>
                        <a:spcAft>
                          <a:spcPts val="0"/>
                        </a:spcAft>
                        <a:buFont typeface="Arial" panose="020B0604020202020204" pitchFamily="34" charset="0"/>
                        <a:buChar char="•"/>
                      </a:pPr>
                      <a:r>
                        <a:rPr lang="en-US" sz="1200" b="0" dirty="0">
                          <a:latin typeface="+mn-lt"/>
                        </a:rPr>
                        <a:t>Students speaking to each other</a:t>
                      </a:r>
                    </a:p>
                    <a:p>
                      <a:pPr marL="171450" lvl="0" indent="-171450" algn="ctr" rtl="0">
                        <a:spcBef>
                          <a:spcPts val="0"/>
                        </a:spcBef>
                        <a:spcAft>
                          <a:spcPts val="0"/>
                        </a:spcAft>
                        <a:buFont typeface="Arial" panose="020B0604020202020204" pitchFamily="34" charset="0"/>
                        <a:buChar char="•"/>
                      </a:pPr>
                      <a:r>
                        <a:rPr lang="en-US" sz="1200" b="0" dirty="0">
                          <a:latin typeface="+mn-lt"/>
                        </a:rPr>
                        <a:t>Group work</a:t>
                      </a:r>
                    </a:p>
                    <a:p>
                      <a:pPr marL="171450" lvl="0" indent="-171450" algn="ctr" rtl="0">
                        <a:spcBef>
                          <a:spcPts val="0"/>
                        </a:spcBef>
                        <a:spcAft>
                          <a:spcPts val="0"/>
                        </a:spcAft>
                        <a:buFont typeface="Arial" panose="020B0604020202020204" pitchFamily="34" charset="0"/>
                        <a:buChar char="•"/>
                      </a:pPr>
                      <a:r>
                        <a:rPr lang="en-US" sz="1200" b="0" dirty="0">
                          <a:latin typeface="+mn-lt"/>
                        </a:rPr>
                        <a:t>Movement in the classroom</a:t>
                      </a:r>
                    </a:p>
                    <a:p>
                      <a:pPr marL="171450" lvl="0" indent="-171450" algn="ctr" rtl="0">
                        <a:spcBef>
                          <a:spcPts val="0"/>
                        </a:spcBef>
                        <a:spcAft>
                          <a:spcPts val="0"/>
                        </a:spcAft>
                        <a:buFont typeface="Arial" panose="020B0604020202020204" pitchFamily="34" charset="0"/>
                        <a:buChar char="•"/>
                      </a:pPr>
                      <a:r>
                        <a:rPr lang="en-US" sz="1200" b="0" dirty="0">
                          <a:latin typeface="+mn-lt"/>
                        </a:rPr>
                        <a:t>Making short notes if needed</a:t>
                      </a:r>
                    </a:p>
                    <a:p>
                      <a:pPr marL="0" lvl="0" indent="0" algn="ctr" rtl="0">
                        <a:spcBef>
                          <a:spcPts val="0"/>
                        </a:spcBef>
                        <a:spcAft>
                          <a:spcPts val="0"/>
                        </a:spcAft>
                        <a:buFont typeface="Arial" panose="020B0604020202020204" pitchFamily="34" charset="0"/>
                        <a:buNone/>
                      </a:pPr>
                      <a:endParaRPr lang="en-US" sz="1200" b="1" dirty="0">
                        <a:latin typeface="+mn-lt"/>
                      </a:endParaRPr>
                    </a:p>
                    <a:p>
                      <a:pPr marL="0" lvl="0" indent="0" algn="ctr" rtl="0">
                        <a:spcBef>
                          <a:spcPts val="0"/>
                        </a:spcBef>
                        <a:spcAft>
                          <a:spcPts val="0"/>
                        </a:spcAft>
                        <a:buFont typeface="Arial" panose="020B0604020202020204" pitchFamily="34" charset="0"/>
                        <a:buNone/>
                      </a:pPr>
                      <a:r>
                        <a:rPr lang="en-US" sz="1200" b="1" dirty="0">
                          <a:latin typeface="+mn-lt"/>
                        </a:rPr>
                        <a:t>Avoid</a:t>
                      </a:r>
                    </a:p>
                    <a:p>
                      <a:pPr marL="171450" lvl="0" indent="-171450" algn="ctr" rtl="0">
                        <a:spcBef>
                          <a:spcPts val="0"/>
                        </a:spcBef>
                        <a:spcAft>
                          <a:spcPts val="0"/>
                        </a:spcAft>
                        <a:buFont typeface="Arial" panose="020B0604020202020204" pitchFamily="34" charset="0"/>
                        <a:buChar char="•"/>
                      </a:pPr>
                      <a:r>
                        <a:rPr lang="en-US" sz="1200" b="0" strike="noStrike" dirty="0">
                          <a:latin typeface="+mn-lt"/>
                        </a:rPr>
                        <a:t>Writing and then reading</a:t>
                      </a:r>
                    </a:p>
                    <a:p>
                      <a:pPr marL="171450" lvl="0" indent="-171450" algn="ctr" rtl="0">
                        <a:spcBef>
                          <a:spcPts val="0"/>
                        </a:spcBef>
                        <a:spcAft>
                          <a:spcPts val="0"/>
                        </a:spcAft>
                        <a:buFont typeface="Arial" panose="020B0604020202020204" pitchFamily="34" charset="0"/>
                        <a:buChar char="•"/>
                      </a:pPr>
                      <a:r>
                        <a:rPr lang="en-US" sz="1200" b="0" strike="noStrike" dirty="0">
                          <a:latin typeface="+mn-lt"/>
                        </a:rPr>
                        <a:t>Writing heavy worksheets</a:t>
                      </a:r>
                    </a:p>
                    <a:p>
                      <a:pPr marL="171450" lvl="0" indent="-171450" algn="ctr" rtl="0">
                        <a:spcBef>
                          <a:spcPts val="0"/>
                        </a:spcBef>
                        <a:spcAft>
                          <a:spcPts val="0"/>
                        </a:spcAft>
                        <a:buFont typeface="Arial" panose="020B0604020202020204" pitchFamily="34" charset="0"/>
                        <a:buChar char="•"/>
                      </a:pPr>
                      <a:r>
                        <a:rPr lang="en-US" sz="1200" b="0" strike="noStrike" dirty="0">
                          <a:latin typeface="+mn-lt"/>
                        </a:rPr>
                        <a:t>Team games with just 1 student speaking </a:t>
                      </a:r>
                      <a:endParaRPr lang="en" sz="1200" b="0" strike="noStrike"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ctr" rtl="0">
                        <a:spcBef>
                          <a:spcPts val="0"/>
                        </a:spcBef>
                        <a:spcAft>
                          <a:spcPts val="0"/>
                        </a:spcAft>
                        <a:buNone/>
                      </a:pPr>
                      <a:r>
                        <a:rPr lang="en-GB" sz="1200" b="1" dirty="0">
                          <a:latin typeface="+mn-lt"/>
                        </a:rPr>
                        <a:t>The focus should be on writing, but it doesn’t need to be silent!</a:t>
                      </a:r>
                    </a:p>
                    <a:p>
                      <a:pPr marL="0" lvl="0" indent="0" algn="ctr" rtl="0">
                        <a:spcBef>
                          <a:spcPts val="0"/>
                        </a:spcBef>
                        <a:spcAft>
                          <a:spcPts val="0"/>
                        </a:spcAft>
                        <a:buNone/>
                      </a:pPr>
                      <a:endParaRPr lang="en-GB" sz="1200" b="1" dirty="0">
                        <a:latin typeface="+mn-lt"/>
                      </a:endParaRPr>
                    </a:p>
                    <a:p>
                      <a:pPr marL="171450" lvl="0" indent="-171450" algn="ctr" rtl="0">
                        <a:spcBef>
                          <a:spcPts val="0"/>
                        </a:spcBef>
                        <a:spcAft>
                          <a:spcPts val="0"/>
                        </a:spcAft>
                        <a:buFont typeface="Arial" panose="020B0604020202020204" pitchFamily="34" charset="0"/>
                        <a:buChar char="•"/>
                      </a:pPr>
                      <a:r>
                        <a:rPr lang="en-GB" sz="1200" b="0" dirty="0">
                          <a:latin typeface="+mn-lt"/>
                        </a:rPr>
                        <a:t>Individually or as a group</a:t>
                      </a:r>
                    </a:p>
                    <a:p>
                      <a:pPr marL="171450" lvl="0" indent="-171450" algn="ctr" rtl="0">
                        <a:spcBef>
                          <a:spcPts val="0"/>
                        </a:spcBef>
                        <a:spcAft>
                          <a:spcPts val="0"/>
                        </a:spcAft>
                        <a:buFont typeface="Arial" panose="020B0604020202020204" pitchFamily="34" charset="0"/>
                        <a:buChar char="•"/>
                      </a:pPr>
                      <a:r>
                        <a:rPr lang="en-GB" sz="1200" b="0" dirty="0">
                          <a:latin typeface="+mn-lt"/>
                        </a:rPr>
                        <a:t>Short or long form</a:t>
                      </a:r>
                    </a:p>
                    <a:p>
                      <a:pPr marL="171450" lvl="0" indent="-171450" algn="ctr" rtl="0">
                        <a:spcBef>
                          <a:spcPts val="0"/>
                        </a:spcBef>
                        <a:spcAft>
                          <a:spcPts val="0"/>
                        </a:spcAft>
                        <a:buFont typeface="Arial" panose="020B0604020202020204" pitchFamily="34" charset="0"/>
                        <a:buChar char="•"/>
                      </a:pPr>
                      <a:r>
                        <a:rPr lang="en-GB" sz="1200" b="0" dirty="0">
                          <a:latin typeface="+mn-lt"/>
                        </a:rPr>
                        <a:t>Use varied media</a:t>
                      </a:r>
                    </a:p>
                    <a:p>
                      <a:pPr marL="171450" lvl="0" indent="-171450" algn="ctr" rtl="0">
                        <a:spcBef>
                          <a:spcPts val="0"/>
                        </a:spcBef>
                        <a:spcAft>
                          <a:spcPts val="0"/>
                        </a:spcAft>
                        <a:buFont typeface="Arial" panose="020B0604020202020204" pitchFamily="34" charset="0"/>
                        <a:buChar char="•"/>
                      </a:pPr>
                      <a:r>
                        <a:rPr lang="en-GB" sz="1200" b="0" dirty="0">
                          <a:latin typeface="+mn-lt"/>
                        </a:rPr>
                        <a:t>Game based</a:t>
                      </a:r>
                    </a:p>
                    <a:p>
                      <a:pPr marL="171450" lvl="0" indent="-171450" algn="ctr" rtl="0">
                        <a:spcBef>
                          <a:spcPts val="0"/>
                        </a:spcBef>
                        <a:spcAft>
                          <a:spcPts val="0"/>
                        </a:spcAft>
                        <a:buFont typeface="Arial" panose="020B0604020202020204" pitchFamily="34" charset="0"/>
                        <a:buChar char="•"/>
                      </a:pPr>
                      <a:r>
                        <a:rPr lang="en-GB" sz="1200" b="0" dirty="0">
                          <a:latin typeface="+mn-lt"/>
                        </a:rPr>
                        <a:t>Consider providing structure for low levels</a:t>
                      </a:r>
                    </a:p>
                    <a:p>
                      <a:pPr marL="0" lvl="0" indent="0" algn="ctr" rtl="0">
                        <a:spcBef>
                          <a:spcPts val="0"/>
                        </a:spcBef>
                        <a:spcAft>
                          <a:spcPts val="0"/>
                        </a:spcAft>
                        <a:buFont typeface="Arial" panose="020B0604020202020204" pitchFamily="34" charset="0"/>
                        <a:buNone/>
                      </a:pPr>
                      <a:endParaRPr lang="en-GB" sz="1200" b="0" dirty="0">
                        <a:latin typeface="+mn-lt"/>
                      </a:endParaRPr>
                    </a:p>
                    <a:p>
                      <a:pPr marL="0" lvl="0" indent="0" algn="ctr" rtl="0">
                        <a:spcBef>
                          <a:spcPts val="0"/>
                        </a:spcBef>
                        <a:spcAft>
                          <a:spcPts val="0"/>
                        </a:spcAft>
                        <a:buFont typeface="Arial" panose="020B0604020202020204" pitchFamily="34" charset="0"/>
                        <a:buNone/>
                      </a:pPr>
                      <a:r>
                        <a:rPr lang="en-GB" sz="1200" b="1" dirty="0">
                          <a:latin typeface="+mn-lt"/>
                        </a:rPr>
                        <a:t>Avoid</a:t>
                      </a:r>
                    </a:p>
                    <a:p>
                      <a:pPr marL="171450" lvl="0" indent="-171450" algn="ctr" rtl="0">
                        <a:spcBef>
                          <a:spcPts val="0"/>
                        </a:spcBef>
                        <a:spcAft>
                          <a:spcPts val="0"/>
                        </a:spcAft>
                        <a:buFont typeface="Arial" panose="020B0604020202020204" pitchFamily="34" charset="0"/>
                        <a:buChar char="•"/>
                      </a:pPr>
                      <a:r>
                        <a:rPr lang="en-GB" sz="1200" b="0" strike="noStrike" dirty="0">
                          <a:latin typeface="+mn-lt"/>
                        </a:rPr>
                        <a:t>Sharing to the class</a:t>
                      </a:r>
                    </a:p>
                    <a:p>
                      <a:pPr marL="171450" lvl="0" indent="-171450" algn="ctr" rtl="0">
                        <a:spcBef>
                          <a:spcPts val="0"/>
                        </a:spcBef>
                        <a:spcAft>
                          <a:spcPts val="0"/>
                        </a:spcAft>
                        <a:buFont typeface="Arial" panose="020B0604020202020204" pitchFamily="34" charset="0"/>
                        <a:buChar char="•"/>
                      </a:pPr>
                      <a:r>
                        <a:rPr lang="en-GB" sz="1200" b="0" strike="noStrike" dirty="0">
                          <a:latin typeface="+mn-lt"/>
                        </a:rPr>
                        <a:t>Drawing with no writing</a:t>
                      </a:r>
                      <a:endParaRPr lang="en" sz="1200" b="0" strike="noStrike"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61871353"/>
                  </a:ext>
                </a:extLst>
              </a:tr>
            </a:tbl>
          </a:graphicData>
        </a:graphic>
      </p:graphicFrame>
    </p:spTree>
    <p:extLst>
      <p:ext uri="{BB962C8B-B14F-4D97-AF65-F5344CB8AC3E}">
        <p14:creationId xmlns:p14="http://schemas.microsoft.com/office/powerpoint/2010/main" val="21083038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8E764D6-4B5B-B0E2-0533-451C6B3C3A9D}"/>
              </a:ext>
            </a:extLst>
          </p:cNvPr>
          <p:cNvSpPr txBox="1"/>
          <p:nvPr/>
        </p:nvSpPr>
        <p:spPr>
          <a:xfrm>
            <a:off x="485775" y="1147698"/>
            <a:ext cx="5886450" cy="8036111"/>
          </a:xfrm>
          <a:prstGeom prst="rect">
            <a:avLst/>
          </a:prstGeom>
          <a:noFill/>
        </p:spPr>
        <p:txBody>
          <a:bodyPr wrap="square" rtlCol="0">
            <a:spAutoFit/>
          </a:bodyPr>
          <a:lstStyle/>
          <a:p>
            <a:pPr algn="ctr">
              <a:spcAft>
                <a:spcPts val="600"/>
              </a:spcAft>
            </a:pPr>
            <a:r>
              <a:rPr lang="en-GB" sz="1600" b="1" u="sng" dirty="0">
                <a:latin typeface="Calibri" panose="020F0502020204030204" pitchFamily="34" charset="0"/>
                <a:ea typeface="Arial Unicode MS"/>
                <a:cs typeface="Arial Unicode MS"/>
              </a:rPr>
              <a:t>Formatting</a:t>
            </a:r>
          </a:p>
          <a:p>
            <a:pPr>
              <a:spcAft>
                <a:spcPts val="600"/>
              </a:spcAft>
            </a:pPr>
            <a:r>
              <a:rPr lang="en-GB" sz="1200" dirty="0">
                <a:effectLst/>
                <a:latin typeface="Calibri" panose="020F0502020204030204" pitchFamily="34" charset="0"/>
                <a:ea typeface="Arial Unicode MS"/>
                <a:cs typeface="Arial Unicode MS"/>
              </a:rPr>
              <a:t>Formatting is an important aspect of lesson planning</a:t>
            </a:r>
            <a:r>
              <a:rPr lang="en-GB" sz="1200" dirty="0">
                <a:latin typeface="Calibri" panose="020F0502020204030204" pitchFamily="34" charset="0"/>
                <a:ea typeface="Arial Unicode MS"/>
                <a:cs typeface="Arial Unicode MS"/>
              </a:rPr>
              <a:t>. </a:t>
            </a:r>
            <a:r>
              <a:rPr lang="en-GB" sz="1200" b="1" dirty="0">
                <a:latin typeface="Calibri" panose="020F0502020204030204" pitchFamily="34" charset="0"/>
                <a:ea typeface="Arial Unicode MS"/>
                <a:cs typeface="Arial Unicode MS"/>
              </a:rPr>
              <a:t>B</a:t>
            </a:r>
            <a:r>
              <a:rPr lang="en-GB" sz="1200" b="1" dirty="0">
                <a:effectLst/>
                <a:latin typeface="Calibri" panose="020F0502020204030204" pitchFamily="34" charset="0"/>
                <a:ea typeface="Arial Unicode MS"/>
                <a:cs typeface="Arial Unicode MS"/>
              </a:rPr>
              <a:t>ad formatting can ruin an otherwise great lesson!</a:t>
            </a:r>
          </a:p>
          <a:p>
            <a:pPr marL="171450" indent="-171450">
              <a:lnSpc>
                <a:spcPct val="114000"/>
              </a:lnSpc>
              <a:buFont typeface="Arial" panose="020B0604020202020204" pitchFamily="34" charset="0"/>
              <a:buChar char="•"/>
            </a:pPr>
            <a:r>
              <a:rPr lang="en-GB" sz="1200" dirty="0">
                <a:latin typeface="Calibri" panose="020F0502020204030204" pitchFamily="34" charset="0"/>
                <a:ea typeface="Arial Unicode MS"/>
                <a:cs typeface="Arial Unicode MS"/>
              </a:rPr>
              <a:t>Students should be engaged by the material.</a:t>
            </a:r>
            <a:endParaRPr lang="en-GB" sz="1200" dirty="0">
              <a:effectLst/>
              <a:latin typeface="Calibri" panose="020F0502020204030204" pitchFamily="34" charset="0"/>
              <a:ea typeface="Arial Unicode MS"/>
              <a:cs typeface="Arial Unicode MS"/>
            </a:endParaRPr>
          </a:p>
          <a:p>
            <a:pPr marL="171450" indent="-171450">
              <a:lnSpc>
                <a:spcPct val="114000"/>
              </a:lnSpc>
              <a:buFont typeface="Arial" panose="020B0604020202020204" pitchFamily="34" charset="0"/>
              <a:buChar char="•"/>
            </a:pPr>
            <a:r>
              <a:rPr lang="en-GB" sz="1200" dirty="0">
                <a:latin typeface="Calibri" panose="020F0502020204030204" pitchFamily="34" charset="0"/>
                <a:ea typeface="Arial Unicode MS"/>
                <a:cs typeface="Arial Unicode MS"/>
              </a:rPr>
              <a:t>The PPT and worksheets should be easy to understand.</a:t>
            </a:r>
          </a:p>
          <a:p>
            <a:pPr marL="171450" indent="-171450">
              <a:lnSpc>
                <a:spcPct val="114000"/>
              </a:lnSpc>
              <a:buFont typeface="Arial" panose="020B0604020202020204" pitchFamily="34" charset="0"/>
              <a:buChar char="•"/>
            </a:pPr>
            <a:r>
              <a:rPr lang="en-GB" sz="1200" dirty="0">
                <a:latin typeface="Calibri" panose="020F0502020204030204" pitchFamily="34" charset="0"/>
                <a:ea typeface="Arial Unicode MS"/>
                <a:cs typeface="Arial Unicode MS"/>
              </a:rPr>
              <a:t>The overall legibility of the PPT and worksheets.</a:t>
            </a:r>
          </a:p>
          <a:p>
            <a:pPr marL="171450" indent="-171450">
              <a:lnSpc>
                <a:spcPct val="114000"/>
              </a:lnSpc>
              <a:buFont typeface="Arial" panose="020B0604020202020204" pitchFamily="34" charset="0"/>
              <a:buChar char="•"/>
            </a:pPr>
            <a:r>
              <a:rPr lang="en-GB" sz="1200" dirty="0">
                <a:effectLst/>
                <a:latin typeface="Calibri" panose="020F0502020204030204" pitchFamily="34" charset="0"/>
                <a:ea typeface="Arial Unicode MS"/>
                <a:cs typeface="Arial Unicode MS"/>
              </a:rPr>
              <a:t>Space is used efficiently.</a:t>
            </a:r>
          </a:p>
          <a:p>
            <a:pPr marL="171450" indent="-171450">
              <a:lnSpc>
                <a:spcPct val="114000"/>
              </a:lnSpc>
              <a:buFont typeface="Arial" panose="020B0604020202020204" pitchFamily="34" charset="0"/>
              <a:buChar char="•"/>
            </a:pPr>
            <a:r>
              <a:rPr lang="en-GB" sz="1200" dirty="0">
                <a:latin typeface="Calibri" panose="020F0502020204030204" pitchFamily="34" charset="0"/>
                <a:ea typeface="Arial Unicode MS"/>
                <a:cs typeface="Arial Unicode MS"/>
              </a:rPr>
              <a:t>Parents see worksheets.</a:t>
            </a:r>
          </a:p>
          <a:p>
            <a:pPr>
              <a:spcAft>
                <a:spcPts val="600"/>
              </a:spcAft>
            </a:pPr>
            <a:r>
              <a:rPr lang="en-GB" sz="1200" dirty="0">
                <a:latin typeface="Calibri" panose="020F0502020204030204" pitchFamily="34" charset="0"/>
                <a:ea typeface="Arial Unicode MS"/>
                <a:cs typeface="Arial Unicode MS"/>
              </a:rPr>
              <a:t>We use PowerPoint for both the lesson PPT and worksheets. This helps simplify the formatting process and allows for transfer of content between the worksheets and the PPT.</a:t>
            </a:r>
          </a:p>
          <a:p>
            <a:pPr>
              <a:spcAft>
                <a:spcPts val="600"/>
              </a:spcAft>
            </a:pPr>
            <a:r>
              <a:rPr lang="en-GB" sz="1200" b="1" dirty="0">
                <a:latin typeface="Calibri" panose="020F0502020204030204" pitchFamily="34" charset="0"/>
                <a:ea typeface="Arial Unicode MS"/>
                <a:cs typeface="Arial Unicode MS"/>
              </a:rPr>
              <a:t>Please watch the basic formatting tips video in the training folder if needed. Your team is always there to help you if needed and can they solve most PPT problems/queries easily.  </a:t>
            </a:r>
          </a:p>
          <a:p>
            <a:pPr algn="ctr">
              <a:spcAft>
                <a:spcPts val="600"/>
              </a:spcAft>
            </a:pPr>
            <a:r>
              <a:rPr lang="en-GB" sz="1600" b="1" u="sng" dirty="0">
                <a:latin typeface="Calibri" panose="020F0502020204030204" pitchFamily="34" charset="0"/>
                <a:ea typeface="Arial Unicode MS"/>
                <a:cs typeface="Arial Unicode MS"/>
              </a:rPr>
              <a:t>Worksheet Formatting</a:t>
            </a:r>
          </a:p>
          <a:p>
            <a:pPr>
              <a:spcAft>
                <a:spcPts val="600"/>
              </a:spcAft>
            </a:pPr>
            <a:r>
              <a:rPr lang="en-GB" sz="1200" dirty="0">
                <a:effectLst/>
                <a:latin typeface="Calibri" panose="020F0502020204030204" pitchFamily="34" charset="0"/>
                <a:ea typeface="Arial Unicode MS"/>
                <a:cs typeface="Arial Unicode MS"/>
              </a:rPr>
              <a:t>Please refer to the example lesson worksheets on </a:t>
            </a:r>
            <a:r>
              <a:rPr lang="en-GB" sz="1200" b="1" dirty="0">
                <a:effectLst/>
                <a:latin typeface="Calibri" panose="020F0502020204030204" pitchFamily="34" charset="0"/>
                <a:ea typeface="Arial Unicode MS"/>
                <a:cs typeface="Arial Unicode MS"/>
              </a:rPr>
              <a:t>pages </a:t>
            </a:r>
            <a:r>
              <a:rPr lang="en-GB" sz="1200" b="1" dirty="0">
                <a:latin typeface="Calibri" panose="020F0502020204030204" pitchFamily="34" charset="0"/>
                <a:ea typeface="Arial Unicode MS"/>
                <a:cs typeface="Arial Unicode MS"/>
              </a:rPr>
              <a:t>12</a:t>
            </a:r>
            <a:r>
              <a:rPr lang="en-GB" sz="1200" b="1" dirty="0">
                <a:effectLst/>
                <a:latin typeface="Calibri" panose="020F0502020204030204" pitchFamily="34" charset="0"/>
                <a:ea typeface="Arial Unicode MS"/>
                <a:cs typeface="Arial Unicode MS"/>
              </a:rPr>
              <a:t>-13 </a:t>
            </a:r>
            <a:r>
              <a:rPr lang="en-GB" sz="1200" dirty="0">
                <a:effectLst/>
                <a:latin typeface="Calibri" panose="020F0502020204030204" pitchFamily="34" charset="0"/>
                <a:ea typeface="Arial Unicode MS"/>
                <a:cs typeface="Arial Unicode MS"/>
              </a:rPr>
              <a:t>for example worksheet formatting.</a:t>
            </a:r>
          </a:p>
          <a:p>
            <a:pPr>
              <a:spcAft>
                <a:spcPts val="600"/>
              </a:spcAft>
            </a:pPr>
            <a:r>
              <a:rPr lang="en-GB" sz="1200" b="1" dirty="0">
                <a:effectLst/>
                <a:latin typeface="Calibri" panose="020F0502020204030204" pitchFamily="34" charset="0"/>
                <a:ea typeface="Arial Unicode MS"/>
                <a:cs typeface="Arial Unicode MS"/>
              </a:rPr>
              <a:t>Consider the following when creating your lesson worksheets:</a:t>
            </a:r>
          </a:p>
          <a:p>
            <a:pPr marL="174625" indent="-174625">
              <a:lnSpc>
                <a:spcPct val="114000"/>
              </a:lnSpc>
              <a:buFont typeface="Arial" panose="020B0604020202020204" pitchFamily="34" charset="0"/>
              <a:buChar char="•"/>
            </a:pPr>
            <a:r>
              <a:rPr lang="en-GB" sz="1200" dirty="0">
                <a:latin typeface="Calibri" panose="020F0502020204030204" pitchFamily="34" charset="0"/>
              </a:rPr>
              <a:t>Instructions should be formatted clearly and be simple for students to understand.</a:t>
            </a:r>
          </a:p>
          <a:p>
            <a:pPr marL="174625" indent="-174625">
              <a:lnSpc>
                <a:spcPct val="114000"/>
              </a:lnSpc>
              <a:buFont typeface="Arial" panose="020B0604020202020204" pitchFamily="34" charset="0"/>
              <a:buChar char="•"/>
            </a:pPr>
            <a:r>
              <a:rPr lang="en-GB" sz="1200" dirty="0">
                <a:latin typeface="Calibri" panose="020F0502020204030204" pitchFamily="34" charset="0"/>
              </a:rPr>
              <a:t>All information students need to complete the activity is provided first.</a:t>
            </a:r>
          </a:p>
          <a:p>
            <a:pPr marL="631825" lvl="1" indent="-174625">
              <a:lnSpc>
                <a:spcPct val="114000"/>
              </a:lnSpc>
              <a:buFont typeface="Arial" panose="020B0604020202020204" pitchFamily="34" charset="0"/>
              <a:buChar char="•"/>
            </a:pPr>
            <a:r>
              <a:rPr lang="en-GB" sz="1200" dirty="0">
                <a:latin typeface="Calibri" panose="020F0502020204030204" pitchFamily="34" charset="0"/>
              </a:rPr>
              <a:t>Don’t put a word bank below the writing space.</a:t>
            </a:r>
          </a:p>
          <a:p>
            <a:pPr marL="174625" indent="-174625">
              <a:lnSpc>
                <a:spcPct val="114000"/>
              </a:lnSpc>
              <a:buFont typeface="Arial" panose="020B0604020202020204" pitchFamily="34" charset="0"/>
              <a:buChar char="•"/>
            </a:pPr>
            <a:r>
              <a:rPr lang="en-GB" sz="1200" dirty="0">
                <a:latin typeface="Calibri" panose="020F0502020204030204" pitchFamily="34" charset="0"/>
              </a:rPr>
              <a:t>Worksheets should be formatted consistently across the lesson.</a:t>
            </a:r>
          </a:p>
          <a:p>
            <a:pPr marL="631825" lvl="2" indent="-174625">
              <a:lnSpc>
                <a:spcPct val="114000"/>
              </a:lnSpc>
              <a:buFont typeface="Arial" panose="020B0604020202020204" pitchFamily="34" charset="0"/>
              <a:buChar char="•"/>
            </a:pPr>
            <a:r>
              <a:rPr lang="en-GB" sz="1200" dirty="0">
                <a:latin typeface="Calibri" panose="020F0502020204030204" pitchFamily="34" charset="0"/>
              </a:rPr>
              <a:t>Font type &amp; sizes. (Use one font size for titles and another for all text.)</a:t>
            </a:r>
          </a:p>
          <a:p>
            <a:pPr marL="631825" lvl="2" indent="-174625">
              <a:lnSpc>
                <a:spcPct val="114000"/>
              </a:lnSpc>
              <a:buFont typeface="Arial" panose="020B0604020202020204" pitchFamily="34" charset="0"/>
              <a:buChar char="•"/>
            </a:pPr>
            <a:r>
              <a:rPr lang="en-GB" sz="1200" dirty="0">
                <a:latin typeface="Calibri" panose="020F0502020204030204" pitchFamily="34" charset="0"/>
              </a:rPr>
              <a:t>Text boxes and shapes.</a:t>
            </a:r>
          </a:p>
          <a:p>
            <a:pPr marL="174625" indent="-174625">
              <a:lnSpc>
                <a:spcPct val="114000"/>
              </a:lnSpc>
              <a:buFont typeface="Arial" panose="020B0604020202020204" pitchFamily="34" charset="0"/>
              <a:buChar char="•"/>
            </a:pPr>
            <a:r>
              <a:rPr lang="en-GB" sz="1200" dirty="0">
                <a:latin typeface="Calibri" panose="020F0502020204030204" pitchFamily="34" charset="0"/>
              </a:rPr>
              <a:t>There are clear divisions between activities. (This can be done with direction boxes / titles.)</a:t>
            </a:r>
          </a:p>
          <a:p>
            <a:pPr marL="174625" indent="-174625">
              <a:lnSpc>
                <a:spcPct val="114000"/>
              </a:lnSpc>
              <a:buFont typeface="Arial" panose="020B0604020202020204" pitchFamily="34" charset="0"/>
              <a:buChar char="•"/>
            </a:pPr>
            <a:r>
              <a:rPr lang="en-GB" sz="1200" dirty="0">
                <a:latin typeface="Calibri" panose="020F0502020204030204" pitchFamily="34" charset="0"/>
              </a:rPr>
              <a:t>An appropriate amount of writing space has been provided for answers.</a:t>
            </a:r>
          </a:p>
          <a:p>
            <a:pPr marL="174625" indent="-174625">
              <a:lnSpc>
                <a:spcPct val="114000"/>
              </a:lnSpc>
              <a:buFont typeface="Arial" panose="020B0604020202020204" pitchFamily="34" charset="0"/>
              <a:buChar char="•"/>
            </a:pPr>
            <a:r>
              <a:rPr lang="en-GB" sz="1200" dirty="0">
                <a:latin typeface="Calibri" panose="020F0502020204030204" pitchFamily="34" charset="0"/>
              </a:rPr>
              <a:t>A note taking box may be more appropriate than lines for some activities.</a:t>
            </a:r>
          </a:p>
          <a:p>
            <a:pPr marL="174625" indent="-174625">
              <a:lnSpc>
                <a:spcPct val="114000"/>
              </a:lnSpc>
              <a:buFont typeface="Arial" panose="020B0604020202020204" pitchFamily="34" charset="0"/>
              <a:buChar char="•"/>
            </a:pPr>
            <a:r>
              <a:rPr lang="en-GB" sz="1200" dirty="0">
                <a:latin typeface="Calibri" panose="020F0502020204030204" pitchFamily="34" charset="0"/>
              </a:rPr>
              <a:t>Questions can be added or removed to best fit the space available.</a:t>
            </a:r>
          </a:p>
          <a:p>
            <a:pPr marL="174625" indent="-174625">
              <a:lnSpc>
                <a:spcPct val="114000"/>
              </a:lnSpc>
              <a:buFont typeface="Arial" panose="020B0604020202020204" pitchFamily="34" charset="0"/>
              <a:buChar char="•"/>
            </a:pPr>
            <a:r>
              <a:rPr lang="en-GB" sz="1200" dirty="0">
                <a:latin typeface="Calibri" panose="020F0502020204030204" pitchFamily="34" charset="0"/>
              </a:rPr>
              <a:t>The worksheets match the PPT. You can copy between them and reformat as needed.</a:t>
            </a:r>
          </a:p>
          <a:p>
            <a:pPr marL="631825" lvl="1" indent="-174625">
              <a:lnSpc>
                <a:spcPct val="114000"/>
              </a:lnSpc>
              <a:buFont typeface="Arial" panose="020B0604020202020204" pitchFamily="34" charset="0"/>
              <a:buChar char="•"/>
            </a:pPr>
            <a:r>
              <a:rPr lang="en-GB" sz="1200" dirty="0">
                <a:latin typeface="Calibri" panose="020F0502020204030204" pitchFamily="34" charset="0"/>
              </a:rPr>
              <a:t>Copy &amp; paste as a text box. </a:t>
            </a:r>
            <a:r>
              <a:rPr lang="en-GB" sz="1200" b="1" dirty="0">
                <a:latin typeface="Calibri" panose="020F0502020204030204" pitchFamily="34" charset="0"/>
              </a:rPr>
              <a:t>Do not paste as an image, others cannot edit!</a:t>
            </a:r>
          </a:p>
          <a:p>
            <a:pPr marL="631825" lvl="1" indent="-174625">
              <a:lnSpc>
                <a:spcPct val="114000"/>
              </a:lnSpc>
              <a:buFont typeface="Arial" panose="020B0604020202020204" pitchFamily="34" charset="0"/>
              <a:buChar char="•"/>
            </a:pPr>
            <a:r>
              <a:rPr lang="en-GB" sz="1200" dirty="0">
                <a:latin typeface="Calibri" panose="020F0502020204030204" pitchFamily="34" charset="0"/>
              </a:rPr>
              <a:t>Change the color as needed to ensure visual clarity.</a:t>
            </a:r>
          </a:p>
          <a:p>
            <a:pPr marL="174625" indent="-174625">
              <a:lnSpc>
                <a:spcPct val="114000"/>
              </a:lnSpc>
              <a:buFont typeface="Arial" panose="020B0604020202020204" pitchFamily="34" charset="0"/>
              <a:buChar char="•"/>
            </a:pPr>
            <a:r>
              <a:rPr lang="en-GB" sz="1200" dirty="0">
                <a:latin typeface="Calibri" panose="020F0502020204030204" pitchFamily="34" charset="0"/>
              </a:rPr>
              <a:t>Very light colors and </a:t>
            </a:r>
            <a:r>
              <a:rPr lang="en-GB" sz="1200" b="1" dirty="0">
                <a:latin typeface="Calibri" panose="020F0502020204030204" pitchFamily="34" charset="0"/>
              </a:rPr>
              <a:t>white text boxes </a:t>
            </a:r>
            <a:r>
              <a:rPr lang="en-GB" sz="1200" dirty="0">
                <a:latin typeface="Calibri" panose="020F0502020204030204" pitchFamily="34" charset="0"/>
              </a:rPr>
              <a:t>should be used due to B&amp;W photocopying.</a:t>
            </a:r>
          </a:p>
          <a:p>
            <a:pPr marL="631825" lvl="1" indent="-174625">
              <a:lnSpc>
                <a:spcPct val="114000"/>
              </a:lnSpc>
              <a:buFont typeface="Arial" panose="020B0604020202020204" pitchFamily="34" charset="0"/>
              <a:buChar char="•"/>
            </a:pPr>
            <a:r>
              <a:rPr lang="en-GB" sz="1200" b="1" dirty="0">
                <a:latin typeface="Calibri" panose="020F0502020204030204" pitchFamily="34" charset="0"/>
              </a:rPr>
              <a:t>It is difficult for students to write on dark boxes.</a:t>
            </a:r>
          </a:p>
          <a:p>
            <a:pPr marL="174625" indent="-174625">
              <a:lnSpc>
                <a:spcPct val="114000"/>
              </a:lnSpc>
              <a:buFont typeface="Arial" panose="020B0604020202020204" pitchFamily="34" charset="0"/>
              <a:buChar char="•"/>
            </a:pPr>
            <a:r>
              <a:rPr lang="en-GB" sz="1200" dirty="0">
                <a:latin typeface="Calibri" panose="020F0502020204030204" pitchFamily="34" charset="0"/>
              </a:rPr>
              <a:t>The worksheets should be easy for other teachers to edit.</a:t>
            </a:r>
          </a:p>
          <a:p>
            <a:pPr marL="174625" indent="-174625">
              <a:lnSpc>
                <a:spcPct val="114000"/>
              </a:lnSpc>
              <a:buFont typeface="Arial" panose="020B0604020202020204" pitchFamily="34" charset="0"/>
              <a:buChar char="•"/>
            </a:pPr>
            <a:r>
              <a:rPr lang="en-GB" sz="1200" dirty="0">
                <a:latin typeface="Calibri" panose="020F0502020204030204" pitchFamily="34" charset="0"/>
              </a:rPr>
              <a:t>Images are used well. (To depict keywords &amp; ideas, as decoration, to fill space, etc.)</a:t>
            </a:r>
          </a:p>
          <a:p>
            <a:pPr marL="631825" lvl="1" indent="-174625">
              <a:lnSpc>
                <a:spcPct val="114000"/>
              </a:lnSpc>
              <a:buFont typeface="Arial" panose="020B0604020202020204" pitchFamily="34" charset="0"/>
              <a:buChar char="•"/>
            </a:pPr>
            <a:r>
              <a:rPr lang="en-GB" sz="1200" dirty="0">
                <a:latin typeface="Calibri" panose="020F0502020204030204" pitchFamily="34" charset="0"/>
              </a:rPr>
              <a:t>Ensure that images do not have watermarks. Some are very faint, so check carefully.</a:t>
            </a:r>
          </a:p>
        </p:txBody>
      </p:sp>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Formatting</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215805"/>
          </a:xfrm>
        </p:spPr>
        <p:txBody>
          <a:bodyPr/>
          <a:lstStyle/>
          <a:p>
            <a:pPr marL="0" indent="0" algn="ctr">
              <a:buNone/>
            </a:pPr>
            <a:r>
              <a:rPr lang="en-US" sz="1600" dirty="0"/>
              <a:t>25</a:t>
            </a:r>
          </a:p>
        </p:txBody>
      </p:sp>
    </p:spTree>
    <p:extLst>
      <p:ext uri="{BB962C8B-B14F-4D97-AF65-F5344CB8AC3E}">
        <p14:creationId xmlns:p14="http://schemas.microsoft.com/office/powerpoint/2010/main" val="2668885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Formatting</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190475"/>
          </a:xfrm>
        </p:spPr>
        <p:txBody>
          <a:bodyPr/>
          <a:lstStyle/>
          <a:p>
            <a:pPr marL="0" indent="0" algn="ctr">
              <a:buNone/>
            </a:pPr>
            <a:r>
              <a:rPr lang="en-US" sz="1600" dirty="0"/>
              <a:t>26</a:t>
            </a:r>
          </a:p>
        </p:txBody>
      </p:sp>
      <p:sp>
        <p:nvSpPr>
          <p:cNvPr id="5" name="TextBox 4">
            <a:extLst>
              <a:ext uri="{FF2B5EF4-FFF2-40B4-BE49-F238E27FC236}">
                <a16:creationId xmlns:a16="http://schemas.microsoft.com/office/drawing/2014/main" id="{18E764D6-4B5B-B0E2-0533-451C6B3C3A9D}"/>
              </a:ext>
            </a:extLst>
          </p:cNvPr>
          <p:cNvSpPr txBox="1"/>
          <p:nvPr/>
        </p:nvSpPr>
        <p:spPr>
          <a:xfrm>
            <a:off x="485775" y="1252864"/>
            <a:ext cx="5886450" cy="8109912"/>
          </a:xfrm>
          <a:prstGeom prst="rect">
            <a:avLst/>
          </a:prstGeom>
          <a:noFill/>
        </p:spPr>
        <p:txBody>
          <a:bodyPr wrap="square" rtlCol="0">
            <a:spAutoFit/>
          </a:bodyPr>
          <a:lstStyle/>
          <a:p>
            <a:pPr algn="ctr">
              <a:spcAft>
                <a:spcPts val="600"/>
              </a:spcAft>
            </a:pPr>
            <a:r>
              <a:rPr lang="en-GB" sz="1600" b="1" u="sng" dirty="0">
                <a:latin typeface="Calibri" panose="020F0502020204030204" pitchFamily="34" charset="0"/>
                <a:ea typeface="Arial Unicode MS"/>
                <a:cs typeface="Arial Unicode MS"/>
              </a:rPr>
              <a:t>PPT Formatting</a:t>
            </a:r>
          </a:p>
          <a:p>
            <a:pPr>
              <a:spcAft>
                <a:spcPts val="600"/>
              </a:spcAft>
            </a:pPr>
            <a:r>
              <a:rPr lang="en-GB" sz="1200" dirty="0">
                <a:effectLst/>
                <a:latin typeface="Calibri" panose="020F0502020204030204" pitchFamily="34" charset="0"/>
                <a:ea typeface="Arial Unicode MS"/>
                <a:cs typeface="Arial Unicode MS"/>
              </a:rPr>
              <a:t>Please refer to the example lesson PPT on </a:t>
            </a:r>
            <a:r>
              <a:rPr lang="en-GB" sz="1200" b="1" dirty="0">
                <a:effectLst/>
                <a:latin typeface="Calibri" panose="020F0502020204030204" pitchFamily="34" charset="0"/>
                <a:ea typeface="Arial Unicode MS"/>
                <a:cs typeface="Arial Unicode MS"/>
              </a:rPr>
              <a:t>pages 18-19 </a:t>
            </a:r>
            <a:r>
              <a:rPr lang="en-GB" sz="1200" dirty="0">
                <a:effectLst/>
                <a:latin typeface="Calibri" panose="020F0502020204030204" pitchFamily="34" charset="0"/>
                <a:ea typeface="Arial Unicode MS"/>
                <a:cs typeface="Arial Unicode MS"/>
              </a:rPr>
              <a:t>for ideal PPT formatting.</a:t>
            </a:r>
          </a:p>
          <a:p>
            <a:pPr>
              <a:spcAft>
                <a:spcPts val="600"/>
              </a:spcAft>
            </a:pPr>
            <a:r>
              <a:rPr lang="en-GB" sz="1200" dirty="0">
                <a:latin typeface="Calibri" panose="020F0502020204030204" pitchFamily="34" charset="0"/>
                <a:ea typeface="Arial Unicode MS"/>
                <a:cs typeface="Arial Unicode MS"/>
              </a:rPr>
              <a:t>There is a video on Dropbox that covers some PPT basics. Please also check YouTube for handy tutorials and ask your team if you have questions or issues!</a:t>
            </a:r>
          </a:p>
          <a:p>
            <a:pPr>
              <a:spcAft>
                <a:spcPts val="1200"/>
              </a:spcAft>
            </a:pPr>
            <a:r>
              <a:rPr lang="en-GB" sz="1200" b="1" dirty="0">
                <a:effectLst/>
                <a:latin typeface="Calibri" panose="020F0502020204030204" pitchFamily="34" charset="0"/>
                <a:ea typeface="Arial Unicode MS"/>
                <a:cs typeface="Arial Unicode MS"/>
              </a:rPr>
              <a:t>Consider the following when creating your lesson PPT:</a:t>
            </a:r>
          </a:p>
          <a:p>
            <a:pPr marL="171450" indent="-171450">
              <a:spcAft>
                <a:spcPts val="600"/>
              </a:spcAft>
              <a:buFont typeface="Arial" panose="020B0604020202020204" pitchFamily="34" charset="0"/>
              <a:buChar char="•"/>
            </a:pPr>
            <a:r>
              <a:rPr lang="en-GB" sz="1200" dirty="0">
                <a:latin typeface="Calibri" panose="020F0502020204030204" pitchFamily="34" charset="0"/>
              </a:rPr>
              <a:t>How the PPT will look when projected in the classroom.</a:t>
            </a:r>
          </a:p>
          <a:p>
            <a:pPr marL="171450" indent="-171450">
              <a:spcAft>
                <a:spcPts val="600"/>
              </a:spcAft>
              <a:buFont typeface="Arial" panose="020B0604020202020204" pitchFamily="34" charset="0"/>
              <a:buChar char="•"/>
            </a:pPr>
            <a:r>
              <a:rPr lang="en-GB" sz="1200" dirty="0">
                <a:latin typeface="Calibri" panose="020F0502020204030204" pitchFamily="34" charset="0"/>
              </a:rPr>
              <a:t>There should be a good contrast between the background color and font color.</a:t>
            </a:r>
          </a:p>
          <a:p>
            <a:pPr marL="628650" lvl="1" indent="-171450">
              <a:spcAft>
                <a:spcPts val="600"/>
              </a:spcAft>
              <a:buFont typeface="Arial" panose="020B0604020202020204" pitchFamily="34" charset="0"/>
              <a:buChar char="•"/>
            </a:pPr>
            <a:r>
              <a:rPr lang="en-GB" sz="1200" dirty="0">
                <a:latin typeface="Calibri" panose="020F0502020204030204" pitchFamily="34" charset="0"/>
              </a:rPr>
              <a:t>Light background and dark fonts recommended. </a:t>
            </a:r>
          </a:p>
          <a:p>
            <a:pPr marL="628650" lvl="1" indent="-171450">
              <a:spcAft>
                <a:spcPts val="600"/>
              </a:spcAft>
              <a:buFont typeface="Arial" panose="020B0604020202020204" pitchFamily="34" charset="0"/>
              <a:buChar char="•"/>
            </a:pPr>
            <a:r>
              <a:rPr lang="en-GB" sz="1200" dirty="0">
                <a:latin typeface="Calibri" panose="020F0502020204030204" pitchFamily="34" charset="0"/>
              </a:rPr>
              <a:t>Fonts should be easy to read. </a:t>
            </a:r>
            <a:r>
              <a:rPr lang="en-GB" sz="1200" b="1" dirty="0">
                <a:latin typeface="Calibri" panose="020F0502020204030204" pitchFamily="34" charset="0"/>
              </a:rPr>
              <a:t>Legibility is the most important consideration.</a:t>
            </a:r>
          </a:p>
          <a:p>
            <a:pPr marL="628650" lvl="1" indent="-171450">
              <a:spcAft>
                <a:spcPts val="600"/>
              </a:spcAft>
              <a:buFont typeface="Arial" panose="020B0604020202020204" pitchFamily="34" charset="0"/>
              <a:buChar char="•"/>
            </a:pPr>
            <a:r>
              <a:rPr lang="en-GB" sz="1200" b="1" dirty="0">
                <a:latin typeface="Calibri" panose="020F0502020204030204" pitchFamily="34" charset="0"/>
              </a:rPr>
              <a:t>Avoid white fonts. Dark fonts required</a:t>
            </a:r>
          </a:p>
          <a:p>
            <a:pPr marL="628650" lvl="1" indent="-171450">
              <a:spcAft>
                <a:spcPts val="600"/>
              </a:spcAft>
              <a:buFont typeface="Arial" panose="020B0604020202020204" pitchFamily="34" charset="0"/>
              <a:buChar char="•"/>
            </a:pPr>
            <a:r>
              <a:rPr lang="en-GB" sz="1200" b="1" dirty="0">
                <a:latin typeface="Calibri" panose="020F0502020204030204" pitchFamily="34" charset="0"/>
              </a:rPr>
              <a:t>Aim to use size 18+ on the PPT.</a:t>
            </a:r>
          </a:p>
          <a:p>
            <a:pPr marL="171450" indent="-171450">
              <a:spcAft>
                <a:spcPts val="600"/>
              </a:spcAft>
              <a:buFont typeface="Arial" panose="020B0604020202020204" pitchFamily="34" charset="0"/>
              <a:buChar char="•"/>
            </a:pPr>
            <a:r>
              <a:rPr lang="en-GB" sz="1200" dirty="0">
                <a:latin typeface="Calibri" panose="020F0502020204030204" pitchFamily="34" charset="0"/>
              </a:rPr>
              <a:t>If using a downloaded PPT template with custom fonts, the font information slide should be easy to see. (A hidden slide at the start of the PPT.)</a:t>
            </a:r>
          </a:p>
          <a:p>
            <a:pPr marL="628650" lvl="1" indent="-171450">
              <a:spcAft>
                <a:spcPts val="600"/>
              </a:spcAft>
              <a:buFont typeface="Arial" panose="020B0604020202020204" pitchFamily="34" charset="0"/>
              <a:buChar char="•"/>
            </a:pPr>
            <a:r>
              <a:rPr lang="en-GB" sz="1200" dirty="0">
                <a:latin typeface="Calibri" panose="020F0502020204030204" pitchFamily="34" charset="0"/>
              </a:rPr>
              <a:t>The PPT attribution slide should also be kept.</a:t>
            </a:r>
          </a:p>
          <a:p>
            <a:pPr marL="171450" indent="-171450">
              <a:spcAft>
                <a:spcPts val="600"/>
              </a:spcAft>
              <a:buFont typeface="Arial" panose="020B0604020202020204" pitchFamily="34" charset="0"/>
              <a:buChar char="•"/>
            </a:pPr>
            <a:r>
              <a:rPr lang="en-GB" sz="1200" dirty="0">
                <a:latin typeface="Calibri" panose="020F0502020204030204" pitchFamily="34" charset="0"/>
              </a:rPr>
              <a:t>Slides should not be overloaded with text / information.</a:t>
            </a:r>
          </a:p>
          <a:p>
            <a:pPr marL="171450" indent="-171450">
              <a:spcAft>
                <a:spcPts val="600"/>
              </a:spcAft>
              <a:buFont typeface="Arial" panose="020B0604020202020204" pitchFamily="34" charset="0"/>
              <a:buChar char="•"/>
            </a:pPr>
            <a:r>
              <a:rPr lang="en-GB" sz="1200" dirty="0">
                <a:latin typeface="Calibri" panose="020F0502020204030204" pitchFamily="34" charset="0"/>
              </a:rPr>
              <a:t>Avoid "stacking” information on one slide, as it is difficult to check &amp; edit.</a:t>
            </a:r>
          </a:p>
          <a:p>
            <a:pPr marL="628650" lvl="1" indent="-171450">
              <a:spcAft>
                <a:spcPts val="600"/>
              </a:spcAft>
              <a:buFont typeface="Arial" panose="020B0604020202020204" pitchFamily="34" charset="0"/>
              <a:buChar char="•"/>
            </a:pPr>
            <a:r>
              <a:rPr lang="en-GB" sz="1200" dirty="0">
                <a:latin typeface="Calibri" panose="020F0502020204030204" pitchFamily="34" charset="0"/>
              </a:rPr>
              <a:t>Use multiple slides.</a:t>
            </a:r>
          </a:p>
          <a:p>
            <a:pPr marL="171450" indent="-171450">
              <a:spcAft>
                <a:spcPts val="600"/>
              </a:spcAft>
              <a:buFont typeface="Arial" panose="020B0604020202020204" pitchFamily="34" charset="0"/>
              <a:buChar char="•"/>
            </a:pPr>
            <a:r>
              <a:rPr lang="en-GB" sz="1200" dirty="0">
                <a:latin typeface="Calibri" panose="020F0502020204030204" pitchFamily="34" charset="0"/>
              </a:rPr>
              <a:t>The PPT should be easy for other teachers to edit.</a:t>
            </a:r>
          </a:p>
          <a:p>
            <a:pPr marL="628650" lvl="1" indent="-171450">
              <a:spcAft>
                <a:spcPts val="600"/>
              </a:spcAft>
              <a:buFont typeface="Arial" panose="020B0604020202020204" pitchFamily="34" charset="0"/>
              <a:buChar char="•"/>
            </a:pPr>
            <a:r>
              <a:rPr lang="en-GB" sz="1200" dirty="0">
                <a:latin typeface="Calibri" panose="020F0502020204030204" pitchFamily="34" charset="0"/>
              </a:rPr>
              <a:t>Avoid downloaded fonts.</a:t>
            </a:r>
          </a:p>
          <a:p>
            <a:pPr marL="628650" lvl="1" indent="-171450">
              <a:spcAft>
                <a:spcPts val="600"/>
              </a:spcAft>
              <a:buFont typeface="Arial" panose="020B0604020202020204" pitchFamily="34" charset="0"/>
              <a:buChar char="•"/>
            </a:pPr>
            <a:r>
              <a:rPr lang="en-GB" sz="1200" dirty="0">
                <a:latin typeface="Calibri" panose="020F0502020204030204" pitchFamily="34" charset="0"/>
              </a:rPr>
              <a:t>Don’t use non-editable images of text.</a:t>
            </a:r>
          </a:p>
          <a:p>
            <a:pPr marL="171450" indent="-171450">
              <a:spcAft>
                <a:spcPts val="600"/>
              </a:spcAft>
              <a:buFont typeface="Arial" panose="020B0604020202020204" pitchFamily="34" charset="0"/>
              <a:buChar char="•"/>
            </a:pPr>
            <a:r>
              <a:rPr lang="en-GB" sz="1200" dirty="0">
                <a:latin typeface="Calibri" panose="020F0502020204030204" pitchFamily="34" charset="0"/>
              </a:rPr>
              <a:t>Use animations as needed, but don’t overuse them.</a:t>
            </a:r>
          </a:p>
          <a:p>
            <a:pPr marL="171450" indent="-171450">
              <a:spcAft>
                <a:spcPts val="600"/>
              </a:spcAft>
              <a:buFont typeface="Arial" panose="020B0604020202020204" pitchFamily="34" charset="0"/>
              <a:buChar char="•"/>
            </a:pPr>
            <a:r>
              <a:rPr lang="en-GB" sz="1200" dirty="0">
                <a:latin typeface="Calibri" panose="020F0502020204030204" pitchFamily="34" charset="0"/>
              </a:rPr>
              <a:t>The PPT can work in conjunction with the worksheets.</a:t>
            </a:r>
          </a:p>
          <a:p>
            <a:pPr marL="628650" lvl="1" indent="-171450">
              <a:spcAft>
                <a:spcPts val="600"/>
              </a:spcAft>
              <a:buFont typeface="Arial" panose="020B0604020202020204" pitchFamily="34" charset="0"/>
              <a:buChar char="•"/>
            </a:pPr>
            <a:r>
              <a:rPr lang="en-GB" sz="1200" dirty="0">
                <a:latin typeface="Calibri" panose="020F0502020204030204" pitchFamily="34" charset="0"/>
              </a:rPr>
              <a:t>Add additional explanations or examples.</a:t>
            </a:r>
          </a:p>
          <a:p>
            <a:pPr marL="628650" lvl="1" indent="-171450">
              <a:spcAft>
                <a:spcPts val="600"/>
              </a:spcAft>
              <a:buFont typeface="Arial" panose="020B0604020202020204" pitchFamily="34" charset="0"/>
              <a:buChar char="•"/>
            </a:pPr>
            <a:r>
              <a:rPr lang="en-GB" sz="1200" dirty="0">
                <a:latin typeface="Calibri" panose="020F0502020204030204" pitchFamily="34" charset="0"/>
              </a:rPr>
              <a:t>Provide images or GIFs to illustrate an example or activity.</a:t>
            </a:r>
          </a:p>
          <a:p>
            <a:pPr marL="171450" indent="-171450">
              <a:spcAft>
                <a:spcPts val="600"/>
              </a:spcAft>
              <a:buFont typeface="Arial" panose="020B0604020202020204" pitchFamily="34" charset="0"/>
              <a:buChar char="•"/>
            </a:pPr>
            <a:r>
              <a:rPr lang="en-GB" sz="1200" dirty="0">
                <a:latin typeface="Calibri" panose="020F0502020204030204" pitchFamily="34" charset="0"/>
              </a:rPr>
              <a:t>Activities may be on the PPT only.</a:t>
            </a:r>
          </a:p>
          <a:p>
            <a:pPr marL="628650" lvl="1" indent="-171450">
              <a:spcAft>
                <a:spcPts val="600"/>
              </a:spcAft>
              <a:buFont typeface="Arial" panose="020B0604020202020204" pitchFamily="34" charset="0"/>
              <a:buChar char="•"/>
            </a:pPr>
            <a:r>
              <a:rPr lang="en-GB" sz="1200" dirty="0">
                <a:latin typeface="Calibri" panose="020F0502020204030204" pitchFamily="34" charset="0"/>
              </a:rPr>
              <a:t>Provide detailed instructions on the teacher pages.</a:t>
            </a:r>
          </a:p>
          <a:p>
            <a:pPr marL="171450" indent="-171450">
              <a:spcAft>
                <a:spcPts val="600"/>
              </a:spcAft>
              <a:buFont typeface="Arial" panose="020B0604020202020204" pitchFamily="34" charset="0"/>
              <a:buChar char="•"/>
            </a:pPr>
            <a:r>
              <a:rPr lang="en-GB" sz="1200" dirty="0">
                <a:latin typeface="Calibri" panose="020F0502020204030204" pitchFamily="34" charset="0"/>
              </a:rPr>
              <a:t>Students should be able to recognize easily how the PPT relates to the worksheets.</a:t>
            </a:r>
          </a:p>
          <a:p>
            <a:pPr marL="171450" indent="-171450">
              <a:spcAft>
                <a:spcPts val="600"/>
              </a:spcAft>
              <a:buFont typeface="Arial" panose="020B0604020202020204" pitchFamily="34" charset="0"/>
              <a:buChar char="•"/>
            </a:pPr>
            <a:r>
              <a:rPr lang="en-GB" sz="1200" dirty="0">
                <a:latin typeface="Calibri" panose="020F0502020204030204" pitchFamily="34" charset="0"/>
              </a:rPr>
              <a:t>Use the PPT to introduce other resources / media.</a:t>
            </a:r>
          </a:p>
          <a:p>
            <a:pPr marL="171450" indent="-171450">
              <a:spcAft>
                <a:spcPts val="600"/>
              </a:spcAft>
              <a:buFont typeface="Arial" panose="020B0604020202020204" pitchFamily="34" charset="0"/>
              <a:buChar char="•"/>
            </a:pPr>
            <a:r>
              <a:rPr lang="en-GB" sz="1200" dirty="0">
                <a:latin typeface="Calibri" panose="020F0502020204030204" pitchFamily="34" charset="0"/>
              </a:rPr>
              <a:t>See the resources page for useful PPT websites (</a:t>
            </a:r>
            <a:r>
              <a:rPr lang="en-GB" sz="1200" b="1" dirty="0">
                <a:latin typeface="Calibri" panose="020F0502020204030204" pitchFamily="34" charset="0"/>
              </a:rPr>
              <a:t>Page 28</a:t>
            </a:r>
            <a:r>
              <a:rPr lang="en-GB" sz="1200" dirty="0">
                <a:latin typeface="Calibri" panose="020F0502020204030204" pitchFamily="34" charset="0"/>
              </a:rPr>
              <a:t>).</a:t>
            </a:r>
          </a:p>
          <a:p>
            <a:pPr marL="171450" indent="-171450">
              <a:spcAft>
                <a:spcPts val="600"/>
              </a:spcAft>
              <a:buFont typeface="Arial" panose="020B0604020202020204" pitchFamily="34" charset="0"/>
              <a:buChar char="•"/>
            </a:pPr>
            <a:r>
              <a:rPr lang="en-GB" sz="1200" dirty="0">
                <a:latin typeface="Calibri" panose="020F0502020204030204" pitchFamily="34" charset="0"/>
              </a:rPr>
              <a:t>PPT games and interactive features (timers, spinning wheels, etc.) are available online.</a:t>
            </a:r>
          </a:p>
        </p:txBody>
      </p:sp>
    </p:spTree>
    <p:extLst>
      <p:ext uri="{BB962C8B-B14F-4D97-AF65-F5344CB8AC3E}">
        <p14:creationId xmlns:p14="http://schemas.microsoft.com/office/powerpoint/2010/main" val="26727321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Formatting</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190475"/>
          </a:xfrm>
        </p:spPr>
        <p:txBody>
          <a:bodyPr/>
          <a:lstStyle/>
          <a:p>
            <a:pPr marL="0" indent="0" algn="ctr">
              <a:buNone/>
            </a:pPr>
            <a:r>
              <a:rPr lang="en-US" sz="1600" dirty="0"/>
              <a:t>27</a:t>
            </a:r>
          </a:p>
        </p:txBody>
      </p:sp>
      <p:sp>
        <p:nvSpPr>
          <p:cNvPr id="5" name="TextBox 4">
            <a:extLst>
              <a:ext uri="{FF2B5EF4-FFF2-40B4-BE49-F238E27FC236}">
                <a16:creationId xmlns:a16="http://schemas.microsoft.com/office/drawing/2014/main" id="{18E764D6-4B5B-B0E2-0533-451C6B3C3A9D}"/>
              </a:ext>
            </a:extLst>
          </p:cNvPr>
          <p:cNvSpPr txBox="1"/>
          <p:nvPr/>
        </p:nvSpPr>
        <p:spPr>
          <a:xfrm>
            <a:off x="485775" y="1252864"/>
            <a:ext cx="5886450" cy="338554"/>
          </a:xfrm>
          <a:prstGeom prst="rect">
            <a:avLst/>
          </a:prstGeom>
          <a:noFill/>
        </p:spPr>
        <p:txBody>
          <a:bodyPr wrap="square" rtlCol="0">
            <a:spAutoFit/>
          </a:bodyPr>
          <a:lstStyle/>
          <a:p>
            <a:pPr algn="ctr">
              <a:spcAft>
                <a:spcPts val="600"/>
              </a:spcAft>
            </a:pPr>
            <a:r>
              <a:rPr lang="en-GB" sz="1600" b="1" u="sng" dirty="0">
                <a:latin typeface="Calibri" panose="020F0502020204030204" pitchFamily="34" charset="0"/>
                <a:ea typeface="Arial Unicode MS"/>
                <a:cs typeface="Arial Unicode MS"/>
              </a:rPr>
              <a:t>Formatting Example Explained</a:t>
            </a:r>
            <a:endParaRPr lang="en-GB" sz="1200" dirty="0">
              <a:latin typeface="Calibri" panose="020F0502020204030204" pitchFamily="34" charset="0"/>
            </a:endParaRPr>
          </a:p>
        </p:txBody>
      </p:sp>
      <p:pic>
        <p:nvPicPr>
          <p:cNvPr id="4" name="Picture 3">
            <a:extLst>
              <a:ext uri="{FF2B5EF4-FFF2-40B4-BE49-F238E27FC236}">
                <a16:creationId xmlns:a16="http://schemas.microsoft.com/office/drawing/2014/main" id="{AA86EBBE-A363-A14F-74AE-C5648D25E46B}"/>
              </a:ext>
            </a:extLst>
          </p:cNvPr>
          <p:cNvPicPr>
            <a:picLocks noChangeAspect="1"/>
          </p:cNvPicPr>
          <p:nvPr/>
        </p:nvPicPr>
        <p:blipFill rotWithShape="1">
          <a:blip r:embed="rId2">
            <a:extLst>
              <a:ext uri="{28A0092B-C50C-407E-A947-70E740481C1C}">
                <a14:useLocalDpi xmlns:a14="http://schemas.microsoft.com/office/drawing/2010/main" val="0"/>
              </a:ext>
            </a:extLst>
          </a:blip>
          <a:srcRect t="281" b="281"/>
          <a:stretch/>
        </p:blipFill>
        <p:spPr>
          <a:xfrm>
            <a:off x="485775" y="1660250"/>
            <a:ext cx="3752783" cy="5410390"/>
          </a:xfrm>
          <a:prstGeom prst="rect">
            <a:avLst/>
          </a:prstGeom>
        </p:spPr>
      </p:pic>
      <p:sp>
        <p:nvSpPr>
          <p:cNvPr id="6" name="Rectangle 5">
            <a:extLst>
              <a:ext uri="{FF2B5EF4-FFF2-40B4-BE49-F238E27FC236}">
                <a16:creationId xmlns:a16="http://schemas.microsoft.com/office/drawing/2014/main" id="{D3384A3B-2CEA-A702-80F9-D072A6A1AE29}"/>
              </a:ext>
            </a:extLst>
          </p:cNvPr>
          <p:cNvSpPr/>
          <p:nvPr/>
        </p:nvSpPr>
        <p:spPr>
          <a:xfrm>
            <a:off x="4484571" y="4586849"/>
            <a:ext cx="1887654" cy="665511"/>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This light green background color photocopies as white.</a:t>
            </a:r>
          </a:p>
        </p:txBody>
      </p:sp>
      <p:cxnSp>
        <p:nvCxnSpPr>
          <p:cNvPr id="7" name="Straight Arrow Connector 6">
            <a:extLst>
              <a:ext uri="{FF2B5EF4-FFF2-40B4-BE49-F238E27FC236}">
                <a16:creationId xmlns:a16="http://schemas.microsoft.com/office/drawing/2014/main" id="{CFE5BE6D-44C3-3F85-F90D-343CE95D41A0}"/>
              </a:ext>
            </a:extLst>
          </p:cNvPr>
          <p:cNvCxnSpPr>
            <a:cxnSpLocks/>
            <a:stCxn id="6" idx="1"/>
          </p:cNvCxnSpPr>
          <p:nvPr/>
        </p:nvCxnSpPr>
        <p:spPr>
          <a:xfrm flipH="1" flipV="1">
            <a:off x="3429000" y="4507003"/>
            <a:ext cx="1055571" cy="412602"/>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0" name="Rectangle 9">
            <a:extLst>
              <a:ext uri="{FF2B5EF4-FFF2-40B4-BE49-F238E27FC236}">
                <a16:creationId xmlns:a16="http://schemas.microsoft.com/office/drawing/2014/main" id="{56E45596-C92D-CC08-F9F4-97CB893CCCD3}"/>
              </a:ext>
            </a:extLst>
          </p:cNvPr>
          <p:cNvSpPr/>
          <p:nvPr/>
        </p:nvSpPr>
        <p:spPr>
          <a:xfrm>
            <a:off x="4484571" y="1677141"/>
            <a:ext cx="1887654" cy="1033397"/>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Direction boxes always have the same formatting, are simple to understand, and keywords are bolded.</a:t>
            </a:r>
          </a:p>
        </p:txBody>
      </p:sp>
      <p:cxnSp>
        <p:nvCxnSpPr>
          <p:cNvPr id="11" name="Straight Arrow Connector 10">
            <a:extLst>
              <a:ext uri="{FF2B5EF4-FFF2-40B4-BE49-F238E27FC236}">
                <a16:creationId xmlns:a16="http://schemas.microsoft.com/office/drawing/2014/main" id="{6BF054F5-3767-1A99-4E2E-06C592DF8822}"/>
              </a:ext>
            </a:extLst>
          </p:cNvPr>
          <p:cNvCxnSpPr>
            <a:cxnSpLocks/>
            <a:stCxn id="10" idx="1"/>
          </p:cNvCxnSpPr>
          <p:nvPr/>
        </p:nvCxnSpPr>
        <p:spPr>
          <a:xfrm flipH="1">
            <a:off x="3959189" y="2193840"/>
            <a:ext cx="525382" cy="415601"/>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4" name="Rectangle 13">
            <a:extLst>
              <a:ext uri="{FF2B5EF4-FFF2-40B4-BE49-F238E27FC236}">
                <a16:creationId xmlns:a16="http://schemas.microsoft.com/office/drawing/2014/main" id="{255F03D0-6062-2B23-6E2A-9B67114DF3F2}"/>
              </a:ext>
            </a:extLst>
          </p:cNvPr>
          <p:cNvSpPr/>
          <p:nvPr/>
        </p:nvSpPr>
        <p:spPr>
          <a:xfrm>
            <a:off x="4484571" y="2892300"/>
            <a:ext cx="1887654" cy="665512"/>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Ample space is provided for students to write their answers.</a:t>
            </a:r>
          </a:p>
        </p:txBody>
      </p:sp>
      <p:cxnSp>
        <p:nvCxnSpPr>
          <p:cNvPr id="15" name="Straight Arrow Connector 14">
            <a:extLst>
              <a:ext uri="{FF2B5EF4-FFF2-40B4-BE49-F238E27FC236}">
                <a16:creationId xmlns:a16="http://schemas.microsoft.com/office/drawing/2014/main" id="{F09D7B74-F7DF-EC09-CE8B-3898F2F2730E}"/>
              </a:ext>
            </a:extLst>
          </p:cNvPr>
          <p:cNvCxnSpPr>
            <a:cxnSpLocks/>
            <a:stCxn id="14" idx="1"/>
          </p:cNvCxnSpPr>
          <p:nvPr/>
        </p:nvCxnSpPr>
        <p:spPr>
          <a:xfrm flipH="1" flipV="1">
            <a:off x="2793304" y="2942197"/>
            <a:ext cx="1691267" cy="282859"/>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0" name="Rectangle 19">
            <a:extLst>
              <a:ext uri="{FF2B5EF4-FFF2-40B4-BE49-F238E27FC236}">
                <a16:creationId xmlns:a16="http://schemas.microsoft.com/office/drawing/2014/main" id="{8F537C0E-9637-5476-77F6-6B095F9C1ABF}"/>
              </a:ext>
            </a:extLst>
          </p:cNvPr>
          <p:cNvSpPr/>
          <p:nvPr/>
        </p:nvSpPr>
        <p:spPr>
          <a:xfrm>
            <a:off x="4484571" y="3739574"/>
            <a:ext cx="1887654" cy="665512"/>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Images are used for decoration and follow a consistent design.</a:t>
            </a:r>
          </a:p>
        </p:txBody>
      </p:sp>
      <p:cxnSp>
        <p:nvCxnSpPr>
          <p:cNvPr id="22" name="Straight Arrow Connector 21">
            <a:extLst>
              <a:ext uri="{FF2B5EF4-FFF2-40B4-BE49-F238E27FC236}">
                <a16:creationId xmlns:a16="http://schemas.microsoft.com/office/drawing/2014/main" id="{69E0BB26-55F6-9092-79CE-EC62DE25BEEF}"/>
              </a:ext>
            </a:extLst>
          </p:cNvPr>
          <p:cNvCxnSpPr>
            <a:cxnSpLocks/>
            <a:stCxn id="20" idx="1"/>
          </p:cNvCxnSpPr>
          <p:nvPr/>
        </p:nvCxnSpPr>
        <p:spPr>
          <a:xfrm flipH="1">
            <a:off x="3959189" y="4072330"/>
            <a:ext cx="525382" cy="203726"/>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8" name="Rectangle 27">
            <a:extLst>
              <a:ext uri="{FF2B5EF4-FFF2-40B4-BE49-F238E27FC236}">
                <a16:creationId xmlns:a16="http://schemas.microsoft.com/office/drawing/2014/main" id="{FAB6CF45-FDC6-09DA-5D5D-0CF5CC42F5A8}"/>
              </a:ext>
            </a:extLst>
          </p:cNvPr>
          <p:cNvSpPr/>
          <p:nvPr/>
        </p:nvSpPr>
        <p:spPr>
          <a:xfrm>
            <a:off x="4484571" y="5434123"/>
            <a:ext cx="1887654" cy="1802363"/>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This section relates to the PPT based activity (slide below). More detailed instructions are provided on the PPT.</a:t>
            </a:r>
            <a:br>
              <a:rPr lang="en-US" sz="1200" b="1" dirty="0">
                <a:solidFill>
                  <a:sysClr val="windowText" lastClr="000000"/>
                </a:solidFill>
              </a:rPr>
            </a:br>
            <a:r>
              <a:rPr lang="en-US" sz="1200" b="1" dirty="0">
                <a:solidFill>
                  <a:sysClr val="windowText" lastClr="000000"/>
                </a:solidFill>
              </a:rPr>
              <a:t>This could also be done as a speaking activity for stronger classes with no writing required.</a:t>
            </a:r>
          </a:p>
        </p:txBody>
      </p:sp>
      <p:pic>
        <p:nvPicPr>
          <p:cNvPr id="29" name="Picture 28">
            <a:extLst>
              <a:ext uri="{FF2B5EF4-FFF2-40B4-BE49-F238E27FC236}">
                <a16:creationId xmlns:a16="http://schemas.microsoft.com/office/drawing/2014/main" id="{C03783A9-273C-B56F-6438-AAB22210408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36108" y="7236486"/>
            <a:ext cx="3452116" cy="1944693"/>
          </a:xfrm>
          <a:prstGeom prst="rect">
            <a:avLst/>
          </a:prstGeom>
          <a:ln w="19050">
            <a:solidFill>
              <a:schemeClr val="tx1"/>
            </a:solidFill>
          </a:ln>
        </p:spPr>
      </p:pic>
      <p:sp>
        <p:nvSpPr>
          <p:cNvPr id="34" name="Arrow: Up-Down 33">
            <a:extLst>
              <a:ext uri="{FF2B5EF4-FFF2-40B4-BE49-F238E27FC236}">
                <a16:creationId xmlns:a16="http://schemas.microsoft.com/office/drawing/2014/main" id="{23CCF053-B10C-FFFC-79A4-CFC402BB9F9B}"/>
              </a:ext>
            </a:extLst>
          </p:cNvPr>
          <p:cNvSpPr/>
          <p:nvPr/>
        </p:nvSpPr>
        <p:spPr>
          <a:xfrm>
            <a:off x="2131853" y="6651312"/>
            <a:ext cx="460626" cy="619194"/>
          </a:xfrm>
          <a:prstGeom prst="upDownArrow">
            <a:avLst>
              <a:gd name="adj1" fmla="val 27548"/>
              <a:gd name="adj2" fmla="val 17123"/>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Arrow Connector 34">
            <a:extLst>
              <a:ext uri="{FF2B5EF4-FFF2-40B4-BE49-F238E27FC236}">
                <a16:creationId xmlns:a16="http://schemas.microsoft.com/office/drawing/2014/main" id="{5D63AE5D-D28B-1EDC-4943-35011C2884BF}"/>
              </a:ext>
            </a:extLst>
          </p:cNvPr>
          <p:cNvCxnSpPr>
            <a:cxnSpLocks/>
          </p:cNvCxnSpPr>
          <p:nvPr/>
        </p:nvCxnSpPr>
        <p:spPr>
          <a:xfrm flipH="1" flipV="1">
            <a:off x="3956785" y="5949863"/>
            <a:ext cx="527786" cy="379672"/>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38" name="Straight Arrow Connector 37">
            <a:extLst>
              <a:ext uri="{FF2B5EF4-FFF2-40B4-BE49-F238E27FC236}">
                <a16:creationId xmlns:a16="http://schemas.microsoft.com/office/drawing/2014/main" id="{DB7944FF-2D7B-AA32-CDE1-2FEBE8CBDE07}"/>
              </a:ext>
            </a:extLst>
          </p:cNvPr>
          <p:cNvCxnSpPr>
            <a:cxnSpLocks/>
            <a:stCxn id="28" idx="1"/>
          </p:cNvCxnSpPr>
          <p:nvPr/>
        </p:nvCxnSpPr>
        <p:spPr>
          <a:xfrm flipH="1">
            <a:off x="3879262" y="6335305"/>
            <a:ext cx="605309" cy="1067027"/>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42" name="Rectangle 41">
            <a:extLst>
              <a:ext uri="{FF2B5EF4-FFF2-40B4-BE49-F238E27FC236}">
                <a16:creationId xmlns:a16="http://schemas.microsoft.com/office/drawing/2014/main" id="{206A6ABA-F6D5-DFEA-9165-27D5DD3200BB}"/>
              </a:ext>
            </a:extLst>
          </p:cNvPr>
          <p:cNvSpPr/>
          <p:nvPr/>
        </p:nvSpPr>
        <p:spPr>
          <a:xfrm>
            <a:off x="4484571" y="7419470"/>
            <a:ext cx="1887654" cy="809389"/>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Examples can be formatted differently (color, font, italicized, bold).</a:t>
            </a:r>
          </a:p>
        </p:txBody>
      </p:sp>
      <p:cxnSp>
        <p:nvCxnSpPr>
          <p:cNvPr id="43" name="Straight Arrow Connector 42">
            <a:extLst>
              <a:ext uri="{FF2B5EF4-FFF2-40B4-BE49-F238E27FC236}">
                <a16:creationId xmlns:a16="http://schemas.microsoft.com/office/drawing/2014/main" id="{A2E543E7-C06A-7BD5-9DB5-BBD72B2BE3B2}"/>
              </a:ext>
            </a:extLst>
          </p:cNvPr>
          <p:cNvCxnSpPr>
            <a:cxnSpLocks/>
            <a:stCxn id="42" idx="1"/>
          </p:cNvCxnSpPr>
          <p:nvPr/>
        </p:nvCxnSpPr>
        <p:spPr>
          <a:xfrm flipH="1">
            <a:off x="2793304" y="7824165"/>
            <a:ext cx="1691267" cy="34035"/>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866396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Resources</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190475"/>
          </a:xfrm>
        </p:spPr>
        <p:txBody>
          <a:bodyPr/>
          <a:lstStyle/>
          <a:p>
            <a:pPr marL="0" indent="0" algn="ctr">
              <a:buNone/>
            </a:pPr>
            <a:r>
              <a:rPr lang="en-US" sz="1600" dirty="0"/>
              <a:t>28</a:t>
            </a:r>
          </a:p>
        </p:txBody>
      </p:sp>
      <p:sp>
        <p:nvSpPr>
          <p:cNvPr id="5" name="TextBox 4">
            <a:extLst>
              <a:ext uri="{FF2B5EF4-FFF2-40B4-BE49-F238E27FC236}">
                <a16:creationId xmlns:a16="http://schemas.microsoft.com/office/drawing/2014/main" id="{18E764D6-4B5B-B0E2-0533-451C6B3C3A9D}"/>
              </a:ext>
            </a:extLst>
          </p:cNvPr>
          <p:cNvSpPr txBox="1"/>
          <p:nvPr/>
        </p:nvSpPr>
        <p:spPr>
          <a:xfrm>
            <a:off x="485775" y="1171662"/>
            <a:ext cx="5886450" cy="8217634"/>
          </a:xfrm>
          <a:prstGeom prst="rect">
            <a:avLst/>
          </a:prstGeom>
          <a:noFill/>
        </p:spPr>
        <p:txBody>
          <a:bodyPr wrap="square" rtlCol="0">
            <a:spAutoFit/>
          </a:bodyPr>
          <a:lstStyle/>
          <a:p>
            <a:pPr algn="ctr">
              <a:spcAft>
                <a:spcPts val="600"/>
              </a:spcAft>
            </a:pPr>
            <a:r>
              <a:rPr lang="en-GB" sz="1600" b="1" u="sng" dirty="0">
                <a:latin typeface="Calibri" panose="020F0502020204030204" pitchFamily="34" charset="0"/>
                <a:ea typeface="Arial Unicode MS"/>
                <a:cs typeface="Arial Unicode MS"/>
              </a:rPr>
              <a:t>Resources</a:t>
            </a:r>
          </a:p>
          <a:p>
            <a:r>
              <a:rPr lang="en-GB" sz="1200" dirty="0">
                <a:effectLst/>
                <a:latin typeface="Calibri" panose="020F0502020204030204" pitchFamily="34" charset="0"/>
                <a:ea typeface="Arial Unicode MS"/>
                <a:cs typeface="Arial Unicode MS"/>
              </a:rPr>
              <a:t>Here are some useful websites for lesson creation. You can also talk to your team to find other useful resources.</a:t>
            </a:r>
          </a:p>
          <a:p>
            <a:pPr algn="ctr"/>
            <a:r>
              <a:rPr lang="en-GB" sz="1200" b="1" dirty="0">
                <a:latin typeface="Calibri" panose="020F0502020204030204" pitchFamily="34" charset="0"/>
                <a:ea typeface="Arial Unicode MS"/>
                <a:cs typeface="Arial Unicode MS"/>
              </a:rPr>
              <a:t>PPTS</a:t>
            </a:r>
          </a:p>
          <a:p>
            <a:pPr algn="ctr">
              <a:spcAft>
                <a:spcPts val="600"/>
              </a:spcAft>
            </a:pPr>
            <a:r>
              <a:rPr lang="en-GB" sz="1200" dirty="0">
                <a:latin typeface="Calibri" panose="020F0502020204030204" pitchFamily="34" charset="0"/>
                <a:ea typeface="Arial Unicode MS"/>
                <a:cs typeface="Arial Unicode MS"/>
                <a:hlinkClick r:id="rId2"/>
              </a:rPr>
              <a:t>https://slidesgo.com/</a:t>
            </a:r>
            <a:endParaRPr lang="en-GB" sz="1200" dirty="0">
              <a:latin typeface="Calibri" panose="020F0502020204030204" pitchFamily="34" charset="0"/>
              <a:ea typeface="Arial Unicode MS"/>
              <a:cs typeface="Arial Unicode MS"/>
            </a:endParaRPr>
          </a:p>
          <a:p>
            <a:pPr algn="ctr">
              <a:spcAft>
                <a:spcPts val="600"/>
              </a:spcAft>
            </a:pPr>
            <a:r>
              <a:rPr lang="en-GB" sz="1200" dirty="0">
                <a:latin typeface="Calibri" panose="020F0502020204030204" pitchFamily="34" charset="0"/>
                <a:ea typeface="Arial Unicode MS"/>
                <a:cs typeface="Arial Unicode MS"/>
                <a:hlinkClick r:id="rId3"/>
              </a:rPr>
              <a:t>https://www.slidescarnival.com/</a:t>
            </a:r>
            <a:endParaRPr lang="en-GB" sz="1200" dirty="0">
              <a:latin typeface="Calibri" panose="020F0502020204030204" pitchFamily="34" charset="0"/>
              <a:ea typeface="Arial Unicode MS"/>
              <a:cs typeface="Arial Unicode MS"/>
            </a:endParaRPr>
          </a:p>
          <a:p>
            <a:pPr algn="ctr">
              <a:spcAft>
                <a:spcPts val="600"/>
              </a:spcAft>
            </a:pPr>
            <a:r>
              <a:rPr lang="en-GB" sz="1200" dirty="0">
                <a:latin typeface="Calibri" panose="020F0502020204030204" pitchFamily="34" charset="0"/>
                <a:ea typeface="Arial Unicode MS"/>
                <a:cs typeface="Arial Unicode MS"/>
                <a:hlinkClick r:id="rId4"/>
              </a:rPr>
              <a:t>https://slidesmania.com/</a:t>
            </a:r>
            <a:endParaRPr lang="en-GB" sz="1200" dirty="0">
              <a:latin typeface="Calibri" panose="020F0502020204030204" pitchFamily="34" charset="0"/>
              <a:ea typeface="Arial Unicode MS"/>
              <a:cs typeface="Arial Unicode MS"/>
            </a:endParaRPr>
          </a:p>
          <a:p>
            <a:pPr algn="ctr"/>
            <a:r>
              <a:rPr lang="en-GB" sz="1200" b="1" dirty="0">
                <a:latin typeface="Calibri" panose="020F0502020204030204" pitchFamily="34" charset="0"/>
                <a:ea typeface="Arial Unicode MS"/>
                <a:cs typeface="Arial Unicode MS"/>
              </a:rPr>
              <a:t>Images &amp; Icons </a:t>
            </a:r>
          </a:p>
          <a:p>
            <a:pPr algn="ctr">
              <a:spcAft>
                <a:spcPts val="600"/>
              </a:spcAft>
            </a:pPr>
            <a:r>
              <a:rPr lang="en-GB" sz="1200" dirty="0">
                <a:effectLst/>
                <a:latin typeface="Calibri" panose="020F0502020204030204" pitchFamily="34" charset="0"/>
                <a:ea typeface="Arial Unicode MS"/>
                <a:cs typeface="Arial Unicode MS"/>
                <a:hlinkClick r:id="rId5"/>
              </a:rPr>
              <a:t>https://www.flaticon.com/</a:t>
            </a:r>
            <a:endParaRPr lang="en-GB" sz="1200" dirty="0">
              <a:effectLst/>
              <a:latin typeface="Calibri" panose="020F0502020204030204" pitchFamily="34" charset="0"/>
              <a:ea typeface="Arial Unicode MS"/>
              <a:cs typeface="Arial Unicode MS"/>
            </a:endParaRPr>
          </a:p>
          <a:p>
            <a:pPr algn="ctr">
              <a:spcAft>
                <a:spcPts val="600"/>
              </a:spcAft>
            </a:pPr>
            <a:r>
              <a:rPr lang="en-GB" sz="1200" dirty="0">
                <a:effectLst/>
                <a:latin typeface="Calibri" panose="020F0502020204030204" pitchFamily="34" charset="0"/>
                <a:ea typeface="Arial Unicode MS"/>
                <a:cs typeface="Arial Unicode MS"/>
                <a:hlinkClick r:id="rId6"/>
              </a:rPr>
              <a:t>https://www.freepik.com/</a:t>
            </a:r>
            <a:endParaRPr lang="en-GB" sz="1200" dirty="0">
              <a:effectLst/>
              <a:latin typeface="Calibri" panose="020F0502020204030204" pitchFamily="34" charset="0"/>
              <a:ea typeface="Arial Unicode MS"/>
              <a:cs typeface="Arial Unicode MS"/>
            </a:endParaRPr>
          </a:p>
          <a:p>
            <a:pPr algn="ctr">
              <a:spcAft>
                <a:spcPts val="600"/>
              </a:spcAft>
            </a:pPr>
            <a:r>
              <a:rPr lang="en-GB" sz="1200" dirty="0">
                <a:latin typeface="Calibri" panose="020F0502020204030204" pitchFamily="34" charset="0"/>
                <a:ea typeface="Arial Unicode MS"/>
                <a:cs typeface="Arial Unicode MS"/>
                <a:hlinkClick r:id="rId7"/>
              </a:rPr>
              <a:t>https://storyset.com/</a:t>
            </a:r>
            <a:endParaRPr lang="en-GB" sz="1200" dirty="0">
              <a:latin typeface="Calibri" panose="020F0502020204030204" pitchFamily="34" charset="0"/>
              <a:ea typeface="Arial Unicode MS"/>
              <a:cs typeface="Arial Unicode MS"/>
            </a:endParaRPr>
          </a:p>
          <a:p>
            <a:pPr algn="ctr"/>
            <a:r>
              <a:rPr lang="en-GB" sz="1200" b="1" dirty="0">
                <a:latin typeface="Calibri" panose="020F0502020204030204" pitchFamily="34" charset="0"/>
                <a:ea typeface="Arial Unicode MS"/>
                <a:cs typeface="Arial Unicode MS"/>
              </a:rPr>
              <a:t>Other</a:t>
            </a:r>
          </a:p>
          <a:p>
            <a:pPr algn="ctr">
              <a:spcAft>
                <a:spcPts val="600"/>
              </a:spcAft>
            </a:pPr>
            <a:r>
              <a:rPr lang="en-GB" sz="1200" dirty="0">
                <a:latin typeface="Calibri" panose="020F0502020204030204" pitchFamily="34" charset="0"/>
                <a:ea typeface="Arial Unicode MS"/>
                <a:cs typeface="Arial Unicode MS"/>
                <a:hlinkClick r:id="rId8"/>
              </a:rPr>
              <a:t>https://games4esl.com/powerpointgames/</a:t>
            </a:r>
            <a:r>
              <a:rPr lang="en-GB" sz="1200" dirty="0">
                <a:latin typeface="Calibri" panose="020F0502020204030204" pitchFamily="34" charset="0"/>
                <a:ea typeface="Arial Unicode MS"/>
                <a:cs typeface="Arial Unicode MS"/>
              </a:rPr>
              <a:t> ( PPT games)</a:t>
            </a:r>
          </a:p>
          <a:p>
            <a:pPr algn="ctr">
              <a:spcAft>
                <a:spcPts val="600"/>
              </a:spcAft>
            </a:pPr>
            <a:r>
              <a:rPr lang="en-GB" sz="1200" dirty="0">
                <a:latin typeface="Calibri" panose="020F0502020204030204" pitchFamily="34" charset="0"/>
                <a:ea typeface="Arial Unicode MS"/>
                <a:cs typeface="Arial Unicode MS"/>
                <a:hlinkClick r:id="rId9"/>
              </a:rPr>
              <a:t>https://learnenglish.britishcouncil.org/grammar</a:t>
            </a:r>
            <a:r>
              <a:rPr lang="en-GB" sz="1200" dirty="0">
                <a:latin typeface="Calibri" panose="020F0502020204030204" pitchFamily="34" charset="0"/>
                <a:ea typeface="Arial Unicode MS"/>
                <a:cs typeface="Arial Unicode MS"/>
              </a:rPr>
              <a:t> (Grammar)</a:t>
            </a:r>
          </a:p>
          <a:p>
            <a:pPr algn="ctr">
              <a:spcAft>
                <a:spcPts val="600"/>
              </a:spcAft>
            </a:pPr>
            <a:r>
              <a:rPr lang="en-GB" sz="1200" dirty="0">
                <a:latin typeface="Calibri" panose="020F0502020204030204" pitchFamily="34" charset="0"/>
                <a:ea typeface="Arial Unicode MS"/>
                <a:cs typeface="Arial Unicode MS"/>
                <a:hlinkClick r:id="rId10"/>
              </a:rPr>
              <a:t>https://eslgrammar.org/</a:t>
            </a:r>
            <a:r>
              <a:rPr lang="en-GB" sz="1200" dirty="0">
                <a:latin typeface="Calibri" panose="020F0502020204030204" pitchFamily="34" charset="0"/>
                <a:ea typeface="Arial Unicode MS"/>
                <a:cs typeface="Arial Unicode MS"/>
              </a:rPr>
              <a:t> (Grammar)</a:t>
            </a:r>
          </a:p>
          <a:p>
            <a:pPr algn="ctr">
              <a:spcAft>
                <a:spcPts val="600"/>
              </a:spcAft>
            </a:pPr>
            <a:r>
              <a:rPr lang="en-GB" sz="1200" dirty="0">
                <a:latin typeface="Calibri" panose="020F0502020204030204" pitchFamily="34" charset="0"/>
                <a:ea typeface="Arial Unicode MS"/>
                <a:cs typeface="Arial Unicode MS"/>
                <a:hlinkClick r:id="rId11"/>
              </a:rPr>
              <a:t>https://www.teacherspayteachers.com/</a:t>
            </a:r>
            <a:r>
              <a:rPr lang="en-GB" sz="1200" dirty="0">
                <a:latin typeface="Calibri" panose="020F0502020204030204" pitchFamily="34" charset="0"/>
                <a:ea typeface="Arial Unicode MS"/>
                <a:cs typeface="Arial Unicode MS"/>
              </a:rPr>
              <a:t> (Lesson inspiration)</a:t>
            </a:r>
          </a:p>
          <a:p>
            <a:pPr algn="ctr">
              <a:spcAft>
                <a:spcPts val="600"/>
              </a:spcAft>
            </a:pPr>
            <a:r>
              <a:rPr lang="en-GB" sz="1200" dirty="0">
                <a:latin typeface="Calibri" panose="020F0502020204030204" pitchFamily="34" charset="0"/>
                <a:ea typeface="Arial Unicode MS"/>
                <a:cs typeface="Arial Unicode MS"/>
                <a:hlinkClick r:id="rId12"/>
              </a:rPr>
              <a:t>https://www.tes.com/teaching-resources</a:t>
            </a:r>
            <a:r>
              <a:rPr lang="en-GB" sz="1200" dirty="0">
                <a:latin typeface="Calibri" panose="020F0502020204030204" pitchFamily="34" charset="0"/>
                <a:ea typeface="Arial Unicode MS"/>
                <a:cs typeface="Arial Unicode MS"/>
              </a:rPr>
              <a:t> (Lesson inspiration)</a:t>
            </a:r>
          </a:p>
          <a:p>
            <a:pPr algn="ctr">
              <a:spcAft>
                <a:spcPts val="600"/>
              </a:spcAft>
            </a:pPr>
            <a:r>
              <a:rPr lang="en-GB" sz="1600" b="1" u="sng" dirty="0">
                <a:latin typeface="Calibri" panose="020F0502020204030204" pitchFamily="34" charset="0"/>
              </a:rPr>
              <a:t>Activity Database</a:t>
            </a:r>
          </a:p>
          <a:p>
            <a:pPr>
              <a:spcAft>
                <a:spcPts val="600"/>
              </a:spcAft>
            </a:pPr>
            <a:r>
              <a:rPr lang="en-GB" sz="1200" dirty="0">
                <a:latin typeface="Calibri" panose="020F0502020204030204" pitchFamily="34" charset="0"/>
              </a:rPr>
              <a:t>On Dropbox, you can find example activities and lists of grammar structures for lessons. These can be helpful if you need a source of inspiration. </a:t>
            </a:r>
          </a:p>
          <a:p>
            <a:pPr algn="ctr">
              <a:spcAft>
                <a:spcPts val="600"/>
              </a:spcAft>
            </a:pPr>
            <a:r>
              <a:rPr lang="en-GB" sz="1600" b="1" u="sng" dirty="0">
                <a:latin typeface="Calibri" panose="020F0502020204030204" pitchFamily="34" charset="0"/>
              </a:rPr>
              <a:t>Other Lessons</a:t>
            </a:r>
          </a:p>
          <a:p>
            <a:pPr>
              <a:spcAft>
                <a:spcPts val="600"/>
              </a:spcAft>
            </a:pPr>
            <a:r>
              <a:rPr lang="en-GB" sz="1200" dirty="0">
                <a:latin typeface="Calibri" panose="020F0502020204030204" pitchFamily="34" charset="0"/>
              </a:rPr>
              <a:t>We can draw inspiration from other people’s lessons, but we cannot copy lessons. You can use ideas, games, activities, etc. from other lessons, but not the lesson in its entirety, with just a few changes made.</a:t>
            </a:r>
          </a:p>
          <a:p>
            <a:pPr marL="171450" indent="-171450">
              <a:spcAft>
                <a:spcPts val="600"/>
              </a:spcAft>
              <a:buFont typeface="Arial" panose="020B0604020202020204" pitchFamily="34" charset="0"/>
              <a:buChar char="•"/>
            </a:pPr>
            <a:r>
              <a:rPr lang="en-GB" sz="1200" dirty="0">
                <a:latin typeface="Calibri" panose="020F0502020204030204" pitchFamily="34" charset="0"/>
              </a:rPr>
              <a:t>Most games and activities are widely used and can be used freely.</a:t>
            </a:r>
          </a:p>
          <a:p>
            <a:pPr marL="171450" indent="-171450">
              <a:spcAft>
                <a:spcPts val="600"/>
              </a:spcAft>
              <a:buFont typeface="Arial" panose="020B0604020202020204" pitchFamily="34" charset="0"/>
              <a:buChar char="•"/>
            </a:pPr>
            <a:r>
              <a:rPr lang="en-GB" sz="1200" dirty="0">
                <a:latin typeface="Calibri" panose="020F0502020204030204" pitchFamily="34" charset="0"/>
              </a:rPr>
              <a:t>Credit the teacher in the teacher pages if using a unique game or idea.</a:t>
            </a:r>
          </a:p>
          <a:p>
            <a:pPr marL="171450" indent="-171450">
              <a:spcAft>
                <a:spcPts val="600"/>
              </a:spcAft>
              <a:buFont typeface="Arial" panose="020B0604020202020204" pitchFamily="34" charset="0"/>
              <a:buChar char="•"/>
            </a:pPr>
            <a:r>
              <a:rPr lang="en-GB" sz="1200" dirty="0">
                <a:latin typeface="Calibri" panose="020F0502020204030204" pitchFamily="34" charset="0"/>
              </a:rPr>
              <a:t>You can reach out to teachers if you would like permission to reuse their ideas. (Ask your team leader.)</a:t>
            </a:r>
          </a:p>
          <a:p>
            <a:pPr marL="171450" indent="-171450">
              <a:spcAft>
                <a:spcPts val="600"/>
              </a:spcAft>
              <a:buFont typeface="Arial" panose="020B0604020202020204" pitchFamily="34" charset="0"/>
              <a:buChar char="•"/>
            </a:pPr>
            <a:r>
              <a:rPr lang="en-GB" sz="1200" dirty="0">
                <a:latin typeface="Calibri" panose="020F0502020204030204" pitchFamily="34" charset="0"/>
              </a:rPr>
              <a:t>Try to be transformative in your usage of other’s ideas. Adapt the idea to better suit the students’ level and the reading book topic.</a:t>
            </a:r>
          </a:p>
          <a:p>
            <a:pPr marL="171450" indent="-171450">
              <a:spcAft>
                <a:spcPts val="600"/>
              </a:spcAft>
              <a:buFont typeface="Arial" panose="020B0604020202020204" pitchFamily="34" charset="0"/>
              <a:buChar char="•"/>
            </a:pPr>
            <a:r>
              <a:rPr lang="en-GB" sz="1200" dirty="0">
                <a:latin typeface="Calibri" panose="020F0502020204030204" pitchFamily="34" charset="0"/>
              </a:rPr>
              <a:t>Be careful of when the lesson will be taught and to which levels – We should avoid students seeing the same content twice.</a:t>
            </a:r>
          </a:p>
          <a:p>
            <a:pPr marL="171450" indent="-171450">
              <a:spcAft>
                <a:spcPts val="600"/>
              </a:spcAft>
              <a:buFont typeface="Arial" panose="020B0604020202020204" pitchFamily="34" charset="0"/>
              <a:buChar char="•"/>
            </a:pPr>
            <a:r>
              <a:rPr lang="en-GB" sz="1200" b="1" dirty="0">
                <a:latin typeface="Calibri" panose="020F0502020204030204" pitchFamily="34" charset="0"/>
              </a:rPr>
              <a:t>If you are unsure about anything, please check with your team leader.</a:t>
            </a:r>
          </a:p>
        </p:txBody>
      </p:sp>
    </p:spTree>
    <p:extLst>
      <p:ext uri="{BB962C8B-B14F-4D97-AF65-F5344CB8AC3E}">
        <p14:creationId xmlns:p14="http://schemas.microsoft.com/office/powerpoint/2010/main" val="20562434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Teaching Differences</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190475"/>
          </a:xfrm>
        </p:spPr>
        <p:txBody>
          <a:bodyPr/>
          <a:lstStyle/>
          <a:p>
            <a:pPr marL="0" indent="0" algn="ctr">
              <a:buNone/>
            </a:pPr>
            <a:r>
              <a:rPr lang="en-US" sz="1600" dirty="0"/>
              <a:t>29</a:t>
            </a:r>
          </a:p>
        </p:txBody>
      </p:sp>
      <p:sp>
        <p:nvSpPr>
          <p:cNvPr id="5" name="TextBox 4">
            <a:extLst>
              <a:ext uri="{FF2B5EF4-FFF2-40B4-BE49-F238E27FC236}">
                <a16:creationId xmlns:a16="http://schemas.microsoft.com/office/drawing/2014/main" id="{18E764D6-4B5B-B0E2-0533-451C6B3C3A9D}"/>
              </a:ext>
            </a:extLst>
          </p:cNvPr>
          <p:cNvSpPr txBox="1"/>
          <p:nvPr/>
        </p:nvSpPr>
        <p:spPr>
          <a:xfrm>
            <a:off x="485775" y="1252864"/>
            <a:ext cx="5886450" cy="7648248"/>
          </a:xfrm>
          <a:prstGeom prst="rect">
            <a:avLst/>
          </a:prstGeom>
          <a:noFill/>
        </p:spPr>
        <p:txBody>
          <a:bodyPr wrap="square" rtlCol="0">
            <a:spAutoFit/>
          </a:bodyPr>
          <a:lstStyle/>
          <a:p>
            <a:pPr algn="ctr">
              <a:spcAft>
                <a:spcPts val="600"/>
              </a:spcAft>
            </a:pPr>
            <a:r>
              <a:rPr lang="en-GB" sz="1600" b="1" u="sng" dirty="0">
                <a:latin typeface="Calibri" panose="020F0502020204030204" pitchFamily="34" charset="0"/>
                <a:ea typeface="Arial Unicode MS"/>
                <a:cs typeface="Arial Unicode MS"/>
              </a:rPr>
              <a:t>Teaching Styles</a:t>
            </a:r>
          </a:p>
          <a:p>
            <a:pPr>
              <a:spcAft>
                <a:spcPts val="600"/>
              </a:spcAft>
            </a:pPr>
            <a:r>
              <a:rPr lang="en-GB" sz="1200" dirty="0">
                <a:latin typeface="Calibri" panose="020F0502020204030204" pitchFamily="34" charset="0"/>
                <a:ea typeface="Arial Unicode MS"/>
                <a:cs typeface="Arial Unicode MS"/>
              </a:rPr>
              <a:t>During your initial training period and your ongoing training at your campus, you will have observed many teachers. In doing so, you will have seen many teaching styles and hopefully recognized ones that work best for you. Please keep this in mind when making your own lessons. They will reflect you and your approach teaching, but they also need to be </a:t>
            </a:r>
            <a:r>
              <a:rPr lang="en-GB" sz="1200" b="1" dirty="0">
                <a:latin typeface="Calibri" panose="020F0502020204030204" pitchFamily="34" charset="0"/>
                <a:ea typeface="Arial Unicode MS"/>
                <a:cs typeface="Arial Unicode MS"/>
              </a:rPr>
              <a:t>suitable for other teachers and classes.</a:t>
            </a:r>
            <a:endParaRPr lang="en-GB" sz="1200" dirty="0">
              <a:latin typeface="Calibri" panose="020F0502020204030204" pitchFamily="34" charset="0"/>
              <a:ea typeface="Arial Unicode MS"/>
              <a:cs typeface="Arial Unicode MS"/>
            </a:endParaRPr>
          </a:p>
          <a:p>
            <a:pPr>
              <a:spcAft>
                <a:spcPts val="600"/>
              </a:spcAft>
            </a:pPr>
            <a:r>
              <a:rPr lang="en-GB" sz="1200" dirty="0">
                <a:effectLst/>
                <a:latin typeface="Calibri" panose="020F0502020204030204" pitchFamily="34" charset="0"/>
                <a:ea typeface="Arial Unicode MS"/>
                <a:cs typeface="Arial Unicode MS"/>
              </a:rPr>
              <a:t>Consider your teaching style while making a lesson and also how others will use the same content. This might mean adapting your own lesson when you teach it to better suit your teaching style, but ensuring the file uploaded to Dropbox is appropriate for others.</a:t>
            </a:r>
          </a:p>
          <a:p>
            <a:pPr>
              <a:spcAft>
                <a:spcPts val="600"/>
              </a:spcAft>
            </a:pPr>
            <a:endParaRPr lang="en-GB" sz="1200" dirty="0">
              <a:effectLst/>
              <a:latin typeface="Calibri" panose="020F0502020204030204" pitchFamily="34" charset="0"/>
              <a:ea typeface="Arial Unicode MS"/>
              <a:cs typeface="Arial Unicode MS"/>
            </a:endParaRPr>
          </a:p>
          <a:p>
            <a:pPr algn="ctr">
              <a:spcAft>
                <a:spcPts val="600"/>
              </a:spcAft>
            </a:pPr>
            <a:r>
              <a:rPr lang="en-GB" sz="1600" b="1" u="sng" dirty="0">
                <a:latin typeface="Calibri" panose="020F0502020204030204" pitchFamily="34" charset="0"/>
              </a:rPr>
              <a:t>Level Differences</a:t>
            </a:r>
          </a:p>
          <a:p>
            <a:pPr>
              <a:spcAft>
                <a:spcPts val="600"/>
              </a:spcAft>
            </a:pPr>
            <a:r>
              <a:rPr lang="en-GB" sz="1200" dirty="0">
                <a:effectLst/>
                <a:latin typeface="Calibri" panose="020F0502020204030204" pitchFamily="34" charset="0"/>
                <a:ea typeface="Arial Unicode MS"/>
                <a:cs typeface="Arial Unicode MS"/>
              </a:rPr>
              <a:t>It is </a:t>
            </a:r>
            <a:r>
              <a:rPr lang="en-GB" sz="1200" dirty="0">
                <a:latin typeface="Calibri" panose="020F0502020204030204" pitchFamily="34" charset="0"/>
                <a:ea typeface="Arial Unicode MS"/>
                <a:cs typeface="Arial Unicode MS"/>
              </a:rPr>
              <a:t>important to understand the differences between levels and also variations within the same level. </a:t>
            </a:r>
            <a:r>
              <a:rPr lang="en-GB" sz="1200" b="1" dirty="0">
                <a:latin typeface="Calibri" panose="020F0502020204030204" pitchFamily="34" charset="0"/>
                <a:ea typeface="Arial Unicode MS"/>
                <a:cs typeface="Arial Unicode MS"/>
              </a:rPr>
              <a:t>Each semester, students complete a level test, which decides if they level up or remain at the same level</a:t>
            </a:r>
            <a:r>
              <a:rPr lang="en-GB" sz="1200" dirty="0">
                <a:latin typeface="Calibri" panose="020F0502020204030204" pitchFamily="34" charset="0"/>
                <a:ea typeface="Arial Unicode MS"/>
                <a:cs typeface="Arial Unicode MS"/>
              </a:rPr>
              <a:t>. </a:t>
            </a:r>
          </a:p>
          <a:p>
            <a:pPr>
              <a:spcAft>
                <a:spcPts val="600"/>
              </a:spcAft>
            </a:pPr>
            <a:r>
              <a:rPr lang="en-GB" sz="1200" dirty="0">
                <a:latin typeface="Calibri" panose="020F0502020204030204" pitchFamily="34" charset="0"/>
                <a:ea typeface="Arial Unicode MS"/>
                <a:cs typeface="Arial Unicode MS"/>
              </a:rPr>
              <a:t>This test is used across DYB to try to ensure students in the same level are around the same English ability. However, please keep the following in mind.</a:t>
            </a:r>
          </a:p>
          <a:p>
            <a:pPr marL="228600" indent="-228600">
              <a:spcAft>
                <a:spcPts val="600"/>
              </a:spcAft>
              <a:buFont typeface="+mj-lt"/>
              <a:buAutoNum type="arabicPeriod"/>
            </a:pPr>
            <a:r>
              <a:rPr lang="en-GB" sz="1200" dirty="0">
                <a:latin typeface="Calibri" panose="020F0502020204030204" pitchFamily="34" charset="0"/>
                <a:ea typeface="Arial Unicode MS"/>
                <a:cs typeface="Arial Unicode MS"/>
              </a:rPr>
              <a:t>Some students are new at DYB and may be weaker than their classmates.</a:t>
            </a:r>
          </a:p>
          <a:p>
            <a:pPr marL="228600" indent="-228600">
              <a:spcAft>
                <a:spcPts val="600"/>
              </a:spcAft>
              <a:buFont typeface="+mj-lt"/>
              <a:buAutoNum type="arabicPeriod"/>
            </a:pPr>
            <a:r>
              <a:rPr lang="en-GB" sz="1200" dirty="0">
                <a:effectLst/>
                <a:latin typeface="Calibri" panose="020F0502020204030204" pitchFamily="34" charset="0"/>
                <a:ea typeface="Arial Unicode MS"/>
                <a:cs typeface="Arial Unicode MS"/>
              </a:rPr>
              <a:t>At the start of a new semester, new classes of entirely new students may be formed. Overall, their general ability might not be the same as an existing class of students of the same level.</a:t>
            </a:r>
          </a:p>
          <a:p>
            <a:pPr marL="228600" indent="-228600">
              <a:spcAft>
                <a:spcPts val="600"/>
              </a:spcAft>
              <a:buFont typeface="+mj-lt"/>
              <a:buAutoNum type="arabicPeriod"/>
            </a:pPr>
            <a:r>
              <a:rPr lang="en-GB" sz="1200" b="1" dirty="0">
                <a:effectLst/>
                <a:latin typeface="Calibri" panose="020F0502020204030204" pitchFamily="34" charset="0"/>
                <a:ea typeface="Arial Unicode MS"/>
                <a:cs typeface="Arial Unicode MS"/>
              </a:rPr>
              <a:t>The level test does not include productive skills and instead focuses on listening, reading, and grammar</a:t>
            </a:r>
            <a:r>
              <a:rPr lang="en-GB" sz="1200" dirty="0">
                <a:effectLst/>
                <a:latin typeface="Calibri" panose="020F0502020204030204" pitchFamily="34" charset="0"/>
                <a:ea typeface="Arial Unicode MS"/>
                <a:cs typeface="Arial Unicode MS"/>
              </a:rPr>
              <a:t>. As such, students may score high on the receptive skills but be weak in the productive skills we focus on in our lessons.</a:t>
            </a:r>
          </a:p>
          <a:p>
            <a:pPr marL="228600" indent="-228600">
              <a:spcAft>
                <a:spcPts val="600"/>
              </a:spcAft>
              <a:buFont typeface="+mj-lt"/>
              <a:buAutoNum type="arabicPeriod"/>
            </a:pPr>
            <a:r>
              <a:rPr lang="en-GB" sz="1200" dirty="0">
                <a:effectLst/>
                <a:latin typeface="Calibri" panose="020F0502020204030204" pitchFamily="34" charset="0"/>
                <a:ea typeface="Arial Unicode MS"/>
                <a:cs typeface="Arial Unicode MS"/>
              </a:rPr>
              <a:t>Each campus has slightly different ranges in levels, so students’ ability may vary by campus. Depending on the location and size of the campus, students might have higher ability levels compared to DYB as a whole. </a:t>
            </a:r>
          </a:p>
          <a:p>
            <a:pPr>
              <a:spcAft>
                <a:spcPts val="600"/>
              </a:spcAft>
            </a:pPr>
            <a:endParaRPr lang="en-GB" sz="1200" dirty="0">
              <a:effectLst/>
              <a:latin typeface="Calibri" panose="020F0502020204030204" pitchFamily="34" charset="0"/>
              <a:ea typeface="Arial Unicode MS"/>
              <a:cs typeface="Arial Unicode MS"/>
            </a:endParaRPr>
          </a:p>
          <a:p>
            <a:pPr>
              <a:spcAft>
                <a:spcPts val="600"/>
              </a:spcAft>
            </a:pPr>
            <a:r>
              <a:rPr lang="en-GB" sz="1200" dirty="0">
                <a:latin typeface="Calibri" panose="020F0502020204030204" pitchFamily="34" charset="0"/>
                <a:ea typeface="Arial Unicode MS"/>
                <a:cs typeface="Arial Unicode MS"/>
              </a:rPr>
              <a:t>Please keep this in mind both when creating lessons and adapting lessons. </a:t>
            </a:r>
          </a:p>
          <a:p>
            <a:pPr marL="171450" indent="-171450">
              <a:spcAft>
                <a:spcPts val="600"/>
              </a:spcAft>
              <a:buFont typeface="Arial" panose="020B0604020202020204" pitchFamily="34" charset="0"/>
              <a:buChar char="•"/>
            </a:pPr>
            <a:r>
              <a:rPr lang="en-GB" sz="1200" b="1" dirty="0">
                <a:effectLst/>
                <a:latin typeface="Calibri" panose="020F0502020204030204" pitchFamily="34" charset="0"/>
                <a:ea typeface="Arial Unicode MS"/>
                <a:cs typeface="Arial Unicode MS"/>
              </a:rPr>
              <a:t>We share lessons across DYB, so try to make your lessons appropriate for as many people as possible. </a:t>
            </a:r>
          </a:p>
          <a:p>
            <a:pPr marL="171450" indent="-171450">
              <a:spcAft>
                <a:spcPts val="600"/>
              </a:spcAft>
              <a:buFont typeface="Arial" panose="020B0604020202020204" pitchFamily="34" charset="0"/>
              <a:buChar char="•"/>
            </a:pPr>
            <a:r>
              <a:rPr lang="en-GB" sz="1200" dirty="0">
                <a:latin typeface="Calibri" panose="020F0502020204030204" pitchFamily="34" charset="0"/>
                <a:ea typeface="Arial Unicode MS"/>
                <a:cs typeface="Arial Unicode MS"/>
              </a:rPr>
              <a:t>When choosing lessons, understand that someone else’s experience with a certain level may be very different from your own.</a:t>
            </a:r>
          </a:p>
          <a:p>
            <a:pPr marL="628650" lvl="1" indent="-171450">
              <a:spcAft>
                <a:spcPts val="600"/>
              </a:spcAft>
              <a:buFont typeface="Arial" panose="020B0604020202020204" pitchFamily="34" charset="0"/>
              <a:buChar char="•"/>
            </a:pPr>
            <a:r>
              <a:rPr lang="en-GB" sz="1200" b="1" dirty="0">
                <a:effectLst/>
                <a:latin typeface="Calibri" panose="020F0502020204030204" pitchFamily="34" charset="0"/>
                <a:ea typeface="Arial Unicode MS"/>
                <a:cs typeface="Arial Unicode MS"/>
              </a:rPr>
              <a:t>This is why adapting lessons to best suit your teaching style and the ability level of your students is so important.</a:t>
            </a:r>
          </a:p>
        </p:txBody>
      </p:sp>
    </p:spTree>
    <p:extLst>
      <p:ext uri="{BB962C8B-B14F-4D97-AF65-F5344CB8AC3E}">
        <p14:creationId xmlns:p14="http://schemas.microsoft.com/office/powerpoint/2010/main" val="14097905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8E764D6-4B5B-B0E2-0533-451C6B3C3A9D}"/>
              </a:ext>
            </a:extLst>
          </p:cNvPr>
          <p:cNvSpPr txBox="1"/>
          <p:nvPr/>
        </p:nvSpPr>
        <p:spPr>
          <a:xfrm>
            <a:off x="485775" y="1252864"/>
            <a:ext cx="5886450" cy="8156079"/>
          </a:xfrm>
          <a:prstGeom prst="rect">
            <a:avLst/>
          </a:prstGeom>
          <a:noFill/>
        </p:spPr>
        <p:txBody>
          <a:bodyPr wrap="square" rtlCol="0">
            <a:spAutoFit/>
          </a:bodyPr>
          <a:lstStyle/>
          <a:p>
            <a:pPr algn="ctr">
              <a:spcAft>
                <a:spcPts val="1200"/>
              </a:spcAft>
            </a:pPr>
            <a:r>
              <a:rPr lang="en-GB" sz="1600" b="1" u="sng" dirty="0">
                <a:latin typeface="Calibri" panose="020F0502020204030204" pitchFamily="34" charset="0"/>
                <a:ea typeface="Arial Unicode MS"/>
                <a:cs typeface="Arial Unicode MS"/>
              </a:rPr>
              <a:t>Teacher Pages</a:t>
            </a:r>
            <a:endParaRPr lang="en-GB" sz="1200" b="1" u="sng" dirty="0">
              <a:latin typeface="Calibri" panose="020F0502020204030204" pitchFamily="34" charset="0"/>
              <a:ea typeface="Arial Unicode MS"/>
              <a:cs typeface="Arial Unicode MS"/>
            </a:endParaRPr>
          </a:p>
          <a:p>
            <a:pPr>
              <a:spcAft>
                <a:spcPts val="600"/>
              </a:spcAft>
            </a:pPr>
            <a:r>
              <a:rPr lang="en-GB" sz="1200" dirty="0">
                <a:effectLst/>
                <a:latin typeface="Calibri" panose="020F0502020204030204" pitchFamily="34" charset="0"/>
                <a:ea typeface="Arial Unicode MS"/>
                <a:cs typeface="Arial Unicode MS"/>
              </a:rPr>
              <a:t>Teacher</a:t>
            </a:r>
            <a:r>
              <a:rPr lang="en-GB" sz="1200" dirty="0">
                <a:latin typeface="Calibri" panose="020F0502020204030204" pitchFamily="34" charset="0"/>
                <a:ea typeface="Arial Unicode MS"/>
                <a:cs typeface="Arial Unicode MS"/>
              </a:rPr>
              <a:t> pages are an important part of a lesson plan. They explain the purpose of each activity, give detailed instructions on how to teach each section, and provide answers for each activity when needed. They can also include alternative instructions for activities, useful examples, or even just helpful teaching tips.</a:t>
            </a:r>
          </a:p>
          <a:p>
            <a:pPr marL="171450" indent="-171450">
              <a:spcAft>
                <a:spcPts val="600"/>
              </a:spcAft>
              <a:buFont typeface="Arial" panose="020B0604020202020204" pitchFamily="34" charset="0"/>
              <a:buChar char="•"/>
            </a:pPr>
            <a:r>
              <a:rPr lang="en-GB" sz="1200" dirty="0">
                <a:latin typeface="Calibri" panose="020F0502020204030204" pitchFamily="34" charset="0"/>
                <a:ea typeface="Arial Unicode MS"/>
                <a:cs typeface="Arial Unicode MS"/>
              </a:rPr>
              <a:t>When filling in your teacher pages, write them as if they are for a brand-new teacher, even if you have previous teaching experience. </a:t>
            </a:r>
          </a:p>
          <a:p>
            <a:pPr marL="171450" indent="-171450">
              <a:spcAft>
                <a:spcPts val="600"/>
              </a:spcAft>
              <a:buFont typeface="Arial" panose="020B0604020202020204" pitchFamily="34" charset="0"/>
              <a:buChar char="•"/>
            </a:pPr>
            <a:r>
              <a:rPr lang="en-GB" sz="1200" dirty="0">
                <a:latin typeface="Calibri" panose="020F0502020204030204" pitchFamily="34" charset="0"/>
                <a:ea typeface="Arial Unicode MS"/>
                <a:cs typeface="Arial Unicode MS"/>
              </a:rPr>
              <a:t>Try to keep instructions concise to ensure that people can read them easily and quickly.</a:t>
            </a:r>
          </a:p>
          <a:p>
            <a:pPr marL="171450" indent="-171450">
              <a:spcAft>
                <a:spcPts val="600"/>
              </a:spcAft>
              <a:buFont typeface="Arial" panose="020B0604020202020204" pitchFamily="34" charset="0"/>
              <a:buChar char="•"/>
            </a:pPr>
            <a:r>
              <a:rPr lang="en-GB" sz="1200" dirty="0">
                <a:latin typeface="Calibri" panose="020F0502020204030204" pitchFamily="34" charset="0"/>
                <a:ea typeface="Arial Unicode MS"/>
                <a:cs typeface="Arial Unicode MS"/>
              </a:rPr>
              <a:t>Highlight important parts.</a:t>
            </a:r>
          </a:p>
          <a:p>
            <a:pPr marL="171450" indent="-171450">
              <a:spcAft>
                <a:spcPts val="600"/>
              </a:spcAft>
              <a:buFont typeface="Arial" panose="020B0604020202020204" pitchFamily="34" charset="0"/>
              <a:buChar char="•"/>
            </a:pPr>
            <a:r>
              <a:rPr lang="en-GB" sz="1200" dirty="0">
                <a:latin typeface="Calibri" panose="020F0502020204030204" pitchFamily="34" charset="0"/>
                <a:ea typeface="Arial Unicode MS"/>
                <a:cs typeface="Arial Unicode MS"/>
              </a:rPr>
              <a:t>Remember to explain all games. Don’t assume everyone will know them.</a:t>
            </a:r>
          </a:p>
          <a:p>
            <a:pPr marL="171450" indent="-171450">
              <a:spcAft>
                <a:spcPts val="600"/>
              </a:spcAft>
              <a:buFont typeface="Arial" panose="020B0604020202020204" pitchFamily="34" charset="0"/>
              <a:buChar char="•"/>
            </a:pPr>
            <a:r>
              <a:rPr lang="en-GB" sz="1200" dirty="0">
                <a:latin typeface="Calibri" panose="020F0502020204030204" pitchFamily="34" charset="0"/>
                <a:ea typeface="Arial Unicode MS"/>
                <a:cs typeface="Arial Unicode MS"/>
              </a:rPr>
              <a:t>Provide instructions on how games can have maximum student participation. Some activities may default to only 1 student speaking at a time, but can be adapted to have high levels of equal participation.</a:t>
            </a:r>
          </a:p>
          <a:p>
            <a:pPr algn="ctr">
              <a:spcAft>
                <a:spcPts val="600"/>
              </a:spcAft>
            </a:pPr>
            <a:r>
              <a:rPr lang="en-GB" sz="1600" b="1" u="sng" dirty="0">
                <a:latin typeface="Calibri" panose="020F0502020204030204" pitchFamily="34" charset="0"/>
              </a:rPr>
              <a:t>Adaptability</a:t>
            </a:r>
          </a:p>
          <a:p>
            <a:pPr>
              <a:spcAft>
                <a:spcPts val="600"/>
              </a:spcAft>
            </a:pPr>
            <a:r>
              <a:rPr lang="en-GB" sz="1200" dirty="0">
                <a:effectLst/>
                <a:latin typeface="Calibri" panose="020F0502020204030204" pitchFamily="34" charset="0"/>
                <a:ea typeface="Arial Unicode MS"/>
                <a:cs typeface="Arial Unicode MS"/>
              </a:rPr>
              <a:t>As we share lessons across DYB, it is important that lessons can easily be adapted by other teachers. They may have a class of different ability level, fewer students, or more students than your own. As such, lessons should be created with this in mind.</a:t>
            </a:r>
          </a:p>
          <a:p>
            <a:pPr>
              <a:spcAft>
                <a:spcPts val="600"/>
              </a:spcAft>
            </a:pPr>
            <a:r>
              <a:rPr lang="en-GB" sz="1200" b="1" dirty="0">
                <a:effectLst/>
                <a:latin typeface="Calibri" panose="020F0502020204030204" pitchFamily="34" charset="0"/>
                <a:ea typeface="Arial Unicode MS"/>
                <a:cs typeface="Arial Unicode MS"/>
              </a:rPr>
              <a:t>Dos</a:t>
            </a:r>
          </a:p>
          <a:p>
            <a:pPr marL="171450" indent="-171450">
              <a:spcAft>
                <a:spcPts val="600"/>
              </a:spcAft>
              <a:buFont typeface="Arial" panose="020B0604020202020204" pitchFamily="34" charset="0"/>
              <a:buChar char="•"/>
            </a:pPr>
            <a:r>
              <a:rPr lang="en-GB" sz="1200" dirty="0">
                <a:latin typeface="Calibri" panose="020F0502020204030204" pitchFamily="34" charset="0"/>
                <a:ea typeface="Arial Unicode MS"/>
                <a:cs typeface="Arial Unicode MS"/>
              </a:rPr>
              <a:t>Include clear instructions for teachers to follow.</a:t>
            </a:r>
          </a:p>
          <a:p>
            <a:pPr marL="171450" indent="-171450">
              <a:spcAft>
                <a:spcPts val="600"/>
              </a:spcAft>
              <a:buFont typeface="Arial" panose="020B0604020202020204" pitchFamily="34" charset="0"/>
              <a:buChar char="•"/>
            </a:pPr>
            <a:r>
              <a:rPr lang="en-GB" sz="1200" dirty="0">
                <a:latin typeface="Calibri" panose="020F0502020204030204" pitchFamily="34" charset="0"/>
                <a:ea typeface="Arial Unicode MS"/>
                <a:cs typeface="Arial Unicode MS"/>
              </a:rPr>
              <a:t>Have more content than necessary rather than too little.</a:t>
            </a:r>
          </a:p>
          <a:p>
            <a:pPr marL="171450" indent="-171450">
              <a:spcAft>
                <a:spcPts val="600"/>
              </a:spcAft>
              <a:buFont typeface="Arial" panose="020B0604020202020204" pitchFamily="34" charset="0"/>
              <a:buChar char="•"/>
            </a:pPr>
            <a:r>
              <a:rPr lang="en-GB" sz="1200" dirty="0">
                <a:latin typeface="Calibri" panose="020F0502020204030204" pitchFamily="34" charset="0"/>
                <a:ea typeface="Arial Unicode MS"/>
                <a:cs typeface="Arial Unicode MS"/>
              </a:rPr>
              <a:t>Provide alternatives approaches to activities if possible.</a:t>
            </a:r>
          </a:p>
          <a:p>
            <a:pPr marL="171450" indent="-171450">
              <a:spcAft>
                <a:spcPts val="600"/>
              </a:spcAft>
              <a:buFont typeface="Arial" panose="020B0604020202020204" pitchFamily="34" charset="0"/>
              <a:buChar char="•"/>
            </a:pPr>
            <a:r>
              <a:rPr lang="en-GB" sz="1200" dirty="0">
                <a:latin typeface="Calibri" panose="020F0502020204030204" pitchFamily="34" charset="0"/>
                <a:ea typeface="Arial Unicode MS"/>
                <a:cs typeface="Arial Unicode MS"/>
              </a:rPr>
              <a:t>Ensure cut-outs are well formatted for ease of preparation and add a note about them in the materials section of the teacher pages.</a:t>
            </a:r>
          </a:p>
          <a:p>
            <a:pPr marL="171450" indent="-171450">
              <a:spcAft>
                <a:spcPts val="600"/>
              </a:spcAft>
              <a:buFont typeface="Arial" panose="020B0604020202020204" pitchFamily="34" charset="0"/>
              <a:buChar char="•"/>
            </a:pPr>
            <a:r>
              <a:rPr lang="en-GB" sz="1200" dirty="0">
                <a:latin typeface="Calibri" panose="020F0502020204030204" pitchFamily="34" charset="0"/>
                <a:ea typeface="Arial Unicode MS"/>
                <a:cs typeface="Arial Unicode MS"/>
              </a:rPr>
              <a:t>Remember that some campuses print in color and others in black &amp; white.</a:t>
            </a:r>
          </a:p>
          <a:p>
            <a:pPr marL="171450" indent="-171450">
              <a:spcAft>
                <a:spcPts val="600"/>
              </a:spcAft>
              <a:buFont typeface="Arial" panose="020B0604020202020204" pitchFamily="34" charset="0"/>
              <a:buChar char="•"/>
            </a:pPr>
            <a:r>
              <a:rPr lang="en-GB" sz="1200" dirty="0">
                <a:latin typeface="Calibri" panose="020F0502020204030204" pitchFamily="34" charset="0"/>
                <a:ea typeface="Arial Unicode MS"/>
                <a:cs typeface="Arial Unicode MS"/>
              </a:rPr>
              <a:t>Consider the largest class size possible when creating games / activities.</a:t>
            </a:r>
          </a:p>
          <a:p>
            <a:pPr marL="628650" lvl="1" indent="-171450">
              <a:spcAft>
                <a:spcPts val="600"/>
              </a:spcAft>
              <a:buFont typeface="Arial" panose="020B0604020202020204" pitchFamily="34" charset="0"/>
              <a:buChar char="•"/>
            </a:pPr>
            <a:r>
              <a:rPr lang="en-GB" sz="1200" dirty="0">
                <a:latin typeface="Calibri" panose="020F0502020204030204" pitchFamily="34" charset="0"/>
                <a:ea typeface="Arial Unicode MS"/>
                <a:cs typeface="Arial Unicode MS"/>
              </a:rPr>
              <a:t>Approximately 16 for elementary and up to 30 for middle school (20 on average).</a:t>
            </a:r>
          </a:p>
          <a:p>
            <a:pPr>
              <a:spcAft>
                <a:spcPts val="600"/>
              </a:spcAft>
            </a:pPr>
            <a:r>
              <a:rPr lang="en-GB" sz="1200" b="1" dirty="0">
                <a:effectLst/>
                <a:latin typeface="Calibri" panose="020F0502020204030204" pitchFamily="34" charset="0"/>
                <a:ea typeface="Arial Unicode MS"/>
                <a:cs typeface="Arial Unicode MS"/>
              </a:rPr>
              <a:t>Don’ts</a:t>
            </a:r>
          </a:p>
          <a:p>
            <a:pPr marL="171450" indent="-171450">
              <a:spcAft>
                <a:spcPts val="600"/>
              </a:spcAft>
              <a:buFontTx/>
              <a:buChar char="-"/>
            </a:pPr>
            <a:r>
              <a:rPr lang="en-GB" sz="1200" dirty="0">
                <a:latin typeface="Calibri" panose="020F0502020204030204" pitchFamily="34" charset="0"/>
                <a:ea typeface="Arial Unicode MS"/>
                <a:cs typeface="Arial Unicode MS"/>
              </a:rPr>
              <a:t>Use images of texts or photos of grammar explanations from the internet.</a:t>
            </a:r>
          </a:p>
          <a:p>
            <a:pPr marL="171450" indent="-171450">
              <a:spcAft>
                <a:spcPts val="600"/>
              </a:spcAft>
              <a:buFontTx/>
              <a:buChar char="-"/>
            </a:pPr>
            <a:r>
              <a:rPr lang="en-GB" sz="1200" dirty="0">
                <a:latin typeface="Calibri" panose="020F0502020204030204" pitchFamily="34" charset="0"/>
                <a:ea typeface="Arial Unicode MS"/>
                <a:cs typeface="Arial Unicode MS"/>
              </a:rPr>
              <a:t>Stack text or images on one PPT slide and use animations to reveal them.</a:t>
            </a:r>
          </a:p>
          <a:p>
            <a:pPr marL="171450" indent="-171450">
              <a:spcAft>
                <a:spcPts val="600"/>
              </a:spcAft>
              <a:buFontTx/>
              <a:buChar char="-"/>
            </a:pPr>
            <a:r>
              <a:rPr lang="en-GB" sz="1200" dirty="0">
                <a:latin typeface="Calibri" panose="020F0502020204030204" pitchFamily="34" charset="0"/>
                <a:ea typeface="Arial Unicode MS"/>
                <a:cs typeface="Arial Unicode MS"/>
              </a:rPr>
              <a:t>Rely on materials others will not have access to.</a:t>
            </a:r>
          </a:p>
          <a:p>
            <a:pPr marL="171450" indent="-171450">
              <a:spcAft>
                <a:spcPts val="600"/>
              </a:spcAft>
              <a:buFontTx/>
              <a:buChar char="-"/>
            </a:pPr>
            <a:r>
              <a:rPr lang="en-GB" sz="1200" dirty="0">
                <a:latin typeface="Calibri" panose="020F0502020204030204" pitchFamily="34" charset="0"/>
                <a:ea typeface="Arial Unicode MS"/>
                <a:cs typeface="Arial Unicode MS"/>
              </a:rPr>
              <a:t>Go off schedule or off content.</a:t>
            </a:r>
          </a:p>
          <a:p>
            <a:pPr marL="171450" indent="-171450">
              <a:spcAft>
                <a:spcPts val="600"/>
              </a:spcAft>
              <a:buFontTx/>
              <a:buChar char="-"/>
            </a:pPr>
            <a:r>
              <a:rPr lang="en-GB" sz="1200" dirty="0">
                <a:latin typeface="Calibri" panose="020F0502020204030204" pitchFamily="34" charset="0"/>
                <a:ea typeface="Arial Unicode MS"/>
                <a:cs typeface="Arial Unicode MS"/>
              </a:rPr>
              <a:t>Make examples specific to yourself, your area, a year etc.</a:t>
            </a:r>
          </a:p>
        </p:txBody>
      </p:sp>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329499" y="534096"/>
            <a:ext cx="4199003" cy="431800"/>
          </a:xfrm>
        </p:spPr>
        <p:txBody>
          <a:bodyPr/>
          <a:lstStyle/>
          <a:p>
            <a:pPr marL="0" indent="0" algn="ctr">
              <a:buNone/>
            </a:pPr>
            <a:r>
              <a:rPr lang="en-US" sz="2400" b="1" dirty="0">
                <a:solidFill>
                  <a:srgbClr val="C00000"/>
                </a:solidFill>
              </a:rPr>
              <a:t>Teacher Pages &amp; Adaptability</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21974"/>
            <a:ext cx="482600" cy="260437"/>
          </a:xfrm>
        </p:spPr>
        <p:txBody>
          <a:bodyPr/>
          <a:lstStyle/>
          <a:p>
            <a:pPr marL="0" indent="0" algn="ctr">
              <a:buNone/>
            </a:pPr>
            <a:r>
              <a:rPr lang="en-US" sz="1600" dirty="0"/>
              <a:t>30</a:t>
            </a:r>
          </a:p>
        </p:txBody>
      </p:sp>
    </p:spTree>
    <p:extLst>
      <p:ext uri="{BB962C8B-B14F-4D97-AF65-F5344CB8AC3E}">
        <p14:creationId xmlns:p14="http://schemas.microsoft.com/office/powerpoint/2010/main" val="17941614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Review Process</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190475"/>
          </a:xfrm>
        </p:spPr>
        <p:txBody>
          <a:bodyPr/>
          <a:lstStyle/>
          <a:p>
            <a:pPr marL="0" indent="0" algn="ctr">
              <a:buNone/>
            </a:pPr>
            <a:r>
              <a:rPr lang="en-US" sz="1600" dirty="0"/>
              <a:t>31</a:t>
            </a:r>
          </a:p>
        </p:txBody>
      </p:sp>
      <p:sp>
        <p:nvSpPr>
          <p:cNvPr id="5" name="TextBox 4">
            <a:extLst>
              <a:ext uri="{FF2B5EF4-FFF2-40B4-BE49-F238E27FC236}">
                <a16:creationId xmlns:a16="http://schemas.microsoft.com/office/drawing/2014/main" id="{18E764D6-4B5B-B0E2-0533-451C6B3C3A9D}"/>
              </a:ext>
            </a:extLst>
          </p:cNvPr>
          <p:cNvSpPr txBox="1"/>
          <p:nvPr/>
        </p:nvSpPr>
        <p:spPr>
          <a:xfrm>
            <a:off x="485775" y="1252864"/>
            <a:ext cx="5886450" cy="805791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GB" sz="1600" b="1" i="0" u="sng" strike="noStrike" kern="1200" cap="none" spc="0" normalizeH="0" baseline="0" noProof="0" dirty="0">
                <a:ln>
                  <a:noFill/>
                </a:ln>
                <a:solidFill>
                  <a:prstClr val="black"/>
                </a:solidFill>
                <a:effectLst/>
                <a:uLnTx/>
                <a:uFillTx/>
                <a:latin typeface="Calibri" panose="020F0502020204030204" pitchFamily="34" charset="0"/>
                <a:ea typeface="Arial Unicode MS"/>
                <a:cs typeface="Arial Unicode MS"/>
              </a:rPr>
              <a:t>Review Process</a:t>
            </a:r>
            <a:endParaRPr kumimoji="0" lang="en-GB" sz="900" b="1" i="0" u="sng" strike="noStrike" kern="1200" cap="none" spc="0" normalizeH="0" baseline="0" noProof="0" dirty="0">
              <a:ln>
                <a:noFill/>
              </a:ln>
              <a:solidFill>
                <a:prstClr val="black"/>
              </a:solidFill>
              <a:effectLst/>
              <a:uLnTx/>
              <a:uFillTx/>
              <a:latin typeface="Calibri" panose="020F0502020204030204" pitchFamily="34" charset="0"/>
              <a:ea typeface="Arial Unicode MS"/>
              <a:cs typeface="Arial Unicode MS"/>
            </a:endParaRPr>
          </a:p>
          <a:p>
            <a:pPr marL="0" marR="0" lvl="0" indent="0" algn="l" defTabSz="457200" rtl="0" eaLnBrk="1" fontAlgn="auto" latinLnBrk="0" hangingPunct="1">
              <a:lnSpc>
                <a:spcPct val="100000"/>
              </a:lnSpc>
              <a:spcBef>
                <a:spcPts val="0"/>
              </a:spcBef>
              <a:buClrTx/>
              <a:buSzTx/>
              <a:buFontTx/>
              <a:buNone/>
              <a:tabLst/>
              <a:defRPr/>
            </a:pPr>
            <a:r>
              <a:rPr lang="en-GB" sz="1200" b="1" u="sng" dirty="0">
                <a:solidFill>
                  <a:prstClr val="black"/>
                </a:solidFill>
                <a:latin typeface="Calibri" panose="020F0502020204030204" pitchFamily="34" charset="0"/>
                <a:ea typeface="Arial Unicode MS"/>
                <a:cs typeface="Arial Unicode MS"/>
              </a:rPr>
              <a:t>Step 1 – Peer Review</a:t>
            </a:r>
          </a:p>
          <a:p>
            <a:pPr marL="174625" indent="-174625">
              <a:lnSpc>
                <a:spcPct val="114000"/>
              </a:lnSpc>
              <a:buFont typeface="Arial" panose="020B0604020202020204" pitchFamily="34" charset="0"/>
              <a:buChar char="•"/>
            </a:pPr>
            <a:r>
              <a:rPr lang="en-GB" sz="1200" dirty="0"/>
              <a:t>Most thorough checking stage. </a:t>
            </a:r>
          </a:p>
          <a:p>
            <a:pPr marL="174625" indent="-174625">
              <a:lnSpc>
                <a:spcPct val="114000"/>
              </a:lnSpc>
              <a:buFont typeface="Arial" panose="020B0604020202020204" pitchFamily="34" charset="0"/>
              <a:buChar char="•"/>
            </a:pPr>
            <a:r>
              <a:rPr lang="en-GB" sz="1200" dirty="0"/>
              <a:t>Conducted during the weekly team meeting on Wednesdays.</a:t>
            </a:r>
          </a:p>
          <a:p>
            <a:pPr marL="174625" indent="-174625">
              <a:lnSpc>
                <a:spcPct val="114000"/>
              </a:lnSpc>
              <a:buFont typeface="Arial" panose="020B0604020202020204" pitchFamily="34" charset="0"/>
              <a:buChar char="•"/>
            </a:pPr>
            <a:r>
              <a:rPr lang="en-GB" sz="1200" dirty="0"/>
              <a:t>Peer review is completed by one of your team members.</a:t>
            </a:r>
          </a:p>
          <a:p>
            <a:pPr marL="174625" indent="-174625">
              <a:lnSpc>
                <a:spcPct val="114000"/>
              </a:lnSpc>
              <a:buFont typeface="Arial" panose="020B0604020202020204" pitchFamily="34" charset="0"/>
              <a:buChar char="•"/>
            </a:pPr>
            <a:r>
              <a:rPr lang="en-GB" sz="1200" dirty="0"/>
              <a:t>Detailed review covering:</a:t>
            </a:r>
          </a:p>
          <a:p>
            <a:pPr marL="631825" lvl="2" indent="-174625">
              <a:lnSpc>
                <a:spcPct val="114000"/>
              </a:lnSpc>
              <a:buFont typeface="Arial" panose="020B0604020202020204" pitchFamily="34" charset="0"/>
              <a:buChar char="•"/>
            </a:pPr>
            <a:r>
              <a:rPr lang="en-GB" sz="1200" dirty="0"/>
              <a:t>Lesson information, teacher pages, answers, worksheets, PPT, formatting, animations, grammar, spelling, and content.</a:t>
            </a:r>
          </a:p>
          <a:p>
            <a:pPr marL="174625" indent="-174625">
              <a:lnSpc>
                <a:spcPct val="114000"/>
              </a:lnSpc>
              <a:spcAft>
                <a:spcPts val="600"/>
              </a:spcAft>
              <a:buFont typeface="Arial" panose="020B0604020202020204" pitchFamily="34" charset="0"/>
              <a:buChar char="•"/>
            </a:pPr>
            <a:r>
              <a:rPr lang="en-GB" sz="1200" b="1" dirty="0"/>
              <a:t>Reviewer’s name added to the lesson plan, and they are also responsible for its quality</a:t>
            </a:r>
            <a:r>
              <a:rPr lang="en-GB" sz="1200" dirty="0"/>
              <a:t>.</a:t>
            </a:r>
          </a:p>
          <a:p>
            <a:pPr marL="174625" marR="0" lvl="0" indent="-174625" algn="l" defTabSz="457200" rtl="0" eaLnBrk="1" fontAlgn="auto" latinLnBrk="0" hangingPunct="1">
              <a:lnSpc>
                <a:spcPct val="114000"/>
              </a:lnSpc>
              <a:spcBef>
                <a:spcPts val="0"/>
              </a:spcBef>
              <a:buClrTx/>
              <a:buSzTx/>
              <a:buFontTx/>
              <a:buNone/>
              <a:tabLst/>
              <a:defRPr/>
            </a:pPr>
            <a:r>
              <a:rPr lang="en-GB" sz="1200" b="1" u="sng" dirty="0">
                <a:solidFill>
                  <a:prstClr val="black"/>
                </a:solidFill>
                <a:latin typeface="Calibri" panose="020F0502020204030204" pitchFamily="34" charset="0"/>
                <a:ea typeface="Arial Unicode MS"/>
                <a:cs typeface="Arial Unicode MS"/>
              </a:rPr>
              <a:t>Step 2  -Team Leader Review</a:t>
            </a:r>
          </a:p>
          <a:p>
            <a:pPr marL="174625" indent="-174625">
              <a:lnSpc>
                <a:spcPct val="114000"/>
              </a:lnSpc>
              <a:buFont typeface="Arial" panose="020B0604020202020204" pitchFamily="34" charset="0"/>
              <a:buChar char="•"/>
            </a:pPr>
            <a:r>
              <a:rPr lang="en-GB" sz="1200" dirty="0"/>
              <a:t>Second check after peer review and corrections.</a:t>
            </a:r>
          </a:p>
          <a:p>
            <a:pPr marL="174625" indent="-174625">
              <a:lnSpc>
                <a:spcPct val="114000"/>
              </a:lnSpc>
              <a:buFont typeface="Arial" panose="020B0604020202020204" pitchFamily="34" charset="0"/>
              <a:buChar char="•"/>
            </a:pPr>
            <a:r>
              <a:rPr lang="en-GB" sz="1200" dirty="0"/>
              <a:t>Focuses on overall content and flow, addressing broader issues.</a:t>
            </a:r>
          </a:p>
          <a:p>
            <a:pPr marL="174625" indent="-174625">
              <a:lnSpc>
                <a:spcPct val="114000"/>
              </a:lnSpc>
              <a:buFont typeface="Arial" panose="020B0604020202020204" pitchFamily="34" charset="0"/>
              <a:buChar char="•"/>
            </a:pPr>
            <a:r>
              <a:rPr lang="en-GB" sz="1200" dirty="0"/>
              <a:t>Minor mistakes may be not be caught.</a:t>
            </a:r>
          </a:p>
          <a:p>
            <a:pPr marL="174625" indent="-174625">
              <a:lnSpc>
                <a:spcPct val="114000"/>
              </a:lnSpc>
              <a:buFont typeface="Arial" panose="020B0604020202020204" pitchFamily="34" charset="0"/>
              <a:buChar char="•"/>
            </a:pPr>
            <a:r>
              <a:rPr lang="en-GB" sz="1200" dirty="0"/>
              <a:t>Team leaders can request more time for revisions from coordinators in case of illness, major corrections being needed, or other reasons at the team leader's and coordinator's discretion.</a:t>
            </a:r>
          </a:p>
          <a:p>
            <a:pPr marL="174625" indent="-174625">
              <a:lnSpc>
                <a:spcPct val="114000"/>
              </a:lnSpc>
              <a:spcAft>
                <a:spcPts val="600"/>
              </a:spcAft>
              <a:buFont typeface="Arial" panose="020B0604020202020204" pitchFamily="34" charset="0"/>
              <a:buChar char="•"/>
            </a:pPr>
            <a:r>
              <a:rPr lang="en-GB" sz="1200" dirty="0"/>
              <a:t>Team leaders are responsible for uploading lessons to Dropbox folders.</a:t>
            </a:r>
          </a:p>
          <a:p>
            <a:pPr marL="174625" marR="0" lvl="0" indent="-174625" algn="l" defTabSz="457200" rtl="0" eaLnBrk="1" fontAlgn="auto" latinLnBrk="0" hangingPunct="1">
              <a:lnSpc>
                <a:spcPct val="114000"/>
              </a:lnSpc>
              <a:spcBef>
                <a:spcPts val="0"/>
              </a:spcBef>
              <a:buClrTx/>
              <a:buSzTx/>
              <a:buFontTx/>
              <a:buNone/>
              <a:tabLst/>
              <a:defRPr/>
            </a:pPr>
            <a:r>
              <a:rPr lang="en-GB" sz="1200" b="1" u="sng" dirty="0">
                <a:solidFill>
                  <a:prstClr val="black"/>
                </a:solidFill>
                <a:latin typeface="Calibri" panose="020F0502020204030204" pitchFamily="34" charset="0"/>
                <a:ea typeface="Arial Unicode MS"/>
                <a:cs typeface="Arial Unicode MS"/>
              </a:rPr>
              <a:t>Step 3 – Coordinator Review</a:t>
            </a:r>
          </a:p>
          <a:p>
            <a:pPr marL="174625" indent="-174625">
              <a:lnSpc>
                <a:spcPct val="114000"/>
              </a:lnSpc>
              <a:buFont typeface="Arial" panose="020B0604020202020204" pitchFamily="34" charset="0"/>
              <a:buChar char="•"/>
            </a:pPr>
            <a:r>
              <a:rPr lang="en-GB" sz="1200" dirty="0"/>
              <a:t>Final quality check after lessons are uploaded to Dropbox.</a:t>
            </a:r>
          </a:p>
          <a:p>
            <a:pPr marL="174625" indent="-174625">
              <a:lnSpc>
                <a:spcPct val="114000"/>
              </a:lnSpc>
              <a:buFont typeface="Arial" panose="020B0604020202020204" pitchFamily="34" charset="0"/>
              <a:buChar char="•"/>
            </a:pPr>
            <a:r>
              <a:rPr lang="en-GB" sz="1200" dirty="0"/>
              <a:t>Focus on overall quality with spot-checks on specific areas.</a:t>
            </a:r>
          </a:p>
          <a:p>
            <a:pPr marL="174625" indent="-174625">
              <a:lnSpc>
                <a:spcPct val="114000"/>
              </a:lnSpc>
              <a:spcAft>
                <a:spcPts val="600"/>
              </a:spcAft>
              <a:buFont typeface="Arial" panose="020B0604020202020204" pitchFamily="34" charset="0"/>
              <a:buChar char="•"/>
            </a:pPr>
            <a:r>
              <a:rPr lang="en-GB" sz="1200" dirty="0"/>
              <a:t>Coordinators notify the team leader of any corrections or issues.</a:t>
            </a:r>
          </a:p>
          <a:p>
            <a:pPr marL="174625" marR="0" lvl="0" indent="-174625" algn="l" defTabSz="457200" rtl="0" eaLnBrk="1" fontAlgn="auto" latinLnBrk="0" hangingPunct="1">
              <a:lnSpc>
                <a:spcPct val="114000"/>
              </a:lnSpc>
              <a:spcBef>
                <a:spcPts val="0"/>
              </a:spcBef>
              <a:spcAft>
                <a:spcPts val="600"/>
              </a:spcAft>
              <a:buClrTx/>
              <a:buSzTx/>
              <a:buFontTx/>
              <a:buNone/>
              <a:tabLst/>
              <a:defRPr/>
            </a:pPr>
            <a:r>
              <a:rPr lang="en-GB" sz="1200" b="1" u="sng" dirty="0">
                <a:solidFill>
                  <a:prstClr val="black"/>
                </a:solidFill>
                <a:latin typeface="Calibri" panose="020F0502020204030204" pitchFamily="34" charset="0"/>
                <a:ea typeface="Arial Unicode MS"/>
                <a:cs typeface="Arial Unicode MS"/>
              </a:rPr>
              <a:t>Post Upload</a:t>
            </a:r>
          </a:p>
          <a:p>
            <a:pPr marL="174625" indent="-174625">
              <a:lnSpc>
                <a:spcPct val="114000"/>
              </a:lnSpc>
              <a:buFont typeface="Arial" panose="020B0604020202020204" pitchFamily="34" charset="0"/>
              <a:buChar char="•"/>
            </a:pPr>
            <a:r>
              <a:rPr lang="en-GB" sz="1200" dirty="0"/>
              <a:t>Consult with your team leader if you amend your lesson after uploading.</a:t>
            </a:r>
          </a:p>
          <a:p>
            <a:pPr marL="174625" indent="-174625">
              <a:lnSpc>
                <a:spcPct val="114000"/>
              </a:lnSpc>
              <a:buFont typeface="Arial" panose="020B0604020202020204" pitchFamily="34" charset="0"/>
              <a:buChar char="•"/>
            </a:pPr>
            <a:r>
              <a:rPr lang="en-GB" sz="1200" dirty="0"/>
              <a:t>Report good lessons or those with issues for necessary adjustments. Check </a:t>
            </a:r>
            <a:r>
              <a:rPr lang="en-GB" sz="1200" dirty="0">
                <a:hlinkClick r:id="rId2"/>
              </a:rPr>
              <a:t>www.dybnhr.com</a:t>
            </a:r>
            <a:r>
              <a:rPr lang="en-GB" sz="1200" dirty="0"/>
              <a:t> for the reporting links.</a:t>
            </a:r>
          </a:p>
          <a:p>
            <a:pPr marL="0" marR="0" lvl="0" indent="0" algn="l" defTabSz="457200" rtl="0" eaLnBrk="1" fontAlgn="auto" latinLnBrk="0" hangingPunct="1">
              <a:lnSpc>
                <a:spcPct val="100000"/>
              </a:lnSpc>
              <a:spcBef>
                <a:spcPts val="0"/>
              </a:spcBef>
              <a:spcAft>
                <a:spcPts val="600"/>
              </a:spcAft>
              <a:buClrTx/>
              <a:buSzTx/>
              <a:buFontTx/>
              <a:buNone/>
              <a:tabLst/>
              <a:defRPr/>
            </a:pPr>
            <a:endParaRPr kumimoji="0" lang="en-GB" sz="1600" b="1" i="0" u="sng" strike="noStrike" kern="1200" cap="none" spc="0" normalizeH="0" baseline="0" noProof="0" dirty="0">
              <a:ln>
                <a:noFill/>
              </a:ln>
              <a:solidFill>
                <a:prstClr val="black"/>
              </a:solidFill>
              <a:effectLst/>
              <a:uLnTx/>
              <a:uFillTx/>
              <a:latin typeface="Calibri" panose="020F0502020204030204" pitchFamily="34" charset="0"/>
              <a:ea typeface="Arial Unicode MS"/>
              <a:cs typeface="Arial Unicode MS"/>
            </a:endParaRPr>
          </a:p>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GB" sz="1600" b="1" i="0" u="sng" strike="noStrike" kern="1200" cap="none" spc="0" normalizeH="0" baseline="0" noProof="0" dirty="0">
                <a:ln>
                  <a:noFill/>
                </a:ln>
                <a:solidFill>
                  <a:prstClr val="black"/>
                </a:solidFill>
                <a:effectLst/>
                <a:uLnTx/>
                <a:uFillTx/>
                <a:latin typeface="Calibri" panose="020F0502020204030204" pitchFamily="34" charset="0"/>
                <a:ea typeface="Arial Unicode MS"/>
                <a:cs typeface="Arial Unicode MS"/>
              </a:rPr>
              <a:t>New Teachers </a:t>
            </a:r>
            <a:endParaRPr kumimoji="0" lang="en-GB" sz="900" b="1" i="0" u="sng" strike="noStrike" kern="1200" cap="none" spc="0" normalizeH="0" baseline="0" noProof="0" dirty="0">
              <a:ln>
                <a:noFill/>
              </a:ln>
              <a:solidFill>
                <a:prstClr val="black"/>
              </a:solidFill>
              <a:effectLst/>
              <a:uLnTx/>
              <a:uFillTx/>
              <a:latin typeface="Calibri" panose="020F0502020204030204" pitchFamily="34" charset="0"/>
              <a:ea typeface="Arial Unicode MS"/>
              <a:cs typeface="Arial Unicode MS"/>
            </a:endParaRPr>
          </a:p>
          <a:p>
            <a:r>
              <a:rPr lang="en-GB" sz="1200" dirty="0"/>
              <a:t>During their first 2 months at DYB, new teachers will receive detailed feedback involving self-checks, peer reviews, and coordinator reviews. These are done on a Google training sheet provided by their team leader.</a:t>
            </a:r>
          </a:p>
          <a:p>
            <a:endParaRPr lang="en-GB" sz="1200" dirty="0"/>
          </a:p>
          <a:p>
            <a:r>
              <a:rPr lang="en-GB" sz="1200" dirty="0"/>
              <a:t>These checks help guide new teachers, offer advice on lesson planning, and set concrete goals for improvement. The process also encourages self-reflection and provides an opportunity to ask questions.</a:t>
            </a:r>
          </a:p>
          <a:p>
            <a:endParaRPr lang="en-GB" sz="1200" dirty="0"/>
          </a:p>
          <a:p>
            <a:r>
              <a:rPr lang="en-GB" sz="1200" dirty="0"/>
              <a:t>On the next page, there is an example of the new teacher lesson feedback form.</a:t>
            </a:r>
          </a:p>
        </p:txBody>
      </p:sp>
    </p:spTree>
    <p:extLst>
      <p:ext uri="{BB962C8B-B14F-4D97-AF65-F5344CB8AC3E}">
        <p14:creationId xmlns:p14="http://schemas.microsoft.com/office/powerpoint/2010/main" val="8264859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Lesson Feedback</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190475"/>
          </a:xfrm>
        </p:spPr>
        <p:txBody>
          <a:bodyPr/>
          <a:lstStyle/>
          <a:p>
            <a:pPr marL="0" indent="0" algn="ctr">
              <a:buNone/>
            </a:pPr>
            <a:r>
              <a:rPr lang="en-US" sz="1600" dirty="0"/>
              <a:t>32</a:t>
            </a:r>
          </a:p>
        </p:txBody>
      </p:sp>
      <p:sp>
        <p:nvSpPr>
          <p:cNvPr id="5" name="TextBox 4">
            <a:extLst>
              <a:ext uri="{FF2B5EF4-FFF2-40B4-BE49-F238E27FC236}">
                <a16:creationId xmlns:a16="http://schemas.microsoft.com/office/drawing/2014/main" id="{18E764D6-4B5B-B0E2-0533-451C6B3C3A9D}"/>
              </a:ext>
            </a:extLst>
          </p:cNvPr>
          <p:cNvSpPr txBox="1"/>
          <p:nvPr/>
        </p:nvSpPr>
        <p:spPr>
          <a:xfrm>
            <a:off x="485775" y="1290442"/>
            <a:ext cx="5886450" cy="96949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GB" sz="1600" b="1" i="0" u="sng" strike="noStrike" kern="1200" cap="none" spc="0" normalizeH="0" baseline="0" noProof="0" dirty="0">
                <a:ln>
                  <a:noFill/>
                </a:ln>
                <a:solidFill>
                  <a:prstClr val="black"/>
                </a:solidFill>
                <a:effectLst/>
                <a:uLnTx/>
                <a:uFillTx/>
                <a:latin typeface="Calibri" panose="020F0502020204030204" pitchFamily="34" charset="0"/>
                <a:ea typeface="Arial Unicode MS"/>
                <a:cs typeface="Arial Unicode MS"/>
              </a:rPr>
              <a:t>New Teacher Lesson Feedback Form</a:t>
            </a:r>
          </a:p>
          <a:p>
            <a:pPr marL="0" marR="0" lvl="0" indent="0" algn="l" defTabSz="457200" rtl="0" eaLnBrk="1" fontAlgn="auto" latinLnBrk="0" hangingPunct="1">
              <a:lnSpc>
                <a:spcPct val="100000"/>
              </a:lnSpc>
              <a:spcBef>
                <a:spcPts val="0"/>
              </a:spcBef>
              <a:spcAft>
                <a:spcPts val="600"/>
              </a:spcAft>
              <a:buClrTx/>
              <a:buSzTx/>
              <a:buFontTx/>
              <a:buNone/>
              <a:tabLst/>
              <a:defRPr/>
            </a:pPr>
            <a:r>
              <a:rPr lang="en-GB" sz="1200" dirty="0">
                <a:solidFill>
                  <a:prstClr val="black"/>
                </a:solidFill>
                <a:latin typeface="Calibri" panose="020F0502020204030204" pitchFamily="34" charset="0"/>
                <a:ea typeface="Arial Unicode MS"/>
                <a:cs typeface="Arial Unicode MS"/>
              </a:rPr>
              <a:t>This checklist is part of the new teacher training document on Google Sheets. During the training period, new teachers will receive more detailed feedback and comments each week.</a:t>
            </a:r>
          </a:p>
        </p:txBody>
      </p:sp>
      <p:pic>
        <p:nvPicPr>
          <p:cNvPr id="7" name="Picture 6">
            <a:extLst>
              <a:ext uri="{FF2B5EF4-FFF2-40B4-BE49-F238E27FC236}">
                <a16:creationId xmlns:a16="http://schemas.microsoft.com/office/drawing/2014/main" id="{BC3AEC4F-89FF-757A-1B13-5B12AEA2E64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9657" y="2437804"/>
            <a:ext cx="3993781" cy="6688588"/>
          </a:xfrm>
          <a:prstGeom prst="rect">
            <a:avLst/>
          </a:prstGeom>
        </p:spPr>
      </p:pic>
      <p:pic>
        <p:nvPicPr>
          <p:cNvPr id="11" name="Picture 10">
            <a:extLst>
              <a:ext uri="{FF2B5EF4-FFF2-40B4-BE49-F238E27FC236}">
                <a16:creationId xmlns:a16="http://schemas.microsoft.com/office/drawing/2014/main" id="{EF308CD3-8DEF-F2CA-0BDE-4A476363328D}"/>
              </a:ext>
            </a:extLst>
          </p:cNvPr>
          <p:cNvPicPr>
            <a:picLocks noChangeAspect="1"/>
          </p:cNvPicPr>
          <p:nvPr/>
        </p:nvPicPr>
        <p:blipFill>
          <a:blip r:embed="rId3"/>
          <a:stretch>
            <a:fillRect/>
          </a:stretch>
        </p:blipFill>
        <p:spPr>
          <a:xfrm>
            <a:off x="450130" y="2437804"/>
            <a:ext cx="4081173" cy="6688588"/>
          </a:xfrm>
          <a:prstGeom prst="rect">
            <a:avLst/>
          </a:prstGeom>
        </p:spPr>
      </p:pic>
      <p:grpSp>
        <p:nvGrpSpPr>
          <p:cNvPr id="12" name="Group 11">
            <a:extLst>
              <a:ext uri="{FF2B5EF4-FFF2-40B4-BE49-F238E27FC236}">
                <a16:creationId xmlns:a16="http://schemas.microsoft.com/office/drawing/2014/main" id="{0667B426-81BA-3418-127A-F4C47DE73E34}"/>
              </a:ext>
            </a:extLst>
          </p:cNvPr>
          <p:cNvGrpSpPr/>
          <p:nvPr/>
        </p:nvGrpSpPr>
        <p:grpSpPr>
          <a:xfrm>
            <a:off x="3937802" y="2067449"/>
            <a:ext cx="2623213" cy="574395"/>
            <a:chOff x="3897021" y="2306735"/>
            <a:chExt cx="2623213" cy="574395"/>
          </a:xfrm>
        </p:grpSpPr>
        <p:sp>
          <p:nvSpPr>
            <p:cNvPr id="8" name="Rectangle 7">
              <a:extLst>
                <a:ext uri="{FF2B5EF4-FFF2-40B4-BE49-F238E27FC236}">
                  <a16:creationId xmlns:a16="http://schemas.microsoft.com/office/drawing/2014/main" id="{BA3ED7BE-91AA-3B2D-BB6D-8924B8A6815D}"/>
                </a:ext>
              </a:extLst>
            </p:cNvPr>
            <p:cNvSpPr/>
            <p:nvPr/>
          </p:nvSpPr>
          <p:spPr>
            <a:xfrm>
              <a:off x="4632580" y="2306735"/>
              <a:ext cx="1887654" cy="505719"/>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Add the file name.</a:t>
              </a:r>
            </a:p>
          </p:txBody>
        </p:sp>
        <p:cxnSp>
          <p:nvCxnSpPr>
            <p:cNvPr id="9" name="Straight Arrow Connector 8">
              <a:extLst>
                <a:ext uri="{FF2B5EF4-FFF2-40B4-BE49-F238E27FC236}">
                  <a16:creationId xmlns:a16="http://schemas.microsoft.com/office/drawing/2014/main" id="{0A08BA72-CA27-6E24-86A8-18C6531159BC}"/>
                </a:ext>
              </a:extLst>
            </p:cNvPr>
            <p:cNvCxnSpPr>
              <a:cxnSpLocks/>
              <a:stCxn id="8" idx="1"/>
            </p:cNvCxnSpPr>
            <p:nvPr/>
          </p:nvCxnSpPr>
          <p:spPr>
            <a:xfrm flipH="1">
              <a:off x="3897021" y="2559595"/>
              <a:ext cx="735559" cy="321535"/>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14" name="Group 13">
            <a:extLst>
              <a:ext uri="{FF2B5EF4-FFF2-40B4-BE49-F238E27FC236}">
                <a16:creationId xmlns:a16="http://schemas.microsoft.com/office/drawing/2014/main" id="{7AC976E0-5C1B-6538-8610-4F4DB3E27310}"/>
              </a:ext>
            </a:extLst>
          </p:cNvPr>
          <p:cNvGrpSpPr/>
          <p:nvPr/>
        </p:nvGrpSpPr>
        <p:grpSpPr>
          <a:xfrm>
            <a:off x="2760355" y="3922017"/>
            <a:ext cx="3800660" cy="505719"/>
            <a:chOff x="2719574" y="2306735"/>
            <a:chExt cx="3800660" cy="505719"/>
          </a:xfrm>
        </p:grpSpPr>
        <p:sp>
          <p:nvSpPr>
            <p:cNvPr id="15" name="Rectangle 14">
              <a:extLst>
                <a:ext uri="{FF2B5EF4-FFF2-40B4-BE49-F238E27FC236}">
                  <a16:creationId xmlns:a16="http://schemas.microsoft.com/office/drawing/2014/main" id="{B195F89F-F388-08DC-310D-ABA4E93F6B9F}"/>
                </a:ext>
              </a:extLst>
            </p:cNvPr>
            <p:cNvSpPr/>
            <p:nvPr/>
          </p:nvSpPr>
          <p:spPr>
            <a:xfrm>
              <a:off x="4632580" y="2306735"/>
              <a:ext cx="1887654" cy="505719"/>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Add names as needed.</a:t>
              </a:r>
            </a:p>
          </p:txBody>
        </p:sp>
        <p:cxnSp>
          <p:nvCxnSpPr>
            <p:cNvPr id="16" name="Straight Arrow Connector 15">
              <a:extLst>
                <a:ext uri="{FF2B5EF4-FFF2-40B4-BE49-F238E27FC236}">
                  <a16:creationId xmlns:a16="http://schemas.microsoft.com/office/drawing/2014/main" id="{3CDB866D-6E55-80AE-021C-3596171E5983}"/>
                </a:ext>
              </a:extLst>
            </p:cNvPr>
            <p:cNvCxnSpPr>
              <a:cxnSpLocks/>
              <a:stCxn id="15" idx="1"/>
            </p:cNvCxnSpPr>
            <p:nvPr/>
          </p:nvCxnSpPr>
          <p:spPr>
            <a:xfrm flipH="1" flipV="1">
              <a:off x="2719574" y="2507203"/>
              <a:ext cx="1913006" cy="52392"/>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18" name="Group 17">
            <a:extLst>
              <a:ext uri="{FF2B5EF4-FFF2-40B4-BE49-F238E27FC236}">
                <a16:creationId xmlns:a16="http://schemas.microsoft.com/office/drawing/2014/main" id="{6A8187E4-DB1D-4A66-6DD0-5D03B27DDBAC}"/>
              </a:ext>
            </a:extLst>
          </p:cNvPr>
          <p:cNvGrpSpPr/>
          <p:nvPr/>
        </p:nvGrpSpPr>
        <p:grpSpPr>
          <a:xfrm>
            <a:off x="1866378" y="4548487"/>
            <a:ext cx="4694637" cy="676677"/>
            <a:chOff x="1825597" y="2306735"/>
            <a:chExt cx="4694637" cy="676677"/>
          </a:xfrm>
        </p:grpSpPr>
        <p:sp>
          <p:nvSpPr>
            <p:cNvPr id="19" name="Rectangle 18">
              <a:extLst>
                <a:ext uri="{FF2B5EF4-FFF2-40B4-BE49-F238E27FC236}">
                  <a16:creationId xmlns:a16="http://schemas.microsoft.com/office/drawing/2014/main" id="{B514AF1B-E3C7-11B8-4D88-CB4EE6D6FA31}"/>
                </a:ext>
              </a:extLst>
            </p:cNvPr>
            <p:cNvSpPr/>
            <p:nvPr/>
          </p:nvSpPr>
          <p:spPr>
            <a:xfrm>
              <a:off x="4632580" y="2306735"/>
              <a:ext cx="1887654" cy="676677"/>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Complete the dropdown boxes in the self-check column.</a:t>
              </a:r>
            </a:p>
          </p:txBody>
        </p:sp>
        <p:cxnSp>
          <p:nvCxnSpPr>
            <p:cNvPr id="20" name="Straight Arrow Connector 19">
              <a:extLst>
                <a:ext uri="{FF2B5EF4-FFF2-40B4-BE49-F238E27FC236}">
                  <a16:creationId xmlns:a16="http://schemas.microsoft.com/office/drawing/2014/main" id="{535DDBAA-0364-9A7A-65CD-74BD19F18DDA}"/>
                </a:ext>
              </a:extLst>
            </p:cNvPr>
            <p:cNvCxnSpPr>
              <a:cxnSpLocks/>
              <a:stCxn id="19" idx="1"/>
            </p:cNvCxnSpPr>
            <p:nvPr/>
          </p:nvCxnSpPr>
          <p:spPr>
            <a:xfrm flipH="1" flipV="1">
              <a:off x="1825597" y="2466629"/>
              <a:ext cx="2806983" cy="178445"/>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23" name="Group 22">
            <a:extLst>
              <a:ext uri="{FF2B5EF4-FFF2-40B4-BE49-F238E27FC236}">
                <a16:creationId xmlns:a16="http://schemas.microsoft.com/office/drawing/2014/main" id="{5B589A1E-2D25-24F8-2F73-3232D0DD5531}"/>
              </a:ext>
            </a:extLst>
          </p:cNvPr>
          <p:cNvGrpSpPr/>
          <p:nvPr/>
        </p:nvGrpSpPr>
        <p:grpSpPr>
          <a:xfrm>
            <a:off x="2642992" y="6165309"/>
            <a:ext cx="3918023" cy="916679"/>
            <a:chOff x="2602211" y="2306735"/>
            <a:chExt cx="3918023" cy="916679"/>
          </a:xfrm>
        </p:grpSpPr>
        <p:sp>
          <p:nvSpPr>
            <p:cNvPr id="24" name="Rectangle 23">
              <a:extLst>
                <a:ext uri="{FF2B5EF4-FFF2-40B4-BE49-F238E27FC236}">
                  <a16:creationId xmlns:a16="http://schemas.microsoft.com/office/drawing/2014/main" id="{4E9164F1-C5EF-B0EF-5EAF-FB689814B959}"/>
                </a:ext>
              </a:extLst>
            </p:cNvPr>
            <p:cNvSpPr/>
            <p:nvPr/>
          </p:nvSpPr>
          <p:spPr>
            <a:xfrm>
              <a:off x="4632580" y="2306735"/>
              <a:ext cx="1887654" cy="916679"/>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After you have completed your self-check, your peer reviewer will complete their column.</a:t>
              </a:r>
            </a:p>
          </p:txBody>
        </p:sp>
        <p:cxnSp>
          <p:nvCxnSpPr>
            <p:cNvPr id="25" name="Straight Arrow Connector 24">
              <a:extLst>
                <a:ext uri="{FF2B5EF4-FFF2-40B4-BE49-F238E27FC236}">
                  <a16:creationId xmlns:a16="http://schemas.microsoft.com/office/drawing/2014/main" id="{3B02ACED-BC54-3E2C-CF77-6710CEF19C02}"/>
                </a:ext>
              </a:extLst>
            </p:cNvPr>
            <p:cNvCxnSpPr>
              <a:cxnSpLocks/>
              <a:stCxn id="24" idx="1"/>
            </p:cNvCxnSpPr>
            <p:nvPr/>
          </p:nvCxnSpPr>
          <p:spPr>
            <a:xfrm flipH="1">
              <a:off x="2602211" y="2765075"/>
              <a:ext cx="2030369" cy="340845"/>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28" name="Group 27">
            <a:extLst>
              <a:ext uri="{FF2B5EF4-FFF2-40B4-BE49-F238E27FC236}">
                <a16:creationId xmlns:a16="http://schemas.microsoft.com/office/drawing/2014/main" id="{4A1502E3-14EF-CCF9-4E72-EE097173360F}"/>
              </a:ext>
            </a:extLst>
          </p:cNvPr>
          <p:cNvGrpSpPr/>
          <p:nvPr/>
        </p:nvGrpSpPr>
        <p:grpSpPr>
          <a:xfrm>
            <a:off x="3429000" y="7168910"/>
            <a:ext cx="3132015" cy="1805475"/>
            <a:chOff x="3388219" y="2306735"/>
            <a:chExt cx="3132015" cy="1805475"/>
          </a:xfrm>
        </p:grpSpPr>
        <p:sp>
          <p:nvSpPr>
            <p:cNvPr id="29" name="Rectangle 28">
              <a:extLst>
                <a:ext uri="{FF2B5EF4-FFF2-40B4-BE49-F238E27FC236}">
                  <a16:creationId xmlns:a16="http://schemas.microsoft.com/office/drawing/2014/main" id="{9645DE5D-9338-8EDE-16CB-F205029E47BF}"/>
                </a:ext>
              </a:extLst>
            </p:cNvPr>
            <p:cNvSpPr/>
            <p:nvPr/>
          </p:nvSpPr>
          <p:spPr>
            <a:xfrm>
              <a:off x="4632580" y="2306735"/>
              <a:ext cx="1887654" cy="916679"/>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After you and your reviewer have completed your columns, your team leader will complete their column.</a:t>
              </a:r>
            </a:p>
          </p:txBody>
        </p:sp>
        <p:cxnSp>
          <p:nvCxnSpPr>
            <p:cNvPr id="30" name="Straight Arrow Connector 29">
              <a:extLst>
                <a:ext uri="{FF2B5EF4-FFF2-40B4-BE49-F238E27FC236}">
                  <a16:creationId xmlns:a16="http://schemas.microsoft.com/office/drawing/2014/main" id="{49AC1170-3206-9DA1-C104-F813A36BA35B}"/>
                </a:ext>
              </a:extLst>
            </p:cNvPr>
            <p:cNvCxnSpPr>
              <a:cxnSpLocks/>
              <a:stCxn id="29" idx="1"/>
            </p:cNvCxnSpPr>
            <p:nvPr/>
          </p:nvCxnSpPr>
          <p:spPr>
            <a:xfrm flipH="1">
              <a:off x="3388219" y="2765075"/>
              <a:ext cx="1244361" cy="1347135"/>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32" name="Group 31">
            <a:extLst>
              <a:ext uri="{FF2B5EF4-FFF2-40B4-BE49-F238E27FC236}">
                <a16:creationId xmlns:a16="http://schemas.microsoft.com/office/drawing/2014/main" id="{45BE259E-C8D6-5140-A7D9-601A488BDD73}"/>
              </a:ext>
            </a:extLst>
          </p:cNvPr>
          <p:cNvGrpSpPr/>
          <p:nvPr/>
        </p:nvGrpSpPr>
        <p:grpSpPr>
          <a:xfrm>
            <a:off x="4389245" y="8182200"/>
            <a:ext cx="2171770" cy="916679"/>
            <a:chOff x="4348464" y="2306735"/>
            <a:chExt cx="2171770" cy="916679"/>
          </a:xfrm>
        </p:grpSpPr>
        <p:sp>
          <p:nvSpPr>
            <p:cNvPr id="33" name="Rectangle 32">
              <a:extLst>
                <a:ext uri="{FF2B5EF4-FFF2-40B4-BE49-F238E27FC236}">
                  <a16:creationId xmlns:a16="http://schemas.microsoft.com/office/drawing/2014/main" id="{68418B17-D16A-755C-0B6A-B7B01BC4D547}"/>
                </a:ext>
              </a:extLst>
            </p:cNvPr>
            <p:cNvSpPr/>
            <p:nvPr/>
          </p:nvSpPr>
          <p:spPr>
            <a:xfrm>
              <a:off x="4632580" y="2306735"/>
              <a:ext cx="1887654" cy="916679"/>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The coordinator will then complete their section after your lesson is uploaded.</a:t>
              </a:r>
            </a:p>
          </p:txBody>
        </p:sp>
        <p:cxnSp>
          <p:nvCxnSpPr>
            <p:cNvPr id="34" name="Straight Arrow Connector 33">
              <a:extLst>
                <a:ext uri="{FF2B5EF4-FFF2-40B4-BE49-F238E27FC236}">
                  <a16:creationId xmlns:a16="http://schemas.microsoft.com/office/drawing/2014/main" id="{803DAE2A-11C4-ADAF-3BA4-72DA946B2EF4}"/>
                </a:ext>
              </a:extLst>
            </p:cNvPr>
            <p:cNvCxnSpPr>
              <a:cxnSpLocks/>
              <a:stCxn id="33" idx="1"/>
            </p:cNvCxnSpPr>
            <p:nvPr/>
          </p:nvCxnSpPr>
          <p:spPr>
            <a:xfrm flipH="1" flipV="1">
              <a:off x="4348464" y="2621371"/>
              <a:ext cx="284116" cy="143704"/>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39" name="Group 38">
            <a:extLst>
              <a:ext uri="{FF2B5EF4-FFF2-40B4-BE49-F238E27FC236}">
                <a16:creationId xmlns:a16="http://schemas.microsoft.com/office/drawing/2014/main" id="{B065F9D2-C260-A4AA-997A-B790C1F10EBD}"/>
              </a:ext>
            </a:extLst>
          </p:cNvPr>
          <p:cNvGrpSpPr/>
          <p:nvPr/>
        </p:nvGrpSpPr>
        <p:grpSpPr>
          <a:xfrm>
            <a:off x="3937802" y="2696660"/>
            <a:ext cx="2623213" cy="547351"/>
            <a:chOff x="3897021" y="1967743"/>
            <a:chExt cx="2623213" cy="547351"/>
          </a:xfrm>
        </p:grpSpPr>
        <p:sp>
          <p:nvSpPr>
            <p:cNvPr id="40" name="Rectangle 39">
              <a:extLst>
                <a:ext uri="{FF2B5EF4-FFF2-40B4-BE49-F238E27FC236}">
                  <a16:creationId xmlns:a16="http://schemas.microsoft.com/office/drawing/2014/main" id="{4AC275DF-911B-116E-F2FE-BD5B9E9D04F2}"/>
                </a:ext>
              </a:extLst>
            </p:cNvPr>
            <p:cNvSpPr/>
            <p:nvPr/>
          </p:nvSpPr>
          <p:spPr>
            <a:xfrm>
              <a:off x="4632580" y="1967743"/>
              <a:ext cx="1887654" cy="505719"/>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A reminder of target timing.</a:t>
              </a:r>
            </a:p>
          </p:txBody>
        </p:sp>
        <p:cxnSp>
          <p:nvCxnSpPr>
            <p:cNvPr id="41" name="Straight Arrow Connector 40">
              <a:extLst>
                <a:ext uri="{FF2B5EF4-FFF2-40B4-BE49-F238E27FC236}">
                  <a16:creationId xmlns:a16="http://schemas.microsoft.com/office/drawing/2014/main" id="{B4C422DD-A404-DA4E-E4E4-0607D7B237E6}"/>
                </a:ext>
              </a:extLst>
            </p:cNvPr>
            <p:cNvCxnSpPr>
              <a:cxnSpLocks/>
              <a:stCxn id="40" idx="1"/>
            </p:cNvCxnSpPr>
            <p:nvPr/>
          </p:nvCxnSpPr>
          <p:spPr>
            <a:xfrm flipH="1">
              <a:off x="3897021" y="2220603"/>
              <a:ext cx="735559" cy="294491"/>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44" name="Group 43">
            <a:extLst>
              <a:ext uri="{FF2B5EF4-FFF2-40B4-BE49-F238E27FC236}">
                <a16:creationId xmlns:a16="http://schemas.microsoft.com/office/drawing/2014/main" id="{E0B2F128-C02A-8DAD-1A54-FA709FA10E67}"/>
              </a:ext>
            </a:extLst>
          </p:cNvPr>
          <p:cNvGrpSpPr/>
          <p:nvPr/>
        </p:nvGrpSpPr>
        <p:grpSpPr>
          <a:xfrm>
            <a:off x="1277655" y="5371137"/>
            <a:ext cx="5283360" cy="1031878"/>
            <a:chOff x="1236874" y="2306735"/>
            <a:chExt cx="5283360" cy="1031878"/>
          </a:xfrm>
        </p:grpSpPr>
        <p:sp>
          <p:nvSpPr>
            <p:cNvPr id="45" name="Rectangle 44">
              <a:extLst>
                <a:ext uri="{FF2B5EF4-FFF2-40B4-BE49-F238E27FC236}">
                  <a16:creationId xmlns:a16="http://schemas.microsoft.com/office/drawing/2014/main" id="{27EA71BB-CD10-38FD-A8B1-90B3031DBF51}"/>
                </a:ext>
              </a:extLst>
            </p:cNvPr>
            <p:cNvSpPr/>
            <p:nvPr/>
          </p:nvSpPr>
          <p:spPr>
            <a:xfrm>
              <a:off x="4632580" y="2306735"/>
              <a:ext cx="1887654" cy="676677"/>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Hover over these boxes to see additional notes.</a:t>
              </a:r>
            </a:p>
          </p:txBody>
        </p:sp>
        <p:cxnSp>
          <p:nvCxnSpPr>
            <p:cNvPr id="46" name="Straight Arrow Connector 45">
              <a:extLst>
                <a:ext uri="{FF2B5EF4-FFF2-40B4-BE49-F238E27FC236}">
                  <a16:creationId xmlns:a16="http://schemas.microsoft.com/office/drawing/2014/main" id="{C18B2E6D-0F8A-3168-6781-78DC81490448}"/>
                </a:ext>
              </a:extLst>
            </p:cNvPr>
            <p:cNvCxnSpPr>
              <a:cxnSpLocks/>
              <a:stCxn id="45" idx="1"/>
            </p:cNvCxnSpPr>
            <p:nvPr/>
          </p:nvCxnSpPr>
          <p:spPr>
            <a:xfrm flipH="1">
              <a:off x="1236874" y="2645074"/>
              <a:ext cx="3395706" cy="693539"/>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13" name="Group 12">
            <a:extLst>
              <a:ext uri="{FF2B5EF4-FFF2-40B4-BE49-F238E27FC236}">
                <a16:creationId xmlns:a16="http://schemas.microsoft.com/office/drawing/2014/main" id="{52E638B8-6BA1-A7FD-7030-FE2B4F14E432}"/>
              </a:ext>
            </a:extLst>
          </p:cNvPr>
          <p:cNvGrpSpPr/>
          <p:nvPr/>
        </p:nvGrpSpPr>
        <p:grpSpPr>
          <a:xfrm>
            <a:off x="3429000" y="3301115"/>
            <a:ext cx="3132015" cy="505719"/>
            <a:chOff x="3388219" y="1967743"/>
            <a:chExt cx="3132015" cy="505719"/>
          </a:xfrm>
        </p:grpSpPr>
        <p:sp>
          <p:nvSpPr>
            <p:cNvPr id="17" name="Rectangle 16">
              <a:extLst>
                <a:ext uri="{FF2B5EF4-FFF2-40B4-BE49-F238E27FC236}">
                  <a16:creationId xmlns:a16="http://schemas.microsoft.com/office/drawing/2014/main" id="{EF68D007-8A2C-BD8F-CE00-406A1B6E1E04}"/>
                </a:ext>
              </a:extLst>
            </p:cNvPr>
            <p:cNvSpPr/>
            <p:nvPr/>
          </p:nvSpPr>
          <p:spPr>
            <a:xfrm>
              <a:off x="4632580" y="1967743"/>
              <a:ext cx="1887654" cy="505719"/>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Enter your suggested timings for each section. </a:t>
              </a:r>
            </a:p>
          </p:txBody>
        </p:sp>
        <p:cxnSp>
          <p:nvCxnSpPr>
            <p:cNvPr id="21" name="Straight Arrow Connector 20">
              <a:extLst>
                <a:ext uri="{FF2B5EF4-FFF2-40B4-BE49-F238E27FC236}">
                  <a16:creationId xmlns:a16="http://schemas.microsoft.com/office/drawing/2014/main" id="{99C34FBA-0B60-9B6E-37C8-20499A65F81A}"/>
                </a:ext>
              </a:extLst>
            </p:cNvPr>
            <p:cNvCxnSpPr>
              <a:cxnSpLocks/>
              <a:stCxn id="17" idx="1"/>
            </p:cNvCxnSpPr>
            <p:nvPr/>
          </p:nvCxnSpPr>
          <p:spPr>
            <a:xfrm flipH="1" flipV="1">
              <a:off x="3388219" y="2201411"/>
              <a:ext cx="1244361" cy="19192"/>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40655635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61B5-3874-E036-C65C-CEE19BA00F40}"/>
              </a:ext>
            </a:extLst>
          </p:cNvPr>
          <p:cNvSpPr>
            <a:spLocks noGrp="1"/>
          </p:cNvSpPr>
          <p:nvPr>
            <p:ph sz="quarter" idx="10"/>
          </p:nvPr>
        </p:nvSpPr>
        <p:spPr>
          <a:xfrm>
            <a:off x="1625600" y="534096"/>
            <a:ext cx="3606800" cy="431800"/>
          </a:xfrm>
        </p:spPr>
        <p:txBody>
          <a:bodyPr/>
          <a:lstStyle/>
          <a:p>
            <a:pPr marL="0" indent="0" algn="ctr">
              <a:buNone/>
            </a:pPr>
            <a:r>
              <a:rPr lang="en-US" sz="2400" b="1" dirty="0">
                <a:solidFill>
                  <a:srgbClr val="C00000"/>
                </a:solidFill>
              </a:rPr>
              <a:t>Lesson Feedback</a:t>
            </a:r>
          </a:p>
        </p:txBody>
      </p:sp>
      <p:sp>
        <p:nvSpPr>
          <p:cNvPr id="3" name="Text Placeholder 2">
            <a:extLst>
              <a:ext uri="{FF2B5EF4-FFF2-40B4-BE49-F238E27FC236}">
                <a16:creationId xmlns:a16="http://schemas.microsoft.com/office/drawing/2014/main" id="{61B564F2-1E6C-CF49-B714-170711120A3D}"/>
              </a:ext>
            </a:extLst>
          </p:cNvPr>
          <p:cNvSpPr>
            <a:spLocks noGrp="1"/>
          </p:cNvSpPr>
          <p:nvPr>
            <p:ph type="body" sz="quarter" idx="11"/>
          </p:nvPr>
        </p:nvSpPr>
        <p:spPr>
          <a:xfrm>
            <a:off x="3187700" y="9347026"/>
            <a:ext cx="482600" cy="190475"/>
          </a:xfrm>
        </p:spPr>
        <p:txBody>
          <a:bodyPr/>
          <a:lstStyle/>
          <a:p>
            <a:pPr marL="0" indent="0" algn="ctr">
              <a:buNone/>
            </a:pPr>
            <a:r>
              <a:rPr lang="en-US" sz="1600" dirty="0"/>
              <a:t>33</a:t>
            </a:r>
          </a:p>
        </p:txBody>
      </p:sp>
      <p:sp>
        <p:nvSpPr>
          <p:cNvPr id="5" name="TextBox 4">
            <a:extLst>
              <a:ext uri="{FF2B5EF4-FFF2-40B4-BE49-F238E27FC236}">
                <a16:creationId xmlns:a16="http://schemas.microsoft.com/office/drawing/2014/main" id="{18E764D6-4B5B-B0E2-0533-451C6B3C3A9D}"/>
              </a:ext>
            </a:extLst>
          </p:cNvPr>
          <p:cNvSpPr txBox="1"/>
          <p:nvPr/>
        </p:nvSpPr>
        <p:spPr>
          <a:xfrm>
            <a:off x="485775" y="1252864"/>
            <a:ext cx="5886450" cy="55399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GB" sz="1600" b="1" i="0" u="sng" strike="noStrike" kern="1200" cap="none" spc="0" normalizeH="0" baseline="0" noProof="0" dirty="0">
                <a:ln>
                  <a:noFill/>
                </a:ln>
                <a:solidFill>
                  <a:prstClr val="black"/>
                </a:solidFill>
                <a:effectLst/>
                <a:uLnTx/>
                <a:uFillTx/>
                <a:latin typeface="Calibri" panose="020F0502020204030204" pitchFamily="34" charset="0"/>
                <a:ea typeface="Arial Unicode MS"/>
                <a:cs typeface="Arial Unicode MS"/>
              </a:rPr>
              <a:t>New Teacher Lesson Feedback Form</a:t>
            </a:r>
          </a:p>
          <a:p>
            <a:pPr marL="0" marR="0" lvl="0" indent="0" algn="ctr" defTabSz="457200" rtl="0" eaLnBrk="1" fontAlgn="auto" latinLnBrk="0" hangingPunct="1">
              <a:lnSpc>
                <a:spcPct val="100000"/>
              </a:lnSpc>
              <a:spcBef>
                <a:spcPts val="0"/>
              </a:spcBef>
              <a:spcAft>
                <a:spcPts val="600"/>
              </a:spcAft>
              <a:buClrTx/>
              <a:buSzTx/>
              <a:buFontTx/>
              <a:buNone/>
              <a:tabLst/>
              <a:defRPr/>
            </a:pPr>
            <a:endParaRPr kumimoji="0" lang="en-GB" sz="900" b="1" i="0" u="sng" strike="noStrike" kern="1200" cap="none" spc="0" normalizeH="0" baseline="0" noProof="0" dirty="0">
              <a:ln>
                <a:noFill/>
              </a:ln>
              <a:solidFill>
                <a:prstClr val="black"/>
              </a:solidFill>
              <a:effectLst/>
              <a:uLnTx/>
              <a:uFillTx/>
              <a:latin typeface="Calibri" panose="020F0502020204030204" pitchFamily="34" charset="0"/>
              <a:ea typeface="Arial Unicode MS"/>
              <a:cs typeface="Arial Unicode MS"/>
            </a:endParaRPr>
          </a:p>
        </p:txBody>
      </p:sp>
      <p:pic>
        <p:nvPicPr>
          <p:cNvPr id="7" name="Picture 6">
            <a:extLst>
              <a:ext uri="{FF2B5EF4-FFF2-40B4-BE49-F238E27FC236}">
                <a16:creationId xmlns:a16="http://schemas.microsoft.com/office/drawing/2014/main" id="{BC3AEC4F-89FF-757A-1B13-5B12AEA2E64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50818" y="1825993"/>
            <a:ext cx="4116511" cy="4429981"/>
          </a:xfrm>
          <a:prstGeom prst="rect">
            <a:avLst/>
          </a:prstGeom>
        </p:spPr>
      </p:pic>
      <p:grpSp>
        <p:nvGrpSpPr>
          <p:cNvPr id="12" name="Group 11">
            <a:extLst>
              <a:ext uri="{FF2B5EF4-FFF2-40B4-BE49-F238E27FC236}">
                <a16:creationId xmlns:a16="http://schemas.microsoft.com/office/drawing/2014/main" id="{0667B426-81BA-3418-127A-F4C47DE73E34}"/>
              </a:ext>
            </a:extLst>
          </p:cNvPr>
          <p:cNvGrpSpPr/>
          <p:nvPr/>
        </p:nvGrpSpPr>
        <p:grpSpPr>
          <a:xfrm>
            <a:off x="3627596" y="1812594"/>
            <a:ext cx="2907217" cy="587215"/>
            <a:chOff x="3613017" y="2306735"/>
            <a:chExt cx="2907217" cy="587215"/>
          </a:xfrm>
        </p:grpSpPr>
        <p:sp>
          <p:nvSpPr>
            <p:cNvPr id="8" name="Rectangle 7">
              <a:extLst>
                <a:ext uri="{FF2B5EF4-FFF2-40B4-BE49-F238E27FC236}">
                  <a16:creationId xmlns:a16="http://schemas.microsoft.com/office/drawing/2014/main" id="{BA3ED7BE-91AA-3B2D-BB6D-8924B8A6815D}"/>
                </a:ext>
              </a:extLst>
            </p:cNvPr>
            <p:cNvSpPr/>
            <p:nvPr/>
          </p:nvSpPr>
          <p:spPr>
            <a:xfrm>
              <a:off x="4632580" y="2306735"/>
              <a:ext cx="1887654" cy="58721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A note box for any comments or questions you have.</a:t>
              </a:r>
            </a:p>
          </p:txBody>
        </p:sp>
        <p:cxnSp>
          <p:nvCxnSpPr>
            <p:cNvPr id="9" name="Straight Arrow Connector 8">
              <a:extLst>
                <a:ext uri="{FF2B5EF4-FFF2-40B4-BE49-F238E27FC236}">
                  <a16:creationId xmlns:a16="http://schemas.microsoft.com/office/drawing/2014/main" id="{0A08BA72-CA27-6E24-86A8-18C6531159BC}"/>
                </a:ext>
              </a:extLst>
            </p:cNvPr>
            <p:cNvCxnSpPr>
              <a:cxnSpLocks/>
              <a:stCxn id="8" idx="1"/>
            </p:cNvCxnSpPr>
            <p:nvPr/>
          </p:nvCxnSpPr>
          <p:spPr>
            <a:xfrm flipH="1">
              <a:off x="3613017" y="2600343"/>
              <a:ext cx="1019563" cy="285092"/>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14" name="Group 13">
            <a:extLst>
              <a:ext uri="{FF2B5EF4-FFF2-40B4-BE49-F238E27FC236}">
                <a16:creationId xmlns:a16="http://schemas.microsoft.com/office/drawing/2014/main" id="{7AC976E0-5C1B-6538-8610-4F4DB3E27310}"/>
              </a:ext>
            </a:extLst>
          </p:cNvPr>
          <p:cNvGrpSpPr/>
          <p:nvPr/>
        </p:nvGrpSpPr>
        <p:grpSpPr>
          <a:xfrm>
            <a:off x="3733553" y="3257224"/>
            <a:ext cx="2822833" cy="514879"/>
            <a:chOff x="3697401" y="2306735"/>
            <a:chExt cx="2822833" cy="514879"/>
          </a:xfrm>
        </p:grpSpPr>
        <p:sp>
          <p:nvSpPr>
            <p:cNvPr id="15" name="Rectangle 14">
              <a:extLst>
                <a:ext uri="{FF2B5EF4-FFF2-40B4-BE49-F238E27FC236}">
                  <a16:creationId xmlns:a16="http://schemas.microsoft.com/office/drawing/2014/main" id="{B195F89F-F388-08DC-310D-ABA4E93F6B9F}"/>
                </a:ext>
              </a:extLst>
            </p:cNvPr>
            <p:cNvSpPr/>
            <p:nvPr/>
          </p:nvSpPr>
          <p:spPr>
            <a:xfrm>
              <a:off x="4632580" y="2306735"/>
              <a:ext cx="1887654" cy="505719"/>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Notes from your team leader.</a:t>
              </a:r>
            </a:p>
          </p:txBody>
        </p:sp>
        <p:cxnSp>
          <p:nvCxnSpPr>
            <p:cNvPr id="16" name="Straight Arrow Connector 15">
              <a:extLst>
                <a:ext uri="{FF2B5EF4-FFF2-40B4-BE49-F238E27FC236}">
                  <a16:creationId xmlns:a16="http://schemas.microsoft.com/office/drawing/2014/main" id="{3CDB866D-6E55-80AE-021C-3596171E5983}"/>
                </a:ext>
              </a:extLst>
            </p:cNvPr>
            <p:cNvCxnSpPr>
              <a:cxnSpLocks/>
              <a:stCxn id="15" idx="1"/>
            </p:cNvCxnSpPr>
            <p:nvPr/>
          </p:nvCxnSpPr>
          <p:spPr>
            <a:xfrm flipH="1">
              <a:off x="3697401" y="2559595"/>
              <a:ext cx="935179" cy="262019"/>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18" name="Group 17">
            <a:extLst>
              <a:ext uri="{FF2B5EF4-FFF2-40B4-BE49-F238E27FC236}">
                <a16:creationId xmlns:a16="http://schemas.microsoft.com/office/drawing/2014/main" id="{6A8187E4-DB1D-4A66-6DD0-5D03B27DDBAC}"/>
              </a:ext>
            </a:extLst>
          </p:cNvPr>
          <p:cNvGrpSpPr/>
          <p:nvPr/>
        </p:nvGrpSpPr>
        <p:grpSpPr>
          <a:xfrm>
            <a:off x="3845490" y="4231857"/>
            <a:ext cx="2697764" cy="721143"/>
            <a:chOff x="3822470" y="2306735"/>
            <a:chExt cx="2697764" cy="721143"/>
          </a:xfrm>
        </p:grpSpPr>
        <p:sp>
          <p:nvSpPr>
            <p:cNvPr id="19" name="Rectangle 18">
              <a:extLst>
                <a:ext uri="{FF2B5EF4-FFF2-40B4-BE49-F238E27FC236}">
                  <a16:creationId xmlns:a16="http://schemas.microsoft.com/office/drawing/2014/main" id="{B514AF1B-E3C7-11B8-4D88-CB4EE6D6FA31}"/>
                </a:ext>
              </a:extLst>
            </p:cNvPr>
            <p:cNvSpPr/>
            <p:nvPr/>
          </p:nvSpPr>
          <p:spPr>
            <a:xfrm>
              <a:off x="4632580" y="2306735"/>
              <a:ext cx="1887654" cy="676677"/>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Comments from the coordinator of the level.</a:t>
              </a:r>
            </a:p>
          </p:txBody>
        </p:sp>
        <p:cxnSp>
          <p:nvCxnSpPr>
            <p:cNvPr id="20" name="Straight Arrow Connector 19">
              <a:extLst>
                <a:ext uri="{FF2B5EF4-FFF2-40B4-BE49-F238E27FC236}">
                  <a16:creationId xmlns:a16="http://schemas.microsoft.com/office/drawing/2014/main" id="{535DDBAA-0364-9A7A-65CD-74BD19F18DDA}"/>
                </a:ext>
              </a:extLst>
            </p:cNvPr>
            <p:cNvCxnSpPr>
              <a:cxnSpLocks/>
              <a:stCxn id="19" idx="1"/>
            </p:cNvCxnSpPr>
            <p:nvPr/>
          </p:nvCxnSpPr>
          <p:spPr>
            <a:xfrm flipH="1">
              <a:off x="3822470" y="2645074"/>
              <a:ext cx="810110" cy="382804"/>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39" name="Group 38">
            <a:extLst>
              <a:ext uri="{FF2B5EF4-FFF2-40B4-BE49-F238E27FC236}">
                <a16:creationId xmlns:a16="http://schemas.microsoft.com/office/drawing/2014/main" id="{B065F9D2-C260-A4AA-997A-B790C1F10EBD}"/>
              </a:ext>
            </a:extLst>
          </p:cNvPr>
          <p:cNvGrpSpPr/>
          <p:nvPr/>
        </p:nvGrpSpPr>
        <p:grpSpPr>
          <a:xfrm>
            <a:off x="3670300" y="2496420"/>
            <a:ext cx="2864513" cy="592176"/>
            <a:chOff x="3634148" y="1841763"/>
            <a:chExt cx="2864513" cy="592176"/>
          </a:xfrm>
        </p:grpSpPr>
        <p:sp>
          <p:nvSpPr>
            <p:cNvPr id="40" name="Rectangle 39">
              <a:extLst>
                <a:ext uri="{FF2B5EF4-FFF2-40B4-BE49-F238E27FC236}">
                  <a16:creationId xmlns:a16="http://schemas.microsoft.com/office/drawing/2014/main" id="{4AC275DF-911B-116E-F2FE-BD5B9E9D04F2}"/>
                </a:ext>
              </a:extLst>
            </p:cNvPr>
            <p:cNvSpPr/>
            <p:nvPr/>
          </p:nvSpPr>
          <p:spPr>
            <a:xfrm>
              <a:off x="4611007" y="1841763"/>
              <a:ext cx="1887654" cy="505719"/>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Notes from your peer reviewer.</a:t>
              </a:r>
            </a:p>
          </p:txBody>
        </p:sp>
        <p:cxnSp>
          <p:nvCxnSpPr>
            <p:cNvPr id="41" name="Straight Arrow Connector 40">
              <a:extLst>
                <a:ext uri="{FF2B5EF4-FFF2-40B4-BE49-F238E27FC236}">
                  <a16:creationId xmlns:a16="http://schemas.microsoft.com/office/drawing/2014/main" id="{B4C422DD-A404-DA4E-E4E4-0607D7B237E6}"/>
                </a:ext>
              </a:extLst>
            </p:cNvPr>
            <p:cNvCxnSpPr>
              <a:cxnSpLocks/>
              <a:stCxn id="40" idx="1"/>
            </p:cNvCxnSpPr>
            <p:nvPr/>
          </p:nvCxnSpPr>
          <p:spPr>
            <a:xfrm flipH="1">
              <a:off x="3634148" y="2094623"/>
              <a:ext cx="976859" cy="339316"/>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sp>
        <p:nvSpPr>
          <p:cNvPr id="49" name="Rectangle 48">
            <a:extLst>
              <a:ext uri="{FF2B5EF4-FFF2-40B4-BE49-F238E27FC236}">
                <a16:creationId xmlns:a16="http://schemas.microsoft.com/office/drawing/2014/main" id="{03326C02-79D1-10E6-50CD-5227201EBA6A}"/>
              </a:ext>
            </a:extLst>
          </p:cNvPr>
          <p:cNvSpPr/>
          <p:nvPr/>
        </p:nvSpPr>
        <p:spPr>
          <a:xfrm>
            <a:off x="3143167" y="5377448"/>
            <a:ext cx="3347113" cy="676677"/>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The coordinator will normally inform your team leader once they have completed your feedback. They might also contact you directly.</a:t>
            </a:r>
          </a:p>
        </p:txBody>
      </p:sp>
      <p:sp>
        <p:nvSpPr>
          <p:cNvPr id="50" name="TextBox 49">
            <a:extLst>
              <a:ext uri="{FF2B5EF4-FFF2-40B4-BE49-F238E27FC236}">
                <a16:creationId xmlns:a16="http://schemas.microsoft.com/office/drawing/2014/main" id="{593DAFCF-98D8-074B-C090-2C9BE5B0863B}"/>
              </a:ext>
            </a:extLst>
          </p:cNvPr>
          <p:cNvSpPr txBox="1"/>
          <p:nvPr/>
        </p:nvSpPr>
        <p:spPr>
          <a:xfrm>
            <a:off x="485775" y="6549582"/>
            <a:ext cx="5886450" cy="1415772"/>
          </a:xfrm>
          <a:prstGeom prst="rect">
            <a:avLst/>
          </a:prstGeom>
          <a:noFill/>
        </p:spPr>
        <p:txBody>
          <a:bodyPr wrap="square" rtlCol="0">
            <a:spAutoFit/>
          </a:bodyPr>
          <a:lstStyle/>
          <a:p>
            <a:pPr algn="ctr">
              <a:spcAft>
                <a:spcPts val="600"/>
              </a:spcAft>
            </a:pPr>
            <a:r>
              <a:rPr kumimoji="0" lang="en-GB" sz="1600" b="1" i="0" u="sng" strike="noStrike" kern="1200" cap="none" spc="0" normalizeH="0" baseline="0" noProof="0" dirty="0">
                <a:ln>
                  <a:noFill/>
                </a:ln>
                <a:solidFill>
                  <a:prstClr val="black"/>
                </a:solidFill>
                <a:effectLst/>
                <a:uLnTx/>
                <a:uFillTx/>
                <a:latin typeface="Calibri" panose="020F0502020204030204" pitchFamily="34" charset="0"/>
                <a:ea typeface="Arial Unicode MS"/>
                <a:cs typeface="Arial Unicode MS"/>
              </a:rPr>
              <a:t>Communication</a:t>
            </a:r>
            <a:endParaRPr lang="en-GB" sz="1200" dirty="0">
              <a:latin typeface="Calibri" panose="020F0502020204030204" pitchFamily="34" charset="0"/>
              <a:ea typeface="Arial Unicode MS"/>
              <a:cs typeface="Arial Unicode MS"/>
            </a:endParaRPr>
          </a:p>
          <a:p>
            <a:pPr>
              <a:spcAft>
                <a:spcPts val="600"/>
              </a:spcAft>
            </a:pPr>
            <a:r>
              <a:rPr lang="en-GB" sz="1200" dirty="0">
                <a:latin typeface="Calibri" panose="020F0502020204030204" pitchFamily="34" charset="0"/>
                <a:ea typeface="Arial Unicode MS"/>
                <a:cs typeface="Arial Unicode MS"/>
              </a:rPr>
              <a:t>Please talk to your team leader more about this process before starting your first lesson. You can use the self-checklist when creating your lessons to help guide you in the right direction.</a:t>
            </a:r>
          </a:p>
          <a:p>
            <a:pPr>
              <a:spcAft>
                <a:spcPts val="600"/>
              </a:spcAft>
            </a:pPr>
            <a:r>
              <a:rPr lang="en-GB" sz="1200" dirty="0">
                <a:latin typeface="Calibri" panose="020F0502020204030204" pitchFamily="34" charset="0"/>
                <a:ea typeface="Arial Unicode MS"/>
                <a:cs typeface="Arial Unicode MS"/>
              </a:rPr>
              <a:t>Please feel free to contact the relevant coordinator if you have more questions about lesson planning or the feedback that you receive. </a:t>
            </a:r>
          </a:p>
        </p:txBody>
      </p:sp>
    </p:spTree>
    <p:extLst>
      <p:ext uri="{BB962C8B-B14F-4D97-AF65-F5344CB8AC3E}">
        <p14:creationId xmlns:p14="http://schemas.microsoft.com/office/powerpoint/2010/main" val="39809222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530A3E3-EA5F-FF07-A1A9-E789F6332791}"/>
              </a:ext>
            </a:extLst>
          </p:cNvPr>
          <p:cNvSpPr/>
          <p:nvPr/>
        </p:nvSpPr>
        <p:spPr>
          <a:xfrm>
            <a:off x="-34446" y="0"/>
            <a:ext cx="6926893" cy="9906000"/>
          </a:xfrm>
          <a:prstGeom prst="rect">
            <a:avLst/>
          </a:prstGeom>
          <a:solidFill>
            <a:srgbClr val="C00000"/>
          </a:solidFill>
          <a:ln w="165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F5907593-EE47-B823-DAA6-64C8FE849C48}"/>
              </a:ext>
            </a:extLst>
          </p:cNvPr>
          <p:cNvSpPr/>
          <p:nvPr/>
        </p:nvSpPr>
        <p:spPr>
          <a:xfrm>
            <a:off x="144051" y="176663"/>
            <a:ext cx="6532322" cy="95526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CDA65162-2993-62BF-4B5D-C4E3240733CD}"/>
              </a:ext>
            </a:extLst>
          </p:cNvPr>
          <p:cNvSpPr/>
          <p:nvPr/>
        </p:nvSpPr>
        <p:spPr>
          <a:xfrm>
            <a:off x="297494" y="337159"/>
            <a:ext cx="6263013" cy="9206630"/>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FF30EDA0-6748-65AE-7475-EC566EDA44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28289" y="4280473"/>
            <a:ext cx="1001423" cy="1345054"/>
          </a:xfrm>
          <a:prstGeom prst="rect">
            <a:avLst/>
          </a:prstGeom>
        </p:spPr>
      </p:pic>
    </p:spTree>
    <p:extLst>
      <p:ext uri="{BB962C8B-B14F-4D97-AF65-F5344CB8AC3E}">
        <p14:creationId xmlns:p14="http://schemas.microsoft.com/office/powerpoint/2010/main" val="79324003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31609</TotalTime>
  <Words>5909</Words>
  <Application>Microsoft Office PowerPoint</Application>
  <PresentationFormat>A4 Paper (210x297 mm)</PresentationFormat>
  <Paragraphs>539</Paragraphs>
  <Slides>38</Slides>
  <Notes>0</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Matthew Hacon</dc:creator>
  <cp:lastModifiedBy>Matthew Hacon</cp:lastModifiedBy>
  <cp:revision>384</cp:revision>
  <cp:lastPrinted>2025-12-18T11:50:04Z</cp:lastPrinted>
  <dcterms:created xsi:type="dcterms:W3CDTF">2023-04-10T11:18:08Z</dcterms:created>
  <dcterms:modified xsi:type="dcterms:W3CDTF">2026-04-08T06:48:15Z</dcterms:modified>
</cp:coreProperties>
</file>